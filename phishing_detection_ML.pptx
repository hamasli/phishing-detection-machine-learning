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SVM</c:v>
                  </c:pt>
                  <c:pt idx="3">
                    <c:v>KNN</c:v>
                  </c:pt>
                  <c:pt idx="4">
                    <c:v>Log. Regression</c:v>
                  </c:pt>
                  <c:pt idx="5">
                    <c:v>Naïve Bayes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97.69</c:v>
                </c:pt>
                <c:pt idx="1">
                  <c:v>96.97</c:v>
                </c:pt>
                <c:pt idx="2">
                  <c:v>95.61</c:v>
                </c:pt>
                <c:pt idx="3">
                  <c:v>94.71</c:v>
                </c:pt>
                <c:pt idx="4">
                  <c:v>92.81</c:v>
                </c:pt>
                <c:pt idx="5">
                  <c:v>61.6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F1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SVM</c:v>
                  </c:pt>
                  <c:pt idx="3">
                    <c:v>KNN</c:v>
                  </c:pt>
                  <c:pt idx="4">
                    <c:v>Log. Reg.</c:v>
                  </c:pt>
                  <c:pt idx="5">
                    <c:v>Naïve Bayes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0.966</c:v>
                </c:pt>
                <c:pt idx="1">
                  <c:v>0.958</c:v>
                </c:pt>
                <c:pt idx="2">
                  <c:v>0.945</c:v>
                </c:pt>
                <c:pt idx="3">
                  <c:v>0.934</c:v>
                </c:pt>
                <c:pt idx="4">
                  <c:v>0.917</c:v>
                </c:pt>
                <c:pt idx="5">
                  <c:v>0.691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SSLfinal_State</c:v>
                  </c:pt>
                  <c:pt idx="1">
                    <c:v>URL_of_Anchor</c:v>
                  </c:pt>
                  <c:pt idx="2">
                    <c:v>web_traffic</c:v>
                  </c:pt>
                  <c:pt idx="3">
                    <c:v>Sub_Domain</c:v>
                  </c:pt>
                  <c:pt idx="4">
                    <c:v>Links_in_tags</c:v>
                  </c:pt>
                  <c:pt idx="5">
                    <c:v>Prefix_Suffix</c:v>
                  </c:pt>
                  <c:pt idx="6">
                    <c:v>SFH</c:v>
                  </c:pt>
                  <c:pt idx="7">
                    <c:v>Links_ptng_page</c:v>
                  </c:pt>
                  <c:pt idx="8">
                    <c:v>Request_URL</c:v>
                  </c:pt>
                  <c:pt idx="9">
                    <c:v>Domain_reg_len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32.45</c:v>
                </c:pt>
                <c:pt idx="1">
                  <c:v>24.92</c:v>
                </c:pt>
                <c:pt idx="2">
                  <c:v>7.41</c:v>
                </c:pt>
                <c:pt idx="3">
                  <c:v>6.34</c:v>
                </c:pt>
                <c:pt idx="4">
                  <c:v>4.25</c:v>
                </c:pt>
                <c:pt idx="5">
                  <c:v>4.05</c:v>
                </c:pt>
                <c:pt idx="6">
                  <c:v>2.07</c:v>
                </c:pt>
                <c:pt idx="7">
                  <c:v>1.84</c:v>
                </c:pt>
                <c:pt idx="8">
                  <c:v>1.82</c:v>
                </c:pt>
                <c:pt idx="9">
                  <c:v>1.64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1554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Website Detection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Techniques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Risk Assessment  |  University of Pisa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Hamas Ali  •  Matricola 726267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Machine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888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phishing is a threat &amp; traditional limitations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96012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097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33756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Overview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ML approaches compared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96012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0" y="96012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1051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263640" y="1554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Comparison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analysis of techniques &amp; results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74320" y="274320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74320" y="274320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803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46888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41148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1148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models, feature engineering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0" y="274320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200400" y="274320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880360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9496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333756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33756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and cross-validation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26480" y="2743200"/>
            <a:ext cx="2743200" cy="1554480"/>
          </a:xfrm>
          <a:prstGeom prst="rect">
            <a:avLst/>
          </a:prstGeom>
          <a:solidFill>
            <a:srgbClr val="1A2333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126480" y="2743200"/>
            <a:ext cx="54864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880360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321040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6263640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6364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conclusions, and takeaways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Phishing Threat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intelligent detection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554480"/>
          </a:xfrm>
          <a:prstGeom prst="rect">
            <a:avLst/>
          </a:prstGeom>
          <a:solidFill>
            <a:srgbClr val="1A2333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Steal Via Fake Sites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Passwords &amp; login credentials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Bank details &amp; financial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&amp; identity information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Corporate secrets &amp; API keys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143000"/>
            <a:ext cx="4114800" cy="1554480"/>
          </a:xfrm>
          <a:prstGeom prst="rect">
            <a:avLst/>
          </a:prstGeom>
          <a:solidFill>
            <a:srgbClr val="1A2333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Blacklist/Whitelist Limitations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0060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detects known malicious URLs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Fails on newly created phishing sites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Cannot generalize to unseen attacks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constant manual updates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2880360"/>
            <a:ext cx="8503920" cy="914400"/>
          </a:xfrm>
          <a:prstGeom prst="rect">
            <a:avLst/>
          </a:prstGeom>
          <a:solidFill>
            <a:srgbClr val="0C2A1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Machine Learning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51560" y="3291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systems that learn from patterns, generalize to new threats, and detect phishing automatically in real-time — without relying on predefined lists.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74320" y="3931920"/>
            <a:ext cx="26517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3.4B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7432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emails/day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154680" y="3931920"/>
            <a:ext cx="26517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15468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315468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phishing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035040" y="3931920"/>
            <a:ext cx="26517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035040" y="3931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$17.8K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035040" y="4370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 minute of downtime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" cy="320040"/>
          </a:xfrm>
          <a:prstGeom prst="rect">
            <a:avLst/>
          </a:prstGeom>
          <a:solidFill>
            <a:srgbClr val="0C2A3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Phishing Website Using Machine Learning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Learning Machine (ELM) with URL &amp; Website Features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417320" cy="731520"/>
          </a:xfrm>
          <a:prstGeom prst="rect">
            <a:avLst/>
          </a:prstGeom>
          <a:solidFill>
            <a:srgbClr val="1A23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URL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91640" y="13258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960120"/>
            <a:ext cx="1417320" cy="731520"/>
          </a:xfrm>
          <a:prstGeom prst="rect">
            <a:avLst/>
          </a:prstGeom>
          <a:solidFill>
            <a:srgbClr val="1A23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9601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30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3258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960120"/>
            <a:ext cx="141732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9601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66360" y="13258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960120"/>
            <a:ext cx="1417320" cy="731520"/>
          </a:xfrm>
          <a:prstGeom prst="rect">
            <a:avLst/>
          </a:prstGeom>
          <a:solidFill>
            <a:srgbClr val="1A23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9601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/ -1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1325880"/>
            <a:ext cx="3200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960120"/>
            <a:ext cx="1417320" cy="731520"/>
          </a:xfrm>
          <a:prstGeom prst="rect">
            <a:avLst/>
          </a:prstGeom>
          <a:solidFill>
            <a:srgbClr val="1A2333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96012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Address-based Features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19456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length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46888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468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(@, //)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7432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Prefix/Suffix (-)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17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in URL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JavaScript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0332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windows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3977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usage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2519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On-mouseover events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526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disabled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Features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219456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194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URL patterns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246888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2468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count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274320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27432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to email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6344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Domain-based Features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63440" y="342900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3429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70332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traffic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97764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3977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index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425196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42519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status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74320" y="4434840"/>
            <a:ext cx="8503920" cy="502920"/>
          </a:xfrm>
          <a:prstGeom prst="rect">
            <a:avLst/>
          </a:prstGeom>
          <a:solidFill>
            <a:srgbClr val="0C2A3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4531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Key Contribution: ELM achieves fast training (no iterative updates) — random input weights, analytically computed output weights. 30 features, real-time detection.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" cy="320040"/>
          </a:xfrm>
          <a:prstGeom prst="rect">
            <a:avLst/>
          </a:prstGeom>
          <a:solidFill>
            <a:srgbClr val="0A1F1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for Detecting Phishing Websites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Domain Intelligence + AutoML — The Strongest Approach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88920" cy="3794760"/>
          </a:xfrm>
          <a:prstGeom prst="rect">
            <a:avLst/>
          </a:prstGeom>
          <a:solidFill>
            <a:srgbClr val="091A25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2788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515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Features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" y="1627632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 detection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" y="2203704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203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 login now" patterns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8328" y="2779776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7797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error analysis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" y="3355848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355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Weird/unusual language patterns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8328" y="3931920"/>
            <a:ext cx="54864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semantics analysis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72968" y="1005840"/>
            <a:ext cx="2788920" cy="3794760"/>
          </a:xfrm>
          <a:prstGeom prst="rect">
            <a:avLst/>
          </a:prstGeom>
          <a:solidFill>
            <a:srgbClr val="1A150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72968" y="100584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05156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75888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Features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282696" y="1627632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01568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Python-WHOIS queries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282696" y="2203704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01568" y="2203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inspection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82696" y="2779776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01568" y="27797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registration age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282696" y="3355848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401568" y="3355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lifetime detection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282696" y="3931920"/>
            <a:ext cx="54864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40156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registrar info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17336" y="1005840"/>
            <a:ext cx="2788920" cy="3794760"/>
          </a:xfrm>
          <a:prstGeom prst="rect">
            <a:avLst/>
          </a:prstGeom>
          <a:solidFill>
            <a:srgbClr val="0A1F12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117336" y="1005840"/>
            <a:ext cx="2788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05156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20256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227064" y="1627632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345936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model selection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227064" y="2203704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345936" y="2203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RF, Gradient Boost,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SVM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227064" y="2779776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345936" y="27797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best automatically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227064" y="3355848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345936" y="33558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trial needed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227064" y="3931920"/>
            <a:ext cx="54864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345936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result: 95.8% acc.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097280" cy="320040"/>
          </a:xfrm>
          <a:prstGeom prst="rect">
            <a:avLst/>
          </a:prstGeom>
          <a:solidFill>
            <a:srgbClr val="1A150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Websites Detection using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Decision Tree, SVM, Naïve Bayes, Neural Network on URL Features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03920" cy="548640"/>
          </a:xfrm>
          <a:prstGeom prst="rect">
            <a:avLst/>
          </a:prstGeom>
          <a:solidFill>
            <a:srgbClr val="1A1500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875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Repository  |  1,353 URLs  (702 phishing  •  548 legitimate  •  103 suspicious)  |  9 Features  |  3-class classification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" y="1645920"/>
            <a:ext cx="2057400" cy="3108960"/>
          </a:xfrm>
          <a:prstGeom prst="rect">
            <a:avLst/>
          </a:prstGeom>
          <a:solidFill>
            <a:srgbClr val="1A2333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1645920"/>
            <a:ext cx="20574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16642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01752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28600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28600" y="2633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0040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performer. Works well with categorical/discrete features. Issue: overfitting → solved by pruning.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441448" y="1645920"/>
            <a:ext cx="2057400" cy="3108960"/>
          </a:xfrm>
          <a:prstGeom prst="rect">
            <a:avLst/>
          </a:prstGeom>
          <a:solidFill>
            <a:srgbClr val="1A2333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41448" y="1645920"/>
            <a:ext cx="205740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14600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441448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86.69%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2441448" y="2633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32888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hyperplane boundary. Maximizes margin between classes.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654296" y="1645920"/>
            <a:ext cx="2057400" cy="3108960"/>
          </a:xfrm>
          <a:prstGeom prst="rect">
            <a:avLst/>
          </a:prstGeom>
          <a:solidFill>
            <a:srgbClr val="1A2333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54296" y="1645920"/>
            <a:ext cx="2057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27448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654296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86.14%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4654296" y="2633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745736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Probability-based. Assumes feature independence — not ideal for correlated phishing features.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867144" y="1645920"/>
            <a:ext cx="2057400" cy="3108960"/>
          </a:xfrm>
          <a:prstGeom prst="rect">
            <a:avLst/>
          </a:prstGeom>
          <a:solidFill>
            <a:srgbClr val="1A2333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67144" y="1645920"/>
            <a:ext cx="20574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40296" y="1673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67144" y="2103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84.87%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867144" y="2633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58584" y="29260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network (9→10→3). Worst result — data is discrete, not continuous. NN prefers continuous data.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— Comparative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411480"/>
          </a:xfrm>
          <a:prstGeom prst="rect">
            <a:avLst/>
          </a:prstGeom>
          <a:solidFill>
            <a:srgbClr val="475569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822960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0" y="822960"/>
            <a:ext cx="2103120" cy="411480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822960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(ELM)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822960"/>
            <a:ext cx="2468880" cy="411480"/>
          </a:xfrm>
          <a:prstGeom prst="rect">
            <a:avLst/>
          </a:prstGeom>
          <a:solidFill>
            <a:srgbClr val="166534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82296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(NLP+AutoML)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49440" y="822960"/>
            <a:ext cx="2377440" cy="411480"/>
          </a:xfrm>
          <a:prstGeom prst="rect">
            <a:avLst/>
          </a:prstGeom>
          <a:solidFill>
            <a:srgbClr val="92400E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22592" y="82296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(Classical ML)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234440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127101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234440"/>
            <a:ext cx="210312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27101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URL + HTML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1234440"/>
            <a:ext cx="24688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27101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+ WHOIS + DNS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1234440"/>
            <a:ext cx="237744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127101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URL features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1764792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" y="180136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Algorithm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1764792"/>
            <a:ext cx="210312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8013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Learning Machine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1764792"/>
            <a:ext cx="246888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07992" y="180136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(auto-selection)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1764792"/>
            <a:ext cx="237744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180136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(best)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295144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3317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0" y="2295144"/>
            <a:ext cx="210312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33172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(ELM competitive)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2295144"/>
            <a:ext cx="24688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07992" y="2331720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2295144"/>
            <a:ext cx="237744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233172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2825496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86207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0" y="2825496"/>
            <a:ext cx="210312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286207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(11,055 samples)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2825496"/>
            <a:ext cx="246888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07992" y="28620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PhishTank + UCI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2825496"/>
            <a:ext cx="237744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286207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1,353 URLs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355848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3392424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0" y="3355848"/>
            <a:ext cx="210312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339242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(+1/-1)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34840" y="3355848"/>
            <a:ext cx="24688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07992" y="33924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49440" y="3355848"/>
            <a:ext cx="237744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22592" y="33924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(phishing/legit/suspicious)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3886200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3922776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286000" y="3886200"/>
            <a:ext cx="210312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9152" y="392277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 speed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434840" y="3886200"/>
            <a:ext cx="246888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07992" y="392277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multi-modal features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9440" y="3886200"/>
            <a:ext cx="2377440" cy="530352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22592" y="3922776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interpretable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4416552"/>
            <a:ext cx="20116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4453128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Weakness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286000" y="4416552"/>
            <a:ext cx="210312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59152" y="445312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layer NN architecture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434840" y="4416552"/>
            <a:ext cx="246888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07992" y="4453128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pipeline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949440" y="4416552"/>
            <a:ext cx="2377440" cy="53035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022592" y="4453128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risk in Decision Tree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3200400" cy="320040"/>
          </a:xfrm>
          <a:prstGeom prst="rect">
            <a:avLst/>
          </a:prstGeom>
          <a:solidFill>
            <a:srgbClr val="0C2A3A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57400" cy="868680"/>
          </a:xfrm>
          <a:prstGeom prst="rect">
            <a:avLst/>
          </a:prstGeom>
          <a:solidFill>
            <a:srgbClr val="1A2333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11,055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Samples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41448" y="1097280"/>
            <a:ext cx="2057400" cy="868680"/>
          </a:xfrm>
          <a:prstGeom prst="rect">
            <a:avLst/>
          </a:prstGeom>
          <a:solidFill>
            <a:srgbClr val="1A2333"/>
          </a:solidFill>
          <a:ln w="1524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41448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54296" y="1097280"/>
            <a:ext cx="2057400" cy="868680"/>
          </a:xfrm>
          <a:prstGeom prst="rect">
            <a:avLst/>
          </a:prstGeom>
          <a:solidFill>
            <a:srgbClr val="1A2333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6,157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54296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(55.7%)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67144" y="1097280"/>
            <a:ext cx="2057400" cy="868680"/>
          </a:xfrm>
          <a:prstGeom prst="rect">
            <a:avLst/>
          </a:prstGeom>
          <a:solidFill>
            <a:srgbClr val="1A2333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67144" y="11155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67144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(44.3%)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Features — 4 Categories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2514600"/>
            <a:ext cx="20574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514600"/>
            <a:ext cx="20574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2532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URL-based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9260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having_IP_Address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URL_Length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Shortining_Service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8862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having_At_Symbol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420624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double_slash_redirecting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41448" y="2514600"/>
            <a:ext cx="20574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1448" y="2514600"/>
            <a:ext cx="205740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532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32888" y="29260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532888" y="3246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Prefix_Suffix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32888" y="35661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HTTPS_token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2888" y="38862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Domain_registeration_length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32888" y="420624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54296" y="2514600"/>
            <a:ext cx="20574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2514600"/>
            <a:ext cx="20574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27448" y="2532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45736" y="29260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Request_URL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45736" y="3246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URL_of_Anchor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45736" y="35661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Links_in_tags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45736" y="38862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45736" y="420624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popUpWidnow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45736" y="45262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67144" y="2514600"/>
            <a:ext cx="20574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67144" y="2514600"/>
            <a:ext cx="20574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0296" y="253288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Domain/Meta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958584" y="29260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age_of_domain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58584" y="32461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DNSRecord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58584" y="356616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web_traffic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58584" y="388620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Page_Rank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58584" y="420624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Google_Index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58584" y="452628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Statistical_report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87752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52344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9624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14216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14216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11496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76088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373368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35240" y="1152144"/>
            <a:ext cx="164592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99832" y="822960"/>
            <a:ext cx="1097280" cy="658368"/>
          </a:xfrm>
          <a:prstGeom prst="rect">
            <a:avLst/>
          </a:prstGeom>
          <a:solidFill>
            <a:srgbClr val="1A233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822960"/>
            <a:ext cx="10972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1691640"/>
            <a:ext cx="2788920" cy="14173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" y="21671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Tree-based; handles discrete features well; prone to overfitting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72968" y="1691640"/>
            <a:ext cx="2788920" cy="1417320"/>
          </a:xfrm>
          <a:prstGeom prst="rect">
            <a:avLst/>
          </a:prstGeom>
          <a:solidFill>
            <a:srgbClr val="111827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1764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82696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82696" y="21671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200 trees; highest performance; most stable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17336" y="1691640"/>
            <a:ext cx="2788920" cy="141732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7064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27064" y="21671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+ SVC; finds optimal class boundary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291840"/>
            <a:ext cx="2788920" cy="1417320"/>
          </a:xfrm>
          <a:prstGeom prst="rect">
            <a:avLst/>
          </a:prstGeom>
          <a:solidFill>
            <a:srgbClr val="111827"/>
          </a:solidFill>
          <a:ln w="1016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" y="37673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+ LR; max_iter=2000; linear baseline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72968" y="3291840"/>
            <a:ext cx="2788920" cy="1417320"/>
          </a:xfrm>
          <a:prstGeom prst="rect">
            <a:avLst/>
          </a:prstGeom>
          <a:solidFill>
            <a:srgbClr val="111827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82696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82696" y="37673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GaussianNB; assumes feature independence; poor for correlated features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7336" y="3291840"/>
            <a:ext cx="2788920" cy="141732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(k=5)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27064" y="37673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+ KNN; k=5 neighbors; distance-based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 Comparison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0292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777240"/>
            <a:ext cx="1737360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22976" y="7772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223760" y="777240"/>
            <a:ext cx="658368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0336" y="7772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82128" y="777240"/>
            <a:ext cx="658368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18704" y="7772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40496" y="777240"/>
            <a:ext cx="658368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7772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198864" y="777240"/>
            <a:ext cx="658368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35440" y="777240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857232" y="777240"/>
            <a:ext cx="685800" cy="347472"/>
          </a:xfrm>
          <a:prstGeom prst="rect">
            <a:avLst/>
          </a:prstGeom>
          <a:solidFill>
            <a:srgbClr val="0891B2"/>
          </a:solidFill>
          <a:ln w="6350">
            <a:solidFill>
              <a:srgbClr val="0A0E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93808" y="77724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0" y="1124712"/>
            <a:ext cx="1737360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22976" y="116128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223760" y="1124712"/>
            <a:ext cx="658368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0336" y="116128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97.69%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82128" y="1124712"/>
            <a:ext cx="658368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18704" y="116128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98.04%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540496" y="1124712"/>
            <a:ext cx="658368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77072" y="116128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96.73%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9198864" y="1124712"/>
            <a:ext cx="658368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35440" y="116128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97.38%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857232" y="1124712"/>
            <a:ext cx="685800" cy="402336"/>
          </a:xfrm>
          <a:prstGeom prst="rect">
            <a:avLst/>
          </a:prstGeom>
          <a:solidFill>
            <a:srgbClr val="0C2A1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93808" y="116128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99.64%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86400" y="1545336"/>
            <a:ext cx="173736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22976" y="158191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23760" y="1545336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60336" y="158191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96.97%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882128" y="1545336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18704" y="158191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97.60%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540496" y="1545336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77072" y="158191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95.51%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9198864" y="1545336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35440" y="158191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96.54%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857232" y="1545336"/>
            <a:ext cx="68580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893808" y="158191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97.64%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486400" y="1965960"/>
            <a:ext cx="1737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22976" y="200253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7223760" y="1965960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60336" y="20025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95.61%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882128" y="1965960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18704" y="20025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96.33%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540496" y="1965960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77072" y="20025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93.67%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9198864" y="1965960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235440" y="2002536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94.98%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9857232" y="1965960"/>
            <a:ext cx="685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893808" y="20025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98.90%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73736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22976" y="242316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223760" y="2386584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260336" y="242316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94.71%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882128" y="2386584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918704" y="242316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94.99%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540496" y="2386584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77072" y="242316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92.96%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9198864" y="2386584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235440" y="2423160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857232" y="2386584"/>
            <a:ext cx="68580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893808" y="242316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98.56%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5486400" y="2807208"/>
            <a:ext cx="173736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522976" y="28437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7223760" y="2807208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7260336" y="284378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92.81%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7882128" y="2807208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918704" y="284378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93.44%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8540496" y="2807208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577072" y="284378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90.10%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9198864" y="2807208"/>
            <a:ext cx="658368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35440" y="284378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91.74%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9857232" y="2807208"/>
            <a:ext cx="685800" cy="402336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893808" y="2843784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97.85%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5486400" y="3227832"/>
            <a:ext cx="173736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522976" y="326440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7223760" y="3227832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260336" y="326440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61.60%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7882128" y="3227832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918704" y="326440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53.59%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8540496" y="3227832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577072" y="326440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99.90%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9198864" y="3227832"/>
            <a:ext cx="658368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9235440" y="326440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69.75%</a:t>
            </a:r>
            <a:endParaRPr lang="en-US" sz="800" dirty="0"/>
          </a:p>
        </p:txBody>
      </p:sp>
      <p:sp>
        <p:nvSpPr>
          <p:cNvPr id="87" name="Shape 84"/>
          <p:cNvSpPr/>
          <p:nvPr/>
        </p:nvSpPr>
        <p:spPr>
          <a:xfrm>
            <a:off x="9857232" y="3227832"/>
            <a:ext cx="685800" cy="402336"/>
          </a:xfrm>
          <a:prstGeom prst="rect">
            <a:avLst/>
          </a:prstGeom>
          <a:solidFill>
            <a:srgbClr val="1A2333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9893808" y="326440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96.77%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274320" y="3749040"/>
            <a:ext cx="8503920" cy="548640"/>
          </a:xfrm>
          <a:prstGeom prst="rect">
            <a:avLst/>
          </a:prstGeom>
          <a:solidFill>
            <a:srgbClr val="0C2A1A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411480" y="376732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Naïve Bayes: 99.9% recall but only 53.6% precision → extreme false positive rate. Class imbalance handled via class_weight='balanced' in Random Forest (no recall drop).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Train/Test: 80/20 stratified split  |  11,055 samples total  |  UCI Phishing Websites Dataset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&amp; Feature Importance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(Mean F1)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749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Important Features (Random Forest)</a:t>
            </a:r>
            <a:endParaRPr lang="en-US" sz="11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846320" y="10515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931920"/>
            <a:ext cx="8503920" cy="777240"/>
          </a:xfrm>
          <a:prstGeom prst="rect">
            <a:avLst/>
          </a:prstGeom>
          <a:solidFill>
            <a:srgbClr val="1A2333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395935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Insight: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Mean F1 = 0.966 with Std = 0.003 (lowest variance). Decision Tree shows higher std (0.0065) — more sensitive to data splits. Naïve Bayes performs poorly due to feature independence assumption being violated in phishing data.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Winner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325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97.69% accuracy, F1=97.38%, ROC-AUC=99.64% — most accurate and most stable across all 5 CV folds. Best for deployment.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8229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822960"/>
            <a:ext cx="54864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SSLfinal_State is #1 Feature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846320" y="1325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status accounts for 32.5% of model importance. Followed by URL_of_Anchor (24.9%) and web_traffic (7.4%).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19456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2860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 — Don't Use for This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11480" y="2697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recall but only 53.6% precision → extreme false positives. Phishing features are correlated; independence assumption is violated.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9160" y="2194560"/>
            <a:ext cx="54864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8600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5780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Features Win (Paper 2)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846320" y="26974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NLP, WHOIS, DNS, and AutoML gives highest paper accuracy (95.8%). Richer features always outperform URL-only approaches.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35661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74320" y="3566160"/>
            <a:ext cx="54864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657600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296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Confirms Reliability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11480" y="40690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standard deviation (0.003) in RF confirms results aren't due to lucky splits. Model generalizes well to unseen phishing sites.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09160" y="3566160"/>
            <a:ext cx="4206240" cy="123444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9160" y="356616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5760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257800" y="3657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4846320" y="40690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30-feature Random Forest with class_weight='balanced' is sufficient for production phishing detection with near-perfect recall.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02920"/>
            <a:ext cx="1097280" cy="1097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286000" y="2926080"/>
            <a:ext cx="45720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Hamas Ali  •  Matricola 726267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Risk Assessment  |  University of Pisa  |  MSc Computer Science – AI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31520" y="3977640"/>
            <a:ext cx="1737360" cy="868680"/>
          </a:xfrm>
          <a:prstGeom prst="rect">
            <a:avLst/>
          </a:prstGeom>
          <a:solidFill>
            <a:srgbClr val="1A2333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97.69%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3152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743200" y="3977640"/>
            <a:ext cx="1737360" cy="868680"/>
          </a:xfrm>
          <a:prstGeom prst="rect">
            <a:avLst/>
          </a:prstGeom>
          <a:solidFill>
            <a:srgbClr val="1A2333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74320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54880" y="3977640"/>
            <a:ext cx="1737360" cy="868680"/>
          </a:xfrm>
          <a:prstGeom prst="rect">
            <a:avLst/>
          </a:prstGeom>
          <a:solidFill>
            <a:srgbClr val="1A2333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5488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75488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766560" y="3977640"/>
            <a:ext cx="1737360" cy="868680"/>
          </a:xfrm>
          <a:prstGeom prst="rect">
            <a:avLst/>
          </a:prstGeom>
          <a:solidFill>
            <a:srgbClr val="1A2333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76656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11K+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676656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Website Detection using ML</dc:title>
  <dc:subject>PptxGenJS Presentation</dc:subject>
  <dc:creator>Hamas Ali</dc:creator>
  <cp:lastModifiedBy>Hamas Ali</cp:lastModifiedBy>
  <cp:revision>1</cp:revision>
  <dcterms:created xsi:type="dcterms:W3CDTF">2026-04-20T08:28:13Z</dcterms:created>
  <dcterms:modified xsi:type="dcterms:W3CDTF">2026-04-20T08:28:13Z</dcterms:modified>
</cp:coreProperties>
</file>
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9" r:id="rId7"/>
    <p:sldId id="261" r:id="rId8"/>
    <p:sldId id="262" r:id="rId9"/>
    <p:sldId id="263" r:id="rId10"/>
    <p:sldId id="264" r:id="rId11"/>
    <p:sldId id="265" r:id="rId12"/>
    <p:sldId id="266" r:id="rId13"/>
    <p:sldId id="267" r:id="rId14"/>
    <p:sldId id="268"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84" d="100"/>
          <a:sy n="84" d="100"/>
        </p:scale>
        <p:origin x="804"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Accuracy</c:v>
                </c:pt>
              </c:strCache>
            </c:strRef>
          </c:tx>
          <c:spPr>
            <a:solidFill>
              <a:srgbClr val="00D4FF"/>
            </a:solidFill>
            <a:effectLst/>
          </c:spPr>
          <c:invertIfNegative val="0"/>
          <c:dLbls>
            <c:numFmt formatCode="#,##0" sourceLinked="0"/>
            <c:spPr>
              <a:noFill/>
              <a:ln>
                <a:noFill/>
              </a:ln>
              <a:effectLst/>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Random Forest</c:v>
                </c:pt>
                <c:pt idx="1">
                  <c:v>Decision Tree</c:v>
                </c:pt>
                <c:pt idx="2">
                  <c:v>SVM</c:v>
                </c:pt>
                <c:pt idx="3">
                  <c:v>KNN</c:v>
                </c:pt>
                <c:pt idx="4">
                  <c:v>Log. Regression</c:v>
                </c:pt>
                <c:pt idx="5">
                  <c:v>Naïve Bayes</c:v>
                </c:pt>
              </c:strCache>
            </c:strRef>
          </c:cat>
          <c:val>
            <c:numRef>
              <c:f>Sheet1!$B$2:$B$7</c:f>
              <c:numCache>
                <c:formatCode>General</c:formatCode>
                <c:ptCount val="6"/>
                <c:pt idx="0">
                  <c:v>97.69</c:v>
                </c:pt>
                <c:pt idx="1">
                  <c:v>96.97</c:v>
                </c:pt>
                <c:pt idx="2">
                  <c:v>95.61</c:v>
                </c:pt>
                <c:pt idx="3">
                  <c:v>94.71</c:v>
                </c:pt>
                <c:pt idx="4">
                  <c:v>92.81</c:v>
                </c:pt>
                <c:pt idx="5">
                  <c:v>61.6</c:v>
                </c:pt>
              </c:numCache>
            </c:numRef>
          </c:val>
          <c:extLst>
            <c:ext xmlns:c16="http://schemas.microsoft.com/office/drawing/2014/chart" uri="{C3380CC4-5D6E-409C-BE32-E72D297353CC}">
              <c16:uniqueId val="{00000000-F4C6-42F3-B60F-370CEF7E5C1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max val="100"/>
          <c:min val="50"/>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1182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Mean F1</c:v>
                </c:pt>
              </c:strCache>
            </c:strRef>
          </c:tx>
          <c:spPr>
            <a:solidFill>
              <a:srgbClr val="00D4FF"/>
            </a:solidFill>
            <a:effectLst/>
          </c:spPr>
          <c:invertIfNegative val="0"/>
          <c:dLbls>
            <c:numFmt formatCode="#,##0" sourceLinked="0"/>
            <c:spPr>
              <a:noFill/>
              <a:ln>
                <a:noFill/>
              </a:ln>
              <a:effectLst/>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Random Forest</c:v>
                </c:pt>
                <c:pt idx="1">
                  <c:v>Decision Tree</c:v>
                </c:pt>
                <c:pt idx="2">
                  <c:v>SVM</c:v>
                </c:pt>
                <c:pt idx="3">
                  <c:v>KNN</c:v>
                </c:pt>
                <c:pt idx="4">
                  <c:v>Log. Reg.</c:v>
                </c:pt>
                <c:pt idx="5">
                  <c:v>Naïve Bayes</c:v>
                </c:pt>
              </c:strCache>
            </c:strRef>
          </c:cat>
          <c:val>
            <c:numRef>
              <c:f>Sheet1!$B$2:$B$7</c:f>
              <c:numCache>
                <c:formatCode>General</c:formatCode>
                <c:ptCount val="6"/>
                <c:pt idx="0">
                  <c:v>0.96599999999999997</c:v>
                </c:pt>
                <c:pt idx="1">
                  <c:v>0.95799999999999996</c:v>
                </c:pt>
                <c:pt idx="2">
                  <c:v>0.94499999999999995</c:v>
                </c:pt>
                <c:pt idx="3">
                  <c:v>0.93400000000000005</c:v>
                </c:pt>
                <c:pt idx="4">
                  <c:v>0.91700000000000004</c:v>
                </c:pt>
                <c:pt idx="5">
                  <c:v>0.69099999999999995</c:v>
                </c:pt>
              </c:numCache>
            </c:numRef>
          </c:val>
          <c:extLst>
            <c:ext xmlns:c16="http://schemas.microsoft.com/office/drawing/2014/chart" uri="{C3380CC4-5D6E-409C-BE32-E72D297353CC}">
              <c16:uniqueId val="{00000000-72EF-4938-BA7D-00F01EE3385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max val="1"/>
          <c:min val="0.6"/>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11827"/>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Importance</c:v>
                </c:pt>
              </c:strCache>
            </c:strRef>
          </c:tx>
          <c:spPr>
            <a:solidFill>
              <a:srgbClr val="22C55E"/>
            </a:solidFill>
            <a:effectLst/>
          </c:spPr>
          <c:invertIfNegative val="0"/>
          <c:dLbls>
            <c:numFmt formatCode="#,##0" sourceLinked="0"/>
            <c:spPr>
              <a:noFill/>
              <a:ln>
                <a:noFill/>
              </a:ln>
              <a:effectLst/>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SSLfinal_State</c:v>
                </c:pt>
                <c:pt idx="1">
                  <c:v>URL_of_Anchor</c:v>
                </c:pt>
                <c:pt idx="2">
                  <c:v>web_traffic</c:v>
                </c:pt>
                <c:pt idx="3">
                  <c:v>Sub_Domain</c:v>
                </c:pt>
                <c:pt idx="4">
                  <c:v>Links_in_tags</c:v>
                </c:pt>
                <c:pt idx="5">
                  <c:v>Prefix_Suffix</c:v>
                </c:pt>
                <c:pt idx="6">
                  <c:v>SFH</c:v>
                </c:pt>
                <c:pt idx="7">
                  <c:v>Links_ptng_page</c:v>
                </c:pt>
                <c:pt idx="8">
                  <c:v>Request_URL</c:v>
                </c:pt>
                <c:pt idx="9">
                  <c:v>Domain_reg_len</c:v>
                </c:pt>
              </c:strCache>
            </c:strRef>
          </c:cat>
          <c:val>
            <c:numRef>
              <c:f>Sheet1!$B$2:$B$11</c:f>
              <c:numCache>
                <c:formatCode>General</c:formatCode>
                <c:ptCount val="10"/>
                <c:pt idx="0">
                  <c:v>32.450000000000003</c:v>
                </c:pt>
                <c:pt idx="1">
                  <c:v>24.92</c:v>
                </c:pt>
                <c:pt idx="2">
                  <c:v>7.41</c:v>
                </c:pt>
                <c:pt idx="3">
                  <c:v>6.34</c:v>
                </c:pt>
                <c:pt idx="4">
                  <c:v>4.25</c:v>
                </c:pt>
                <c:pt idx="5">
                  <c:v>4.05</c:v>
                </c:pt>
                <c:pt idx="6">
                  <c:v>2.0699999999999998</c:v>
                </c:pt>
                <c:pt idx="7">
                  <c:v>1.84</c:v>
                </c:pt>
                <c:pt idx="8">
                  <c:v>1.82</c:v>
                </c:pt>
                <c:pt idx="9">
                  <c:v>1.64</c:v>
                </c:pt>
              </c:numCache>
            </c:numRef>
          </c:val>
          <c:extLst>
            <c:ext xmlns:c16="http://schemas.microsoft.com/office/drawing/2014/chart" uri="{C3380CC4-5D6E-409C-BE32-E72D297353CC}">
              <c16:uniqueId val="{00000000-5684-44D2-86A7-876C8041A6A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2"/>
        <c:crosses val="autoZero"/>
        <c:auto val="1"/>
        <c:lblAlgn val="ctr"/>
        <c:lblOffset val="100"/>
        <c:noMultiLvlLbl val="1"/>
      </c:catAx>
      <c:valAx>
        <c:axId val="2094734552"/>
        <c:scaling>
          <c:orientation val="minMax"/>
          <c:min val="0"/>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11827"/>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9643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FA5F3-97D8-DA7D-D3D5-B8D9754361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CD8ECF-BD59-51C7-F363-11563BCB2B2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15DB6D-5C36-1EB1-5385-F2FC3D5D4B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7C631E-000B-100E-64BF-5A43CC36E63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9733782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1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6.png"/><Relationship Id="rId7"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0" cy="5143500"/>
          </a:xfrm>
          <a:prstGeom prst="line">
            <a:avLst/>
          </a:prstGeom>
          <a:noFill/>
          <a:ln w="6350">
            <a:solidFill>
              <a:srgbClr val="1E293B"/>
            </a:solidFill>
            <a:prstDash val="solid"/>
          </a:ln>
        </p:spPr>
        <p:txBody>
          <a:bodyPr/>
          <a:lstStyle/>
          <a:p>
            <a:endParaRPr lang="en-GB"/>
          </a:p>
        </p:txBody>
      </p:sp>
      <p:sp>
        <p:nvSpPr>
          <p:cNvPr id="3" name="Shape 1"/>
          <p:cNvSpPr/>
          <p:nvPr/>
        </p:nvSpPr>
        <p:spPr>
          <a:xfrm>
            <a:off x="914400" y="0"/>
            <a:ext cx="0" cy="5143500"/>
          </a:xfrm>
          <a:prstGeom prst="line">
            <a:avLst/>
          </a:prstGeom>
          <a:noFill/>
          <a:ln w="6350">
            <a:solidFill>
              <a:srgbClr val="1E293B"/>
            </a:solidFill>
            <a:prstDash val="solid"/>
          </a:ln>
        </p:spPr>
        <p:txBody>
          <a:bodyPr/>
          <a:lstStyle/>
          <a:p>
            <a:endParaRPr lang="en-GB"/>
          </a:p>
        </p:txBody>
      </p:sp>
      <p:sp>
        <p:nvSpPr>
          <p:cNvPr id="4" name="Shape 2"/>
          <p:cNvSpPr/>
          <p:nvPr/>
        </p:nvSpPr>
        <p:spPr>
          <a:xfrm>
            <a:off x="1828800" y="0"/>
            <a:ext cx="0" cy="5143500"/>
          </a:xfrm>
          <a:prstGeom prst="line">
            <a:avLst/>
          </a:prstGeom>
          <a:noFill/>
          <a:ln w="6350">
            <a:solidFill>
              <a:srgbClr val="1E293B"/>
            </a:solidFill>
            <a:prstDash val="solid"/>
          </a:ln>
        </p:spPr>
        <p:txBody>
          <a:bodyPr/>
          <a:lstStyle/>
          <a:p>
            <a:endParaRPr lang="en-GB"/>
          </a:p>
        </p:txBody>
      </p:sp>
      <p:sp>
        <p:nvSpPr>
          <p:cNvPr id="5" name="Shape 3"/>
          <p:cNvSpPr/>
          <p:nvPr/>
        </p:nvSpPr>
        <p:spPr>
          <a:xfrm>
            <a:off x="2743200" y="0"/>
            <a:ext cx="0" cy="5143500"/>
          </a:xfrm>
          <a:prstGeom prst="line">
            <a:avLst/>
          </a:prstGeom>
          <a:noFill/>
          <a:ln w="6350">
            <a:solidFill>
              <a:srgbClr val="1E293B"/>
            </a:solidFill>
            <a:prstDash val="solid"/>
          </a:ln>
        </p:spPr>
        <p:txBody>
          <a:bodyPr/>
          <a:lstStyle/>
          <a:p>
            <a:endParaRPr lang="en-GB"/>
          </a:p>
        </p:txBody>
      </p:sp>
      <p:sp>
        <p:nvSpPr>
          <p:cNvPr id="6" name="Shape 4"/>
          <p:cNvSpPr/>
          <p:nvPr/>
        </p:nvSpPr>
        <p:spPr>
          <a:xfrm>
            <a:off x="3657600" y="0"/>
            <a:ext cx="0" cy="5143500"/>
          </a:xfrm>
          <a:prstGeom prst="line">
            <a:avLst/>
          </a:prstGeom>
          <a:noFill/>
          <a:ln w="6350">
            <a:solidFill>
              <a:srgbClr val="1E293B"/>
            </a:solidFill>
            <a:prstDash val="solid"/>
          </a:ln>
        </p:spPr>
        <p:txBody>
          <a:bodyPr/>
          <a:lstStyle/>
          <a:p>
            <a:endParaRPr lang="en-GB"/>
          </a:p>
        </p:txBody>
      </p:sp>
      <p:sp>
        <p:nvSpPr>
          <p:cNvPr id="7" name="Shape 5"/>
          <p:cNvSpPr/>
          <p:nvPr/>
        </p:nvSpPr>
        <p:spPr>
          <a:xfrm>
            <a:off x="4572000" y="0"/>
            <a:ext cx="0" cy="5143500"/>
          </a:xfrm>
          <a:prstGeom prst="line">
            <a:avLst/>
          </a:prstGeom>
          <a:noFill/>
          <a:ln w="6350">
            <a:solidFill>
              <a:srgbClr val="1E293B"/>
            </a:solidFill>
            <a:prstDash val="solid"/>
          </a:ln>
        </p:spPr>
        <p:txBody>
          <a:bodyPr/>
          <a:lstStyle/>
          <a:p>
            <a:endParaRPr lang="en-GB"/>
          </a:p>
        </p:txBody>
      </p:sp>
      <p:sp>
        <p:nvSpPr>
          <p:cNvPr id="8" name="Shape 6"/>
          <p:cNvSpPr/>
          <p:nvPr/>
        </p:nvSpPr>
        <p:spPr>
          <a:xfrm>
            <a:off x="5486400" y="0"/>
            <a:ext cx="0" cy="5143500"/>
          </a:xfrm>
          <a:prstGeom prst="line">
            <a:avLst/>
          </a:prstGeom>
          <a:noFill/>
          <a:ln w="6350">
            <a:solidFill>
              <a:srgbClr val="1E293B"/>
            </a:solidFill>
            <a:prstDash val="solid"/>
          </a:ln>
        </p:spPr>
        <p:txBody>
          <a:bodyPr/>
          <a:lstStyle/>
          <a:p>
            <a:endParaRPr lang="en-GB"/>
          </a:p>
        </p:txBody>
      </p:sp>
      <p:sp>
        <p:nvSpPr>
          <p:cNvPr id="9" name="Shape 7"/>
          <p:cNvSpPr/>
          <p:nvPr/>
        </p:nvSpPr>
        <p:spPr>
          <a:xfrm>
            <a:off x="6400800" y="0"/>
            <a:ext cx="0" cy="5143500"/>
          </a:xfrm>
          <a:prstGeom prst="line">
            <a:avLst/>
          </a:prstGeom>
          <a:noFill/>
          <a:ln w="6350">
            <a:solidFill>
              <a:srgbClr val="1E293B"/>
            </a:solidFill>
            <a:prstDash val="solid"/>
          </a:ln>
        </p:spPr>
        <p:txBody>
          <a:bodyPr/>
          <a:lstStyle/>
          <a:p>
            <a:endParaRPr lang="en-GB"/>
          </a:p>
        </p:txBody>
      </p:sp>
      <p:sp>
        <p:nvSpPr>
          <p:cNvPr id="10" name="Shape 8"/>
          <p:cNvSpPr/>
          <p:nvPr/>
        </p:nvSpPr>
        <p:spPr>
          <a:xfrm>
            <a:off x="7315200" y="0"/>
            <a:ext cx="0" cy="5143500"/>
          </a:xfrm>
          <a:prstGeom prst="line">
            <a:avLst/>
          </a:prstGeom>
          <a:noFill/>
          <a:ln w="6350">
            <a:solidFill>
              <a:srgbClr val="1E293B"/>
            </a:solidFill>
            <a:prstDash val="solid"/>
          </a:ln>
        </p:spPr>
        <p:txBody>
          <a:bodyPr/>
          <a:lstStyle/>
          <a:p>
            <a:endParaRPr lang="en-GB"/>
          </a:p>
        </p:txBody>
      </p:sp>
      <p:sp>
        <p:nvSpPr>
          <p:cNvPr id="11" name="Shape 9"/>
          <p:cNvSpPr/>
          <p:nvPr/>
        </p:nvSpPr>
        <p:spPr>
          <a:xfrm>
            <a:off x="8229600" y="0"/>
            <a:ext cx="0" cy="5143500"/>
          </a:xfrm>
          <a:prstGeom prst="line">
            <a:avLst/>
          </a:prstGeom>
          <a:noFill/>
          <a:ln w="6350">
            <a:solidFill>
              <a:srgbClr val="1E293B"/>
            </a:solidFill>
            <a:prstDash val="solid"/>
          </a:ln>
        </p:spPr>
        <p:txBody>
          <a:bodyPr/>
          <a:lstStyle/>
          <a:p>
            <a:endParaRPr lang="en-GB"/>
          </a:p>
        </p:txBody>
      </p:sp>
      <p:sp>
        <p:nvSpPr>
          <p:cNvPr id="12" name="Shape 10"/>
          <p:cNvSpPr/>
          <p:nvPr/>
        </p:nvSpPr>
        <p:spPr>
          <a:xfrm>
            <a:off x="9144000" y="0"/>
            <a:ext cx="0" cy="5143500"/>
          </a:xfrm>
          <a:prstGeom prst="line">
            <a:avLst/>
          </a:prstGeom>
          <a:noFill/>
          <a:ln w="6350">
            <a:solidFill>
              <a:srgbClr val="1E293B"/>
            </a:solidFill>
            <a:prstDash val="solid"/>
          </a:ln>
        </p:spPr>
        <p:txBody>
          <a:bodyPr/>
          <a:lstStyle/>
          <a:p>
            <a:endParaRPr lang="en-GB"/>
          </a:p>
        </p:txBody>
      </p:sp>
      <p:sp>
        <p:nvSpPr>
          <p:cNvPr id="13" name="Shape 11"/>
          <p:cNvSpPr/>
          <p:nvPr/>
        </p:nvSpPr>
        <p:spPr>
          <a:xfrm>
            <a:off x="0" y="0"/>
            <a:ext cx="9144000" cy="0"/>
          </a:xfrm>
          <a:prstGeom prst="line">
            <a:avLst/>
          </a:prstGeom>
          <a:noFill/>
          <a:ln w="6350">
            <a:solidFill>
              <a:srgbClr val="1E293B"/>
            </a:solidFill>
            <a:prstDash val="solid"/>
          </a:ln>
        </p:spPr>
        <p:txBody>
          <a:bodyPr/>
          <a:lstStyle/>
          <a:p>
            <a:endParaRPr lang="en-GB"/>
          </a:p>
        </p:txBody>
      </p:sp>
      <p:sp>
        <p:nvSpPr>
          <p:cNvPr id="14" name="Shape 12"/>
          <p:cNvSpPr/>
          <p:nvPr/>
        </p:nvSpPr>
        <p:spPr>
          <a:xfrm>
            <a:off x="0" y="914400"/>
            <a:ext cx="9144000" cy="0"/>
          </a:xfrm>
          <a:prstGeom prst="line">
            <a:avLst/>
          </a:prstGeom>
          <a:noFill/>
          <a:ln w="6350">
            <a:solidFill>
              <a:srgbClr val="1E293B"/>
            </a:solidFill>
            <a:prstDash val="solid"/>
          </a:ln>
        </p:spPr>
        <p:txBody>
          <a:bodyPr/>
          <a:lstStyle/>
          <a:p>
            <a:endParaRPr lang="en-GB"/>
          </a:p>
        </p:txBody>
      </p:sp>
      <p:sp>
        <p:nvSpPr>
          <p:cNvPr id="15" name="Shape 13"/>
          <p:cNvSpPr/>
          <p:nvPr/>
        </p:nvSpPr>
        <p:spPr>
          <a:xfrm>
            <a:off x="0" y="1828800"/>
            <a:ext cx="9144000" cy="0"/>
          </a:xfrm>
          <a:prstGeom prst="line">
            <a:avLst/>
          </a:prstGeom>
          <a:noFill/>
          <a:ln w="6350">
            <a:solidFill>
              <a:srgbClr val="1E293B"/>
            </a:solidFill>
            <a:prstDash val="solid"/>
          </a:ln>
        </p:spPr>
        <p:txBody>
          <a:bodyPr/>
          <a:lstStyle/>
          <a:p>
            <a:endParaRPr lang="en-GB"/>
          </a:p>
        </p:txBody>
      </p:sp>
      <p:sp>
        <p:nvSpPr>
          <p:cNvPr id="16" name="Shape 14"/>
          <p:cNvSpPr/>
          <p:nvPr/>
        </p:nvSpPr>
        <p:spPr>
          <a:xfrm>
            <a:off x="0" y="2743200"/>
            <a:ext cx="9144000" cy="0"/>
          </a:xfrm>
          <a:prstGeom prst="line">
            <a:avLst/>
          </a:prstGeom>
          <a:noFill/>
          <a:ln w="6350">
            <a:solidFill>
              <a:srgbClr val="1E293B"/>
            </a:solidFill>
            <a:prstDash val="solid"/>
          </a:ln>
        </p:spPr>
        <p:txBody>
          <a:bodyPr/>
          <a:lstStyle/>
          <a:p>
            <a:endParaRPr lang="en-GB"/>
          </a:p>
        </p:txBody>
      </p:sp>
      <p:sp>
        <p:nvSpPr>
          <p:cNvPr id="17" name="Shape 15"/>
          <p:cNvSpPr/>
          <p:nvPr/>
        </p:nvSpPr>
        <p:spPr>
          <a:xfrm>
            <a:off x="0" y="3657600"/>
            <a:ext cx="9144000" cy="0"/>
          </a:xfrm>
          <a:prstGeom prst="line">
            <a:avLst/>
          </a:prstGeom>
          <a:noFill/>
          <a:ln w="6350">
            <a:solidFill>
              <a:srgbClr val="1E293B"/>
            </a:solidFill>
            <a:prstDash val="solid"/>
          </a:ln>
        </p:spPr>
        <p:txBody>
          <a:bodyPr/>
          <a:lstStyle/>
          <a:p>
            <a:endParaRPr lang="en-GB"/>
          </a:p>
        </p:txBody>
      </p:sp>
      <p:sp>
        <p:nvSpPr>
          <p:cNvPr id="18" name="Shape 16"/>
          <p:cNvSpPr/>
          <p:nvPr/>
        </p:nvSpPr>
        <p:spPr>
          <a:xfrm>
            <a:off x="0" y="4572000"/>
            <a:ext cx="9144000" cy="0"/>
          </a:xfrm>
          <a:prstGeom prst="line">
            <a:avLst/>
          </a:prstGeom>
          <a:noFill/>
          <a:ln w="6350">
            <a:solidFill>
              <a:srgbClr val="1E293B"/>
            </a:solidFill>
            <a:prstDash val="solid"/>
          </a:ln>
        </p:spPr>
        <p:txBody>
          <a:bodyPr/>
          <a:lstStyle/>
          <a:p>
            <a:endParaRPr lang="en-GB"/>
          </a:p>
        </p:txBody>
      </p:sp>
      <p:sp>
        <p:nvSpPr>
          <p:cNvPr id="19" name="Shape 17"/>
          <p:cNvSpPr/>
          <p:nvPr/>
        </p:nvSpPr>
        <p:spPr>
          <a:xfrm>
            <a:off x="0" y="0"/>
            <a:ext cx="54864" cy="5143500"/>
          </a:xfrm>
          <a:prstGeom prst="rect">
            <a:avLst/>
          </a:prstGeom>
          <a:solidFill>
            <a:srgbClr val="00D4FF"/>
          </a:solidFill>
          <a:ln w="12700">
            <a:solidFill>
              <a:srgbClr val="00D4FF"/>
            </a:solidFill>
            <a:prstDash val="solid"/>
          </a:ln>
        </p:spPr>
        <p:txBody>
          <a:bodyPr/>
          <a:lstStyle/>
          <a:p>
            <a:endParaRPr lang="en-GB"/>
          </a:p>
        </p:txBody>
      </p:sp>
      <p:pic>
        <p:nvPicPr>
          <p:cNvPr id="20" name="Image 0" descr="preencoded.png"/>
          <p:cNvPicPr>
            <a:picLocks noChangeAspect="1"/>
          </p:cNvPicPr>
          <p:nvPr/>
        </p:nvPicPr>
        <p:blipFill>
          <a:blip r:embed="rId3"/>
          <a:stretch>
            <a:fillRect/>
          </a:stretch>
        </p:blipFill>
        <p:spPr>
          <a:xfrm>
            <a:off x="4023360" y="365760"/>
            <a:ext cx="1097280" cy="1097280"/>
          </a:xfrm>
          <a:prstGeom prst="rect">
            <a:avLst/>
          </a:prstGeom>
        </p:spPr>
      </p:pic>
      <p:sp>
        <p:nvSpPr>
          <p:cNvPr id="21" name="Text 18"/>
          <p:cNvSpPr/>
          <p:nvPr/>
        </p:nvSpPr>
        <p:spPr>
          <a:xfrm>
            <a:off x="457200" y="1554480"/>
            <a:ext cx="8229600" cy="685800"/>
          </a:xfrm>
          <a:prstGeom prst="rect">
            <a:avLst/>
          </a:prstGeom>
          <a:noFill/>
          <a:ln/>
        </p:spPr>
        <p:txBody>
          <a:bodyPr wrap="square" lIns="0" tIns="0" rIns="0" bIns="0" rtlCol="0" anchor="ctr"/>
          <a:lstStyle/>
          <a:p>
            <a:pPr marL="0" indent="0" algn="ctr">
              <a:buNone/>
            </a:pPr>
            <a:r>
              <a:rPr lang="en-US" sz="3800" b="1" dirty="0">
                <a:solidFill>
                  <a:srgbClr val="FFFFFF"/>
                </a:solidFill>
                <a:latin typeface="Calibri" pitchFamily="34" charset="0"/>
                <a:ea typeface="Calibri" pitchFamily="34" charset="-122"/>
                <a:cs typeface="Calibri" pitchFamily="34" charset="-120"/>
              </a:rPr>
              <a:t>Phishing Website Detection</a:t>
            </a:r>
            <a:endParaRPr lang="en-US" sz="3800" dirty="0"/>
          </a:p>
        </p:txBody>
      </p:sp>
      <p:sp>
        <p:nvSpPr>
          <p:cNvPr id="22" name="Text 19"/>
          <p:cNvSpPr/>
          <p:nvPr/>
        </p:nvSpPr>
        <p:spPr>
          <a:xfrm>
            <a:off x="457200" y="2240280"/>
            <a:ext cx="8229600" cy="502920"/>
          </a:xfrm>
          <a:prstGeom prst="rect">
            <a:avLst/>
          </a:prstGeom>
          <a:noFill/>
          <a:ln/>
        </p:spPr>
        <p:txBody>
          <a:bodyPr wrap="square" lIns="0" tIns="0" rIns="0" bIns="0" rtlCol="0" anchor="ctr"/>
          <a:lstStyle/>
          <a:p>
            <a:pPr marL="0" indent="0" algn="ctr">
              <a:buNone/>
            </a:pPr>
            <a:r>
              <a:rPr lang="en-US" sz="2600" dirty="0">
                <a:solidFill>
                  <a:srgbClr val="00D4FF"/>
                </a:solidFill>
                <a:latin typeface="Calibri" pitchFamily="34" charset="0"/>
                <a:ea typeface="Calibri" pitchFamily="34" charset="-122"/>
                <a:cs typeface="Calibri" pitchFamily="34" charset="-120"/>
              </a:rPr>
              <a:t>Using Machine Learning Techniques</a:t>
            </a:r>
            <a:endParaRPr lang="en-US" sz="2600" dirty="0"/>
          </a:p>
        </p:txBody>
      </p:sp>
      <p:sp>
        <p:nvSpPr>
          <p:cNvPr id="23" name="Shape 20"/>
          <p:cNvSpPr/>
          <p:nvPr/>
        </p:nvSpPr>
        <p:spPr>
          <a:xfrm>
            <a:off x="2286000" y="2834640"/>
            <a:ext cx="4572000" cy="0"/>
          </a:xfrm>
          <a:prstGeom prst="line">
            <a:avLst/>
          </a:prstGeom>
          <a:noFill/>
          <a:ln w="12700">
            <a:solidFill>
              <a:srgbClr val="0891B2"/>
            </a:solidFill>
            <a:prstDash val="solid"/>
          </a:ln>
        </p:spPr>
        <p:txBody>
          <a:bodyPr/>
          <a:lstStyle/>
          <a:p>
            <a:endParaRPr lang="en-GB"/>
          </a:p>
        </p:txBody>
      </p:sp>
      <p:sp>
        <p:nvSpPr>
          <p:cNvPr id="24" name="Text 21"/>
          <p:cNvSpPr/>
          <p:nvPr/>
        </p:nvSpPr>
        <p:spPr>
          <a:xfrm>
            <a:off x="457200" y="3017520"/>
            <a:ext cx="8229600" cy="320040"/>
          </a:xfrm>
          <a:prstGeom prst="rect">
            <a:avLst/>
          </a:prstGeom>
          <a:noFill/>
          <a:ln/>
        </p:spPr>
        <p:txBody>
          <a:bodyPr wrap="square" lIns="0" tIns="0" rIns="0" bIns="0" rtlCol="0" anchor="ctr"/>
          <a:lstStyle/>
          <a:p>
            <a:pPr marL="0" indent="0" algn="ctr">
              <a:buNone/>
            </a:pPr>
            <a:r>
              <a:rPr lang="en-US" sz="1300" dirty="0">
                <a:solidFill>
                  <a:srgbClr val="94A3B8"/>
                </a:solidFill>
                <a:latin typeface="Calibri" pitchFamily="34" charset="0"/>
                <a:ea typeface="Calibri" pitchFamily="34" charset="-122"/>
                <a:cs typeface="Calibri" pitchFamily="34" charset="-120"/>
              </a:rPr>
              <a:t>ICT Risk Assessment  |  University of Pisa</a:t>
            </a:r>
            <a:endParaRPr lang="en-US" sz="1300" dirty="0"/>
          </a:p>
        </p:txBody>
      </p:sp>
      <p:sp>
        <p:nvSpPr>
          <p:cNvPr id="25" name="Text 22"/>
          <p:cNvSpPr/>
          <p:nvPr/>
        </p:nvSpPr>
        <p:spPr>
          <a:xfrm>
            <a:off x="457200" y="3383280"/>
            <a:ext cx="8229600" cy="3200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Hamas Ali  •  Matricola 726267</a:t>
            </a:r>
            <a:endParaRPr lang="en-US" sz="1400" dirty="0"/>
          </a:p>
        </p:txBody>
      </p:sp>
      <p:sp>
        <p:nvSpPr>
          <p:cNvPr id="26" name="Shape 23"/>
          <p:cNvSpPr/>
          <p:nvPr/>
        </p:nvSpPr>
        <p:spPr>
          <a:xfrm>
            <a:off x="3200400" y="4480560"/>
            <a:ext cx="2743200" cy="365760"/>
          </a:xfrm>
          <a:prstGeom prst="rect">
            <a:avLst/>
          </a:prstGeom>
          <a:solidFill>
            <a:srgbClr val="0891B2"/>
          </a:solidFill>
          <a:ln w="12700">
            <a:solidFill>
              <a:srgbClr val="0891B2"/>
            </a:solidFill>
            <a:prstDash val="solid"/>
          </a:ln>
        </p:spPr>
        <p:txBody>
          <a:bodyPr/>
          <a:lstStyle/>
          <a:p>
            <a:endParaRPr lang="en-GB"/>
          </a:p>
        </p:txBody>
      </p:sp>
      <p:sp>
        <p:nvSpPr>
          <p:cNvPr id="27" name="Text 24"/>
          <p:cNvSpPr/>
          <p:nvPr/>
        </p:nvSpPr>
        <p:spPr>
          <a:xfrm>
            <a:off x="3200400" y="4480560"/>
            <a:ext cx="2743200" cy="36576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Cybersecurity  |  Machine Learning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D4FF"/>
          </a:solidFill>
          <a:ln w="12700">
            <a:solidFill>
              <a:srgbClr val="00D4FF"/>
            </a:solidFill>
            <a:prstDash val="solid"/>
          </a:ln>
        </p:spPr>
        <p:txBody>
          <a:bodyPr/>
          <a:lstStyle/>
          <a:p>
            <a:endParaRPr lang="en-GB"/>
          </a:p>
        </p:txBody>
      </p:sp>
      <p:sp>
        <p:nvSpPr>
          <p:cNvPr id="3" name="Text 1"/>
          <p:cNvSpPr/>
          <p:nvPr/>
        </p:nvSpPr>
        <p:spPr>
          <a:xfrm>
            <a:off x="274320" y="228600"/>
            <a:ext cx="8595360" cy="50292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Agenda</a:t>
            </a:r>
            <a:endParaRPr lang="en-US" sz="3200" dirty="0"/>
          </a:p>
        </p:txBody>
      </p:sp>
      <p:sp>
        <p:nvSpPr>
          <p:cNvPr id="4" name="Shape 2"/>
          <p:cNvSpPr/>
          <p:nvPr/>
        </p:nvSpPr>
        <p:spPr>
          <a:xfrm>
            <a:off x="274320" y="960120"/>
            <a:ext cx="2743200" cy="1554480"/>
          </a:xfrm>
          <a:prstGeom prst="rect">
            <a:avLst/>
          </a:prstGeom>
          <a:solidFill>
            <a:srgbClr val="1A2333"/>
          </a:solidFill>
          <a:ln w="6350">
            <a:solidFill>
              <a:srgbClr val="475569"/>
            </a:solidFill>
            <a:prstDash val="solid"/>
          </a:ln>
        </p:spPr>
        <p:txBody>
          <a:bodyPr/>
          <a:lstStyle/>
          <a:p>
            <a:endParaRPr lang="en-GB"/>
          </a:p>
        </p:txBody>
      </p:sp>
      <p:sp>
        <p:nvSpPr>
          <p:cNvPr id="5" name="Shape 3"/>
          <p:cNvSpPr/>
          <p:nvPr/>
        </p:nvSpPr>
        <p:spPr>
          <a:xfrm>
            <a:off x="274320" y="960120"/>
            <a:ext cx="54864" cy="1554480"/>
          </a:xfrm>
          <a:prstGeom prst="rect">
            <a:avLst/>
          </a:prstGeom>
          <a:solidFill>
            <a:srgbClr val="00D4FF"/>
          </a:solidFill>
          <a:ln w="12700">
            <a:solidFill>
              <a:srgbClr val="00D4FF"/>
            </a:solidFill>
            <a:prstDash val="solid"/>
          </a:ln>
        </p:spPr>
        <p:txBody>
          <a:bodyPr/>
          <a:lstStyle/>
          <a:p>
            <a:endParaRPr lang="en-GB"/>
          </a:p>
        </p:txBody>
      </p:sp>
      <p:pic>
        <p:nvPicPr>
          <p:cNvPr id="6" name="Image 0" descr="preencoded.png"/>
          <p:cNvPicPr>
            <a:picLocks noChangeAspect="1"/>
          </p:cNvPicPr>
          <p:nvPr/>
        </p:nvPicPr>
        <p:blipFill>
          <a:blip r:embed="rId3"/>
          <a:stretch>
            <a:fillRect/>
          </a:stretch>
        </p:blipFill>
        <p:spPr>
          <a:xfrm>
            <a:off x="411480" y="1097280"/>
            <a:ext cx="411480" cy="411480"/>
          </a:xfrm>
          <a:prstGeom prst="rect">
            <a:avLst/>
          </a:prstGeom>
        </p:spPr>
      </p:pic>
      <p:sp>
        <p:nvSpPr>
          <p:cNvPr id="7" name="Text 4"/>
          <p:cNvSpPr/>
          <p:nvPr/>
        </p:nvSpPr>
        <p:spPr>
          <a:xfrm>
            <a:off x="2468880" y="1051560"/>
            <a:ext cx="457200" cy="320040"/>
          </a:xfrm>
          <a:prstGeom prst="rect">
            <a:avLst/>
          </a:prstGeom>
          <a:noFill/>
          <a:ln/>
        </p:spPr>
        <p:txBody>
          <a:bodyPr wrap="square" lIns="0" tIns="0" rIns="0" bIns="0" rtlCol="0" anchor="ctr"/>
          <a:lstStyle/>
          <a:p>
            <a:pPr marL="0" indent="0" algn="r">
              <a:buNone/>
            </a:pPr>
            <a:r>
              <a:rPr lang="en-US" sz="2000" b="1" dirty="0">
                <a:solidFill>
                  <a:srgbClr val="00D4FF"/>
                </a:solidFill>
                <a:latin typeface="Calibri" pitchFamily="34" charset="0"/>
                <a:ea typeface="Calibri" pitchFamily="34" charset="-122"/>
                <a:cs typeface="Calibri" pitchFamily="34" charset="-120"/>
              </a:rPr>
              <a:t>01</a:t>
            </a:r>
            <a:endParaRPr lang="en-US" sz="2000" dirty="0"/>
          </a:p>
        </p:txBody>
      </p:sp>
      <p:sp>
        <p:nvSpPr>
          <p:cNvPr id="8" name="Text 5"/>
          <p:cNvSpPr/>
          <p:nvPr/>
        </p:nvSpPr>
        <p:spPr>
          <a:xfrm>
            <a:off x="411480" y="1554480"/>
            <a:ext cx="2514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Problem Statement</a:t>
            </a:r>
            <a:endParaRPr lang="en-US" sz="1300" dirty="0"/>
          </a:p>
        </p:txBody>
      </p:sp>
      <p:sp>
        <p:nvSpPr>
          <p:cNvPr id="9" name="Text 6"/>
          <p:cNvSpPr/>
          <p:nvPr/>
        </p:nvSpPr>
        <p:spPr>
          <a:xfrm>
            <a:off x="411480" y="1920240"/>
            <a:ext cx="2514600" cy="502920"/>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Why phishing is a threat &amp; traditional limitations</a:t>
            </a:r>
            <a:endParaRPr lang="en-US" sz="950" dirty="0"/>
          </a:p>
        </p:txBody>
      </p:sp>
      <p:sp>
        <p:nvSpPr>
          <p:cNvPr id="10" name="Shape 7"/>
          <p:cNvSpPr/>
          <p:nvPr/>
        </p:nvSpPr>
        <p:spPr>
          <a:xfrm>
            <a:off x="3200400" y="960120"/>
            <a:ext cx="2743200" cy="1554480"/>
          </a:xfrm>
          <a:prstGeom prst="rect">
            <a:avLst/>
          </a:prstGeom>
          <a:solidFill>
            <a:srgbClr val="1A2333"/>
          </a:solidFill>
          <a:ln w="6350">
            <a:solidFill>
              <a:srgbClr val="475569"/>
            </a:solidFill>
            <a:prstDash val="solid"/>
          </a:ln>
        </p:spPr>
        <p:txBody>
          <a:bodyPr/>
          <a:lstStyle/>
          <a:p>
            <a:endParaRPr lang="en-GB"/>
          </a:p>
        </p:txBody>
      </p:sp>
      <p:sp>
        <p:nvSpPr>
          <p:cNvPr id="11" name="Shape 8"/>
          <p:cNvSpPr/>
          <p:nvPr/>
        </p:nvSpPr>
        <p:spPr>
          <a:xfrm>
            <a:off x="3200400" y="960120"/>
            <a:ext cx="54864" cy="1554480"/>
          </a:xfrm>
          <a:prstGeom prst="rect">
            <a:avLst/>
          </a:prstGeom>
          <a:solidFill>
            <a:srgbClr val="00D4FF"/>
          </a:solidFill>
          <a:ln w="12700">
            <a:solidFill>
              <a:srgbClr val="00D4FF"/>
            </a:solidFill>
            <a:prstDash val="solid"/>
          </a:ln>
        </p:spPr>
        <p:txBody>
          <a:bodyPr/>
          <a:lstStyle/>
          <a:p>
            <a:endParaRPr lang="en-GB"/>
          </a:p>
        </p:txBody>
      </p:sp>
      <p:pic>
        <p:nvPicPr>
          <p:cNvPr id="12" name="Image 1" descr="preencoded.png"/>
          <p:cNvPicPr>
            <a:picLocks noChangeAspect="1"/>
          </p:cNvPicPr>
          <p:nvPr/>
        </p:nvPicPr>
        <p:blipFill>
          <a:blip r:embed="rId4"/>
          <a:stretch>
            <a:fillRect/>
          </a:stretch>
        </p:blipFill>
        <p:spPr>
          <a:xfrm>
            <a:off x="3337560" y="1097280"/>
            <a:ext cx="411480" cy="411480"/>
          </a:xfrm>
          <a:prstGeom prst="rect">
            <a:avLst/>
          </a:prstGeom>
        </p:spPr>
      </p:pic>
      <p:sp>
        <p:nvSpPr>
          <p:cNvPr id="13" name="Text 9"/>
          <p:cNvSpPr/>
          <p:nvPr/>
        </p:nvSpPr>
        <p:spPr>
          <a:xfrm>
            <a:off x="5394960" y="1051560"/>
            <a:ext cx="457200" cy="320040"/>
          </a:xfrm>
          <a:prstGeom prst="rect">
            <a:avLst/>
          </a:prstGeom>
          <a:noFill/>
          <a:ln/>
        </p:spPr>
        <p:txBody>
          <a:bodyPr wrap="square" lIns="0" tIns="0" rIns="0" bIns="0" rtlCol="0" anchor="ctr"/>
          <a:lstStyle/>
          <a:p>
            <a:pPr marL="0" indent="0" algn="r">
              <a:buNone/>
            </a:pPr>
            <a:r>
              <a:rPr lang="en-US" sz="2000" b="1" dirty="0">
                <a:solidFill>
                  <a:srgbClr val="00D4FF"/>
                </a:solidFill>
                <a:latin typeface="Calibri" pitchFamily="34" charset="0"/>
                <a:ea typeface="Calibri" pitchFamily="34" charset="-122"/>
                <a:cs typeface="Calibri" pitchFamily="34" charset="-120"/>
              </a:rPr>
              <a:t>02</a:t>
            </a:r>
            <a:endParaRPr lang="en-US" sz="2000" dirty="0"/>
          </a:p>
        </p:txBody>
      </p:sp>
      <p:sp>
        <p:nvSpPr>
          <p:cNvPr id="14" name="Text 10"/>
          <p:cNvSpPr/>
          <p:nvPr/>
        </p:nvSpPr>
        <p:spPr>
          <a:xfrm>
            <a:off x="3337560" y="1554480"/>
            <a:ext cx="2514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Research Papers Overview</a:t>
            </a:r>
            <a:endParaRPr lang="en-US" sz="1300" dirty="0"/>
          </a:p>
        </p:txBody>
      </p:sp>
      <p:sp>
        <p:nvSpPr>
          <p:cNvPr id="15" name="Text 11"/>
          <p:cNvSpPr/>
          <p:nvPr/>
        </p:nvSpPr>
        <p:spPr>
          <a:xfrm>
            <a:off x="3337560" y="1920240"/>
            <a:ext cx="2514600" cy="502920"/>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Three ML approaches compared</a:t>
            </a:r>
            <a:endParaRPr lang="en-US" sz="950" dirty="0"/>
          </a:p>
        </p:txBody>
      </p:sp>
      <p:sp>
        <p:nvSpPr>
          <p:cNvPr id="16" name="Shape 12"/>
          <p:cNvSpPr/>
          <p:nvPr/>
        </p:nvSpPr>
        <p:spPr>
          <a:xfrm>
            <a:off x="6126480" y="960120"/>
            <a:ext cx="2743200" cy="1554480"/>
          </a:xfrm>
          <a:prstGeom prst="rect">
            <a:avLst/>
          </a:prstGeom>
          <a:solidFill>
            <a:srgbClr val="1A2333"/>
          </a:solidFill>
          <a:ln w="6350">
            <a:solidFill>
              <a:srgbClr val="475569"/>
            </a:solidFill>
            <a:prstDash val="solid"/>
          </a:ln>
        </p:spPr>
        <p:txBody>
          <a:bodyPr/>
          <a:lstStyle/>
          <a:p>
            <a:endParaRPr lang="en-GB"/>
          </a:p>
        </p:txBody>
      </p:sp>
      <p:sp>
        <p:nvSpPr>
          <p:cNvPr id="17" name="Shape 13"/>
          <p:cNvSpPr/>
          <p:nvPr/>
        </p:nvSpPr>
        <p:spPr>
          <a:xfrm>
            <a:off x="6126480" y="960120"/>
            <a:ext cx="54864" cy="1554480"/>
          </a:xfrm>
          <a:prstGeom prst="rect">
            <a:avLst/>
          </a:prstGeom>
          <a:solidFill>
            <a:srgbClr val="00D4FF"/>
          </a:solidFill>
          <a:ln w="12700">
            <a:solidFill>
              <a:srgbClr val="00D4FF"/>
            </a:solidFill>
            <a:prstDash val="solid"/>
          </a:ln>
        </p:spPr>
        <p:txBody>
          <a:bodyPr/>
          <a:lstStyle/>
          <a:p>
            <a:endParaRPr lang="en-GB"/>
          </a:p>
        </p:txBody>
      </p:sp>
      <p:pic>
        <p:nvPicPr>
          <p:cNvPr id="18" name="Image 2" descr="preencoded.png"/>
          <p:cNvPicPr>
            <a:picLocks noChangeAspect="1"/>
          </p:cNvPicPr>
          <p:nvPr/>
        </p:nvPicPr>
        <p:blipFill>
          <a:blip r:embed="rId5"/>
          <a:stretch>
            <a:fillRect/>
          </a:stretch>
        </p:blipFill>
        <p:spPr>
          <a:xfrm>
            <a:off x="6263640" y="1097280"/>
            <a:ext cx="411480" cy="411480"/>
          </a:xfrm>
          <a:prstGeom prst="rect">
            <a:avLst/>
          </a:prstGeom>
        </p:spPr>
      </p:pic>
      <p:sp>
        <p:nvSpPr>
          <p:cNvPr id="19" name="Text 14"/>
          <p:cNvSpPr/>
          <p:nvPr/>
        </p:nvSpPr>
        <p:spPr>
          <a:xfrm>
            <a:off x="8321040" y="1051560"/>
            <a:ext cx="457200" cy="320040"/>
          </a:xfrm>
          <a:prstGeom prst="rect">
            <a:avLst/>
          </a:prstGeom>
          <a:noFill/>
          <a:ln/>
        </p:spPr>
        <p:txBody>
          <a:bodyPr wrap="square" lIns="0" tIns="0" rIns="0" bIns="0" rtlCol="0" anchor="ctr"/>
          <a:lstStyle/>
          <a:p>
            <a:pPr marL="0" indent="0" algn="r">
              <a:buNone/>
            </a:pPr>
            <a:r>
              <a:rPr lang="en-US" sz="2000" b="1" dirty="0">
                <a:solidFill>
                  <a:srgbClr val="00D4FF"/>
                </a:solidFill>
                <a:latin typeface="Calibri" pitchFamily="34" charset="0"/>
                <a:ea typeface="Calibri" pitchFamily="34" charset="-122"/>
                <a:cs typeface="Calibri" pitchFamily="34" charset="-120"/>
              </a:rPr>
              <a:t>03</a:t>
            </a:r>
            <a:endParaRPr lang="en-US" sz="2000" dirty="0"/>
          </a:p>
        </p:txBody>
      </p:sp>
      <p:sp>
        <p:nvSpPr>
          <p:cNvPr id="20" name="Text 15"/>
          <p:cNvSpPr/>
          <p:nvPr/>
        </p:nvSpPr>
        <p:spPr>
          <a:xfrm>
            <a:off x="6263640" y="1554480"/>
            <a:ext cx="2514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Papers Comparison</a:t>
            </a:r>
            <a:endParaRPr lang="en-US" sz="1300" dirty="0"/>
          </a:p>
        </p:txBody>
      </p:sp>
      <p:sp>
        <p:nvSpPr>
          <p:cNvPr id="21" name="Text 16"/>
          <p:cNvSpPr/>
          <p:nvPr/>
        </p:nvSpPr>
        <p:spPr>
          <a:xfrm>
            <a:off x="6263640" y="1920240"/>
            <a:ext cx="2514600" cy="502920"/>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Side-by-side analysis of techniques &amp; results</a:t>
            </a:r>
            <a:endParaRPr lang="en-US" sz="950" dirty="0"/>
          </a:p>
        </p:txBody>
      </p:sp>
      <p:sp>
        <p:nvSpPr>
          <p:cNvPr id="22" name="Shape 17"/>
          <p:cNvSpPr/>
          <p:nvPr/>
        </p:nvSpPr>
        <p:spPr>
          <a:xfrm>
            <a:off x="274320" y="2743200"/>
            <a:ext cx="2743200" cy="1554480"/>
          </a:xfrm>
          <a:prstGeom prst="rect">
            <a:avLst/>
          </a:prstGeom>
          <a:solidFill>
            <a:srgbClr val="1A2333"/>
          </a:solidFill>
          <a:ln w="6350">
            <a:solidFill>
              <a:srgbClr val="475569"/>
            </a:solidFill>
            <a:prstDash val="solid"/>
          </a:ln>
        </p:spPr>
        <p:txBody>
          <a:bodyPr/>
          <a:lstStyle/>
          <a:p>
            <a:endParaRPr lang="en-GB"/>
          </a:p>
        </p:txBody>
      </p:sp>
      <p:sp>
        <p:nvSpPr>
          <p:cNvPr id="23" name="Shape 18"/>
          <p:cNvSpPr/>
          <p:nvPr/>
        </p:nvSpPr>
        <p:spPr>
          <a:xfrm>
            <a:off x="274320" y="2743200"/>
            <a:ext cx="54864" cy="1554480"/>
          </a:xfrm>
          <a:prstGeom prst="rect">
            <a:avLst/>
          </a:prstGeom>
          <a:solidFill>
            <a:srgbClr val="00D4FF"/>
          </a:solidFill>
          <a:ln w="12700">
            <a:solidFill>
              <a:srgbClr val="00D4FF"/>
            </a:solidFill>
            <a:prstDash val="solid"/>
          </a:ln>
        </p:spPr>
        <p:txBody>
          <a:bodyPr/>
          <a:lstStyle/>
          <a:p>
            <a:endParaRPr lang="en-GB"/>
          </a:p>
        </p:txBody>
      </p:sp>
      <p:pic>
        <p:nvPicPr>
          <p:cNvPr id="24" name="Image 3" descr="preencoded.png"/>
          <p:cNvPicPr>
            <a:picLocks noChangeAspect="1"/>
          </p:cNvPicPr>
          <p:nvPr/>
        </p:nvPicPr>
        <p:blipFill>
          <a:blip r:embed="rId6"/>
          <a:stretch>
            <a:fillRect/>
          </a:stretch>
        </p:blipFill>
        <p:spPr>
          <a:xfrm>
            <a:off x="411480" y="2880360"/>
            <a:ext cx="411480" cy="411480"/>
          </a:xfrm>
          <a:prstGeom prst="rect">
            <a:avLst/>
          </a:prstGeom>
        </p:spPr>
      </p:pic>
      <p:sp>
        <p:nvSpPr>
          <p:cNvPr id="25" name="Text 19"/>
          <p:cNvSpPr/>
          <p:nvPr/>
        </p:nvSpPr>
        <p:spPr>
          <a:xfrm>
            <a:off x="2468880" y="2834640"/>
            <a:ext cx="457200" cy="320040"/>
          </a:xfrm>
          <a:prstGeom prst="rect">
            <a:avLst/>
          </a:prstGeom>
          <a:noFill/>
          <a:ln/>
        </p:spPr>
        <p:txBody>
          <a:bodyPr wrap="square" lIns="0" tIns="0" rIns="0" bIns="0" rtlCol="0" anchor="ctr"/>
          <a:lstStyle/>
          <a:p>
            <a:pPr marL="0" indent="0" algn="r">
              <a:buNone/>
            </a:pPr>
            <a:r>
              <a:rPr lang="en-US" sz="2000" b="1" dirty="0">
                <a:solidFill>
                  <a:srgbClr val="00D4FF"/>
                </a:solidFill>
                <a:latin typeface="Calibri" pitchFamily="34" charset="0"/>
                <a:ea typeface="Calibri" pitchFamily="34" charset="-122"/>
                <a:cs typeface="Calibri" pitchFamily="34" charset="-120"/>
              </a:rPr>
              <a:t>04</a:t>
            </a:r>
            <a:endParaRPr lang="en-US" sz="2000" dirty="0"/>
          </a:p>
        </p:txBody>
      </p:sp>
      <p:sp>
        <p:nvSpPr>
          <p:cNvPr id="26" name="Text 20"/>
          <p:cNvSpPr/>
          <p:nvPr/>
        </p:nvSpPr>
        <p:spPr>
          <a:xfrm>
            <a:off x="411480" y="3337560"/>
            <a:ext cx="2514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Our Implementation</a:t>
            </a:r>
            <a:endParaRPr lang="en-US" sz="1300" dirty="0"/>
          </a:p>
        </p:txBody>
      </p:sp>
      <p:sp>
        <p:nvSpPr>
          <p:cNvPr id="27" name="Text 21"/>
          <p:cNvSpPr/>
          <p:nvPr/>
        </p:nvSpPr>
        <p:spPr>
          <a:xfrm>
            <a:off x="411480" y="3703320"/>
            <a:ext cx="2514600" cy="502920"/>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Dataset, models, feature engineering</a:t>
            </a:r>
            <a:endParaRPr lang="en-US" sz="950" dirty="0"/>
          </a:p>
        </p:txBody>
      </p:sp>
      <p:sp>
        <p:nvSpPr>
          <p:cNvPr id="28" name="Shape 22"/>
          <p:cNvSpPr/>
          <p:nvPr/>
        </p:nvSpPr>
        <p:spPr>
          <a:xfrm>
            <a:off x="3200400" y="2743200"/>
            <a:ext cx="2743200" cy="1554480"/>
          </a:xfrm>
          <a:prstGeom prst="rect">
            <a:avLst/>
          </a:prstGeom>
          <a:solidFill>
            <a:srgbClr val="1A2333"/>
          </a:solidFill>
          <a:ln w="6350">
            <a:solidFill>
              <a:srgbClr val="475569"/>
            </a:solidFill>
            <a:prstDash val="solid"/>
          </a:ln>
        </p:spPr>
        <p:txBody>
          <a:bodyPr/>
          <a:lstStyle/>
          <a:p>
            <a:endParaRPr lang="en-GB"/>
          </a:p>
        </p:txBody>
      </p:sp>
      <p:sp>
        <p:nvSpPr>
          <p:cNvPr id="29" name="Shape 23"/>
          <p:cNvSpPr/>
          <p:nvPr/>
        </p:nvSpPr>
        <p:spPr>
          <a:xfrm>
            <a:off x="3200400" y="2743200"/>
            <a:ext cx="54864" cy="1554480"/>
          </a:xfrm>
          <a:prstGeom prst="rect">
            <a:avLst/>
          </a:prstGeom>
          <a:solidFill>
            <a:srgbClr val="00D4FF"/>
          </a:solidFill>
          <a:ln w="12700">
            <a:solidFill>
              <a:srgbClr val="00D4FF"/>
            </a:solidFill>
            <a:prstDash val="solid"/>
          </a:ln>
        </p:spPr>
        <p:txBody>
          <a:bodyPr/>
          <a:lstStyle/>
          <a:p>
            <a:endParaRPr lang="en-GB"/>
          </a:p>
        </p:txBody>
      </p:sp>
      <p:pic>
        <p:nvPicPr>
          <p:cNvPr id="30" name="Image 4" descr="preencoded.png"/>
          <p:cNvPicPr>
            <a:picLocks noChangeAspect="1"/>
          </p:cNvPicPr>
          <p:nvPr/>
        </p:nvPicPr>
        <p:blipFill>
          <a:blip r:embed="rId7"/>
          <a:stretch>
            <a:fillRect/>
          </a:stretch>
        </p:blipFill>
        <p:spPr>
          <a:xfrm>
            <a:off x="3337560" y="2880360"/>
            <a:ext cx="411480" cy="411480"/>
          </a:xfrm>
          <a:prstGeom prst="rect">
            <a:avLst/>
          </a:prstGeom>
        </p:spPr>
      </p:pic>
      <p:sp>
        <p:nvSpPr>
          <p:cNvPr id="31" name="Text 24"/>
          <p:cNvSpPr/>
          <p:nvPr/>
        </p:nvSpPr>
        <p:spPr>
          <a:xfrm>
            <a:off x="5394960" y="2834640"/>
            <a:ext cx="457200" cy="320040"/>
          </a:xfrm>
          <a:prstGeom prst="rect">
            <a:avLst/>
          </a:prstGeom>
          <a:noFill/>
          <a:ln/>
        </p:spPr>
        <p:txBody>
          <a:bodyPr wrap="square" lIns="0" tIns="0" rIns="0" bIns="0" rtlCol="0" anchor="ctr"/>
          <a:lstStyle/>
          <a:p>
            <a:pPr marL="0" indent="0" algn="r">
              <a:buNone/>
            </a:pPr>
            <a:r>
              <a:rPr lang="en-US" sz="2000" b="1" dirty="0">
                <a:solidFill>
                  <a:srgbClr val="00D4FF"/>
                </a:solidFill>
                <a:latin typeface="Calibri" pitchFamily="34" charset="0"/>
                <a:ea typeface="Calibri" pitchFamily="34" charset="-122"/>
                <a:cs typeface="Calibri" pitchFamily="34" charset="-120"/>
              </a:rPr>
              <a:t>05</a:t>
            </a:r>
            <a:endParaRPr lang="en-US" sz="2000" dirty="0"/>
          </a:p>
        </p:txBody>
      </p:sp>
      <p:sp>
        <p:nvSpPr>
          <p:cNvPr id="32" name="Text 25"/>
          <p:cNvSpPr/>
          <p:nvPr/>
        </p:nvSpPr>
        <p:spPr>
          <a:xfrm>
            <a:off x="3337560" y="3337560"/>
            <a:ext cx="2514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Results &amp; Analysis</a:t>
            </a:r>
            <a:endParaRPr lang="en-US" sz="1300" dirty="0"/>
          </a:p>
        </p:txBody>
      </p:sp>
      <p:sp>
        <p:nvSpPr>
          <p:cNvPr id="33" name="Text 26"/>
          <p:cNvSpPr/>
          <p:nvPr/>
        </p:nvSpPr>
        <p:spPr>
          <a:xfrm>
            <a:off x="3337560" y="3703320"/>
            <a:ext cx="2514600" cy="502920"/>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Performance metrics and cross-validation</a:t>
            </a:r>
            <a:endParaRPr lang="en-US" sz="950" dirty="0"/>
          </a:p>
        </p:txBody>
      </p:sp>
      <p:sp>
        <p:nvSpPr>
          <p:cNvPr id="34" name="Shape 27"/>
          <p:cNvSpPr/>
          <p:nvPr/>
        </p:nvSpPr>
        <p:spPr>
          <a:xfrm>
            <a:off x="6126480" y="2743200"/>
            <a:ext cx="2743200" cy="1554480"/>
          </a:xfrm>
          <a:prstGeom prst="rect">
            <a:avLst/>
          </a:prstGeom>
          <a:solidFill>
            <a:srgbClr val="1A2333"/>
          </a:solidFill>
          <a:ln w="6350">
            <a:solidFill>
              <a:srgbClr val="475569"/>
            </a:solidFill>
            <a:prstDash val="solid"/>
          </a:ln>
        </p:spPr>
        <p:txBody>
          <a:bodyPr/>
          <a:lstStyle/>
          <a:p>
            <a:endParaRPr lang="en-GB"/>
          </a:p>
        </p:txBody>
      </p:sp>
      <p:sp>
        <p:nvSpPr>
          <p:cNvPr id="35" name="Shape 28"/>
          <p:cNvSpPr/>
          <p:nvPr/>
        </p:nvSpPr>
        <p:spPr>
          <a:xfrm>
            <a:off x="6126480" y="2743200"/>
            <a:ext cx="54864" cy="1554480"/>
          </a:xfrm>
          <a:prstGeom prst="rect">
            <a:avLst/>
          </a:prstGeom>
          <a:solidFill>
            <a:srgbClr val="00D4FF"/>
          </a:solidFill>
          <a:ln w="12700">
            <a:solidFill>
              <a:srgbClr val="00D4FF"/>
            </a:solidFill>
            <a:prstDash val="solid"/>
          </a:ln>
        </p:spPr>
        <p:txBody>
          <a:bodyPr/>
          <a:lstStyle/>
          <a:p>
            <a:endParaRPr lang="en-GB"/>
          </a:p>
        </p:txBody>
      </p:sp>
      <p:pic>
        <p:nvPicPr>
          <p:cNvPr id="36" name="Image 5" descr="preencoded.png"/>
          <p:cNvPicPr>
            <a:picLocks noChangeAspect="1"/>
          </p:cNvPicPr>
          <p:nvPr/>
        </p:nvPicPr>
        <p:blipFill>
          <a:blip r:embed="rId8"/>
          <a:stretch>
            <a:fillRect/>
          </a:stretch>
        </p:blipFill>
        <p:spPr>
          <a:xfrm>
            <a:off x="6263640" y="2880360"/>
            <a:ext cx="411480" cy="411480"/>
          </a:xfrm>
          <a:prstGeom prst="rect">
            <a:avLst/>
          </a:prstGeom>
        </p:spPr>
      </p:pic>
      <p:sp>
        <p:nvSpPr>
          <p:cNvPr id="37" name="Text 29"/>
          <p:cNvSpPr/>
          <p:nvPr/>
        </p:nvSpPr>
        <p:spPr>
          <a:xfrm>
            <a:off x="8321040" y="2834640"/>
            <a:ext cx="457200" cy="320040"/>
          </a:xfrm>
          <a:prstGeom prst="rect">
            <a:avLst/>
          </a:prstGeom>
          <a:noFill/>
          <a:ln/>
        </p:spPr>
        <p:txBody>
          <a:bodyPr wrap="square" lIns="0" tIns="0" rIns="0" bIns="0" rtlCol="0" anchor="ctr"/>
          <a:lstStyle/>
          <a:p>
            <a:pPr marL="0" indent="0" algn="r">
              <a:buNone/>
            </a:pPr>
            <a:r>
              <a:rPr lang="en-US" sz="2000" b="1" dirty="0">
                <a:solidFill>
                  <a:srgbClr val="00D4FF"/>
                </a:solidFill>
                <a:latin typeface="Calibri" pitchFamily="34" charset="0"/>
                <a:ea typeface="Calibri" pitchFamily="34" charset="-122"/>
                <a:cs typeface="Calibri" pitchFamily="34" charset="-120"/>
              </a:rPr>
              <a:t>06</a:t>
            </a:r>
            <a:endParaRPr lang="en-US" sz="2000" dirty="0"/>
          </a:p>
        </p:txBody>
      </p:sp>
      <p:sp>
        <p:nvSpPr>
          <p:cNvPr id="38" name="Text 30"/>
          <p:cNvSpPr/>
          <p:nvPr/>
        </p:nvSpPr>
        <p:spPr>
          <a:xfrm>
            <a:off x="6263640" y="3337560"/>
            <a:ext cx="25146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Key Findings</a:t>
            </a:r>
            <a:endParaRPr lang="en-US" sz="1300" dirty="0"/>
          </a:p>
        </p:txBody>
      </p:sp>
      <p:sp>
        <p:nvSpPr>
          <p:cNvPr id="39" name="Text 31"/>
          <p:cNvSpPr/>
          <p:nvPr/>
        </p:nvSpPr>
        <p:spPr>
          <a:xfrm>
            <a:off x="6263640" y="3703320"/>
            <a:ext cx="2514600" cy="502920"/>
          </a:xfrm>
          <a:prstGeom prst="rect">
            <a:avLst/>
          </a:prstGeom>
          <a:noFill/>
          <a:ln/>
        </p:spPr>
        <p:txBody>
          <a:bodyPr wrap="square" lIns="0" tIns="0" rIns="0" bIns="0" rtlCol="0" anchor="ctr"/>
          <a:lstStyle/>
          <a:p>
            <a:pPr marL="0" indent="0">
              <a:buNone/>
            </a:pPr>
            <a:r>
              <a:rPr lang="en-US" sz="950" dirty="0">
                <a:solidFill>
                  <a:srgbClr val="94A3B8"/>
                </a:solidFill>
                <a:latin typeface="Calibri" pitchFamily="34" charset="0"/>
                <a:ea typeface="Calibri" pitchFamily="34" charset="-122"/>
                <a:cs typeface="Calibri" pitchFamily="34" charset="-120"/>
              </a:rPr>
              <a:t>Insights, conclusions, and takeaways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EF4444"/>
          </a:solidFill>
          <a:ln w="12700">
            <a:solidFill>
              <a:srgbClr val="EF4444"/>
            </a:solidFill>
            <a:prstDash val="solid"/>
          </a:ln>
        </p:spPr>
        <p:txBody>
          <a:bodyPr/>
          <a:lstStyle/>
          <a:p>
            <a:endParaRPr lang="en-GB"/>
          </a:p>
        </p:txBody>
      </p:sp>
      <p:sp>
        <p:nvSpPr>
          <p:cNvPr id="3" name="Text 1"/>
          <p:cNvSpPr/>
          <p:nvPr/>
        </p:nvSpPr>
        <p:spPr>
          <a:xfrm>
            <a:off x="274320" y="182880"/>
            <a:ext cx="8595360" cy="50292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The Phishing Threat</a:t>
            </a:r>
            <a:endParaRPr lang="en-US" sz="3000" dirty="0"/>
          </a:p>
        </p:txBody>
      </p:sp>
      <p:sp>
        <p:nvSpPr>
          <p:cNvPr id="4" name="Text 2"/>
          <p:cNvSpPr/>
          <p:nvPr/>
        </p:nvSpPr>
        <p:spPr>
          <a:xfrm>
            <a:off x="274320" y="685800"/>
            <a:ext cx="8229600" cy="32004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Why we need intelligent detection systems</a:t>
            </a:r>
            <a:endParaRPr lang="en-US" sz="1400" dirty="0"/>
          </a:p>
        </p:txBody>
      </p:sp>
      <p:sp>
        <p:nvSpPr>
          <p:cNvPr id="5" name="Shape 3"/>
          <p:cNvSpPr/>
          <p:nvPr/>
        </p:nvSpPr>
        <p:spPr>
          <a:xfrm>
            <a:off x="274320" y="1143000"/>
            <a:ext cx="4114800" cy="1554480"/>
          </a:xfrm>
          <a:prstGeom prst="rect">
            <a:avLst/>
          </a:prstGeom>
          <a:solidFill>
            <a:srgbClr val="1A2333"/>
          </a:solidFill>
          <a:ln w="12700">
            <a:solidFill>
              <a:srgbClr val="EF4444"/>
            </a:solidFill>
            <a:prstDash val="solid"/>
          </a:ln>
        </p:spPr>
        <p:txBody>
          <a:bodyPr/>
          <a:lstStyle/>
          <a:p>
            <a:endParaRPr lang="en-GB"/>
          </a:p>
        </p:txBody>
      </p:sp>
      <p:pic>
        <p:nvPicPr>
          <p:cNvPr id="6" name="Image 0" descr="preencoded.png"/>
          <p:cNvPicPr>
            <a:picLocks noChangeAspect="1"/>
          </p:cNvPicPr>
          <p:nvPr/>
        </p:nvPicPr>
        <p:blipFill>
          <a:blip r:embed="rId3"/>
          <a:stretch>
            <a:fillRect/>
          </a:stretch>
        </p:blipFill>
        <p:spPr>
          <a:xfrm>
            <a:off x="411480" y="1234440"/>
            <a:ext cx="411480" cy="411480"/>
          </a:xfrm>
          <a:prstGeom prst="rect">
            <a:avLst/>
          </a:prstGeom>
        </p:spPr>
      </p:pic>
      <p:sp>
        <p:nvSpPr>
          <p:cNvPr id="7" name="Text 4"/>
          <p:cNvSpPr/>
          <p:nvPr/>
        </p:nvSpPr>
        <p:spPr>
          <a:xfrm>
            <a:off x="868680" y="1234440"/>
            <a:ext cx="3383280" cy="365760"/>
          </a:xfrm>
          <a:prstGeom prst="rect">
            <a:avLst/>
          </a:prstGeom>
          <a:noFill/>
          <a:ln/>
        </p:spPr>
        <p:txBody>
          <a:bodyPr wrap="square" lIns="0" tIns="0" rIns="0" bIns="0" rtlCol="0" anchor="ctr"/>
          <a:lstStyle/>
          <a:p>
            <a:pPr marL="0" indent="0">
              <a:buNone/>
            </a:pPr>
            <a:r>
              <a:rPr lang="en-US" sz="1300" b="1" dirty="0">
                <a:solidFill>
                  <a:srgbClr val="EF4444"/>
                </a:solidFill>
                <a:latin typeface="Calibri" pitchFamily="34" charset="0"/>
                <a:ea typeface="Calibri" pitchFamily="34" charset="-122"/>
                <a:cs typeface="Calibri" pitchFamily="34" charset="-120"/>
              </a:rPr>
              <a:t>Attackers Steal Via Fake Sites</a:t>
            </a:r>
            <a:endParaRPr lang="en-US" sz="1300" dirty="0"/>
          </a:p>
        </p:txBody>
      </p:sp>
      <p:sp>
        <p:nvSpPr>
          <p:cNvPr id="8" name="Text 5"/>
          <p:cNvSpPr/>
          <p:nvPr/>
        </p:nvSpPr>
        <p:spPr>
          <a:xfrm>
            <a:off x="411480" y="1691640"/>
            <a:ext cx="3840480" cy="91440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 Passwords &amp; login credentials</a:t>
            </a:r>
            <a:endParaRPr lang="en-US" sz="1150" dirty="0"/>
          </a:p>
          <a:p>
            <a:pPr marL="0" indent="0">
              <a:buNone/>
            </a:pPr>
            <a:r>
              <a:rPr lang="en-US" sz="1150" dirty="0">
                <a:solidFill>
                  <a:srgbClr val="FFFFFF"/>
                </a:solidFill>
                <a:latin typeface="Calibri" pitchFamily="34" charset="0"/>
                <a:ea typeface="Calibri" pitchFamily="34" charset="-122"/>
                <a:cs typeface="Calibri" pitchFamily="34" charset="-120"/>
              </a:rPr>
              <a:t>• Bank details &amp; financial data</a:t>
            </a:r>
            <a:endParaRPr lang="en-US" sz="1150" dirty="0"/>
          </a:p>
          <a:p>
            <a:pPr marL="0" indent="0">
              <a:buNone/>
            </a:pPr>
            <a:r>
              <a:rPr lang="en-US" sz="1150" dirty="0">
                <a:solidFill>
                  <a:srgbClr val="FFFFFF"/>
                </a:solidFill>
                <a:latin typeface="Calibri" pitchFamily="34" charset="0"/>
                <a:ea typeface="Calibri" pitchFamily="34" charset="-122"/>
                <a:cs typeface="Calibri" pitchFamily="34" charset="-120"/>
              </a:rPr>
              <a:t>• Personal &amp; identity information</a:t>
            </a:r>
            <a:endParaRPr lang="en-US" sz="1150" dirty="0"/>
          </a:p>
          <a:p>
            <a:pPr marL="0" indent="0">
              <a:buNone/>
            </a:pPr>
            <a:r>
              <a:rPr lang="en-US" sz="1150" dirty="0">
                <a:solidFill>
                  <a:srgbClr val="FFFFFF"/>
                </a:solidFill>
                <a:latin typeface="Calibri" pitchFamily="34" charset="0"/>
                <a:ea typeface="Calibri" pitchFamily="34" charset="-122"/>
                <a:cs typeface="Calibri" pitchFamily="34" charset="-120"/>
              </a:rPr>
              <a:t>• Corporate secrets &amp; API keys</a:t>
            </a:r>
            <a:endParaRPr lang="en-US" sz="1150" dirty="0"/>
          </a:p>
        </p:txBody>
      </p:sp>
      <p:sp>
        <p:nvSpPr>
          <p:cNvPr id="9" name="Shape 6"/>
          <p:cNvSpPr/>
          <p:nvPr/>
        </p:nvSpPr>
        <p:spPr>
          <a:xfrm>
            <a:off x="4663440" y="1143000"/>
            <a:ext cx="4114800" cy="1554480"/>
          </a:xfrm>
          <a:prstGeom prst="rect">
            <a:avLst/>
          </a:prstGeom>
          <a:solidFill>
            <a:srgbClr val="1A2333"/>
          </a:solidFill>
          <a:ln w="12700">
            <a:solidFill>
              <a:srgbClr val="F59E0B"/>
            </a:solidFill>
            <a:prstDash val="solid"/>
          </a:ln>
        </p:spPr>
        <p:txBody>
          <a:bodyPr/>
          <a:lstStyle/>
          <a:p>
            <a:endParaRPr lang="en-GB"/>
          </a:p>
        </p:txBody>
      </p:sp>
      <p:pic>
        <p:nvPicPr>
          <p:cNvPr id="10" name="Image 1" descr="preencoded.png"/>
          <p:cNvPicPr>
            <a:picLocks noChangeAspect="1"/>
          </p:cNvPicPr>
          <p:nvPr/>
        </p:nvPicPr>
        <p:blipFill>
          <a:blip r:embed="rId4"/>
          <a:stretch>
            <a:fillRect/>
          </a:stretch>
        </p:blipFill>
        <p:spPr>
          <a:xfrm>
            <a:off x="4800600" y="1234440"/>
            <a:ext cx="411480" cy="411480"/>
          </a:xfrm>
          <a:prstGeom prst="rect">
            <a:avLst/>
          </a:prstGeom>
        </p:spPr>
      </p:pic>
      <p:sp>
        <p:nvSpPr>
          <p:cNvPr id="11" name="Text 7"/>
          <p:cNvSpPr/>
          <p:nvPr/>
        </p:nvSpPr>
        <p:spPr>
          <a:xfrm>
            <a:off x="5257800" y="1234440"/>
            <a:ext cx="3383280" cy="365760"/>
          </a:xfrm>
          <a:prstGeom prst="rect">
            <a:avLst/>
          </a:prstGeom>
          <a:noFill/>
          <a:ln/>
        </p:spPr>
        <p:txBody>
          <a:bodyPr wrap="square" lIns="0" tIns="0" rIns="0" bIns="0"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Blacklist/Whitelist Limitations</a:t>
            </a:r>
            <a:endParaRPr lang="en-US" sz="1300" dirty="0"/>
          </a:p>
        </p:txBody>
      </p:sp>
      <p:sp>
        <p:nvSpPr>
          <p:cNvPr id="12" name="Text 8"/>
          <p:cNvSpPr/>
          <p:nvPr/>
        </p:nvSpPr>
        <p:spPr>
          <a:xfrm>
            <a:off x="4800600" y="1691640"/>
            <a:ext cx="3840480" cy="91440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 Only detects known malicious URLs</a:t>
            </a:r>
            <a:endParaRPr lang="en-US" sz="1150" dirty="0"/>
          </a:p>
          <a:p>
            <a:pPr marL="0" indent="0">
              <a:buNone/>
            </a:pPr>
            <a:r>
              <a:rPr lang="en-US" sz="1150" dirty="0">
                <a:solidFill>
                  <a:srgbClr val="FFFFFF"/>
                </a:solidFill>
                <a:latin typeface="Calibri" pitchFamily="34" charset="0"/>
                <a:ea typeface="Calibri" pitchFamily="34" charset="-122"/>
                <a:cs typeface="Calibri" pitchFamily="34" charset="-120"/>
              </a:rPr>
              <a:t>• Fails on newly created phishing sites</a:t>
            </a:r>
            <a:endParaRPr lang="en-US" sz="1150" dirty="0"/>
          </a:p>
          <a:p>
            <a:pPr marL="0" indent="0">
              <a:buNone/>
            </a:pPr>
            <a:r>
              <a:rPr lang="en-US" sz="1150" dirty="0">
                <a:solidFill>
                  <a:srgbClr val="FFFFFF"/>
                </a:solidFill>
                <a:latin typeface="Calibri" pitchFamily="34" charset="0"/>
                <a:ea typeface="Calibri" pitchFamily="34" charset="-122"/>
                <a:cs typeface="Calibri" pitchFamily="34" charset="-120"/>
              </a:rPr>
              <a:t>• Cannot generalize to unseen attacks</a:t>
            </a:r>
            <a:endParaRPr lang="en-US" sz="1150" dirty="0"/>
          </a:p>
          <a:p>
            <a:pPr marL="0" indent="0">
              <a:buNone/>
            </a:pPr>
            <a:r>
              <a:rPr lang="en-US" sz="1150" dirty="0">
                <a:solidFill>
                  <a:srgbClr val="FFFFFF"/>
                </a:solidFill>
                <a:latin typeface="Calibri" pitchFamily="34" charset="0"/>
                <a:ea typeface="Calibri" pitchFamily="34" charset="-122"/>
                <a:cs typeface="Calibri" pitchFamily="34" charset="-120"/>
              </a:rPr>
              <a:t>• Requires constant manual updates</a:t>
            </a:r>
            <a:endParaRPr lang="en-US" sz="1150" dirty="0"/>
          </a:p>
        </p:txBody>
      </p:sp>
      <p:sp>
        <p:nvSpPr>
          <p:cNvPr id="13" name="Shape 9"/>
          <p:cNvSpPr/>
          <p:nvPr/>
        </p:nvSpPr>
        <p:spPr>
          <a:xfrm>
            <a:off x="274320" y="2880360"/>
            <a:ext cx="8503920" cy="914400"/>
          </a:xfrm>
          <a:prstGeom prst="rect">
            <a:avLst/>
          </a:prstGeom>
          <a:solidFill>
            <a:srgbClr val="0C2A1A"/>
          </a:solidFill>
          <a:ln w="12700">
            <a:solidFill>
              <a:srgbClr val="22C55E"/>
            </a:solidFill>
            <a:prstDash val="solid"/>
          </a:ln>
        </p:spPr>
        <p:txBody>
          <a:bodyPr/>
          <a:lstStyle/>
          <a:p>
            <a:endParaRPr lang="en-GB" dirty="0"/>
          </a:p>
        </p:txBody>
      </p:sp>
      <p:pic>
        <p:nvPicPr>
          <p:cNvPr id="14" name="Image 2" descr="preencoded.png"/>
          <p:cNvPicPr>
            <a:picLocks noChangeAspect="1"/>
          </p:cNvPicPr>
          <p:nvPr/>
        </p:nvPicPr>
        <p:blipFill>
          <a:blip r:embed="rId5"/>
          <a:stretch>
            <a:fillRect/>
          </a:stretch>
        </p:blipFill>
        <p:spPr>
          <a:xfrm>
            <a:off x="457200" y="3017520"/>
            <a:ext cx="502920" cy="502920"/>
          </a:xfrm>
          <a:prstGeom prst="rect">
            <a:avLst/>
          </a:prstGeom>
        </p:spPr>
      </p:pic>
      <p:sp>
        <p:nvSpPr>
          <p:cNvPr id="15" name="Text 10"/>
          <p:cNvSpPr/>
          <p:nvPr/>
        </p:nvSpPr>
        <p:spPr>
          <a:xfrm>
            <a:off x="1051560" y="2926080"/>
            <a:ext cx="3657600" cy="365760"/>
          </a:xfrm>
          <a:prstGeom prst="rect">
            <a:avLst/>
          </a:prstGeom>
          <a:noFill/>
          <a:ln/>
        </p:spPr>
        <p:txBody>
          <a:bodyPr wrap="square" lIns="0" tIns="0" rIns="0" bIns="0" rtlCol="0" anchor="ctr"/>
          <a:lstStyle/>
          <a:p>
            <a:pPr marL="0" indent="0">
              <a:buNone/>
            </a:pPr>
            <a:r>
              <a:rPr lang="en-US" sz="1400" b="1" dirty="0">
                <a:solidFill>
                  <a:srgbClr val="22C55E"/>
                </a:solidFill>
                <a:latin typeface="Calibri" pitchFamily="34" charset="0"/>
                <a:ea typeface="Calibri" pitchFamily="34" charset="-122"/>
                <a:cs typeface="Calibri" pitchFamily="34" charset="-120"/>
              </a:rPr>
              <a:t>Solution: Machine Learning (countermeasures)</a:t>
            </a:r>
            <a:endParaRPr lang="en-US" sz="1400" dirty="0"/>
          </a:p>
        </p:txBody>
      </p:sp>
      <p:sp>
        <p:nvSpPr>
          <p:cNvPr id="16" name="Text 11"/>
          <p:cNvSpPr/>
          <p:nvPr/>
        </p:nvSpPr>
        <p:spPr>
          <a:xfrm>
            <a:off x="1051560" y="3291840"/>
            <a:ext cx="7589520" cy="457200"/>
          </a:xfrm>
          <a:prstGeom prst="rect">
            <a:avLst/>
          </a:prstGeom>
          <a:noFill/>
          <a:ln/>
        </p:spPr>
        <p:txBody>
          <a:bodyPr wrap="square" lIns="0" tIns="0" rIns="0" bIns="0" rtlCol="0" anchor="ctr"/>
          <a:lstStyle/>
          <a:p>
            <a:r>
              <a:rPr lang="en-US" sz="1100" dirty="0">
                <a:solidFill>
                  <a:srgbClr val="FFFFFF"/>
                </a:solidFill>
                <a:latin typeface="Calibri" pitchFamily="34" charset="0"/>
                <a:ea typeface="Calibri" pitchFamily="34" charset="-122"/>
                <a:cs typeface="Calibri" pitchFamily="34" charset="-120"/>
              </a:rPr>
              <a:t>Intelligent systems that learn from patterns, generalize to new threats, and detect phishing automatically in real-time, without relying on predefined lists.</a:t>
            </a:r>
            <a:r>
              <a:rPr lang="en-GB" sz="1100" dirty="0"/>
              <a:t> </a:t>
            </a:r>
            <a:r>
              <a:rPr lang="en-GB" sz="1100" dirty="0">
                <a:solidFill>
                  <a:schemeClr val="bg1"/>
                </a:solidFill>
              </a:rPr>
              <a:t>Machine learning acts as a countermeasure in the risk assessment process by automatically detecting phishing threats and reducing risk.</a:t>
            </a:r>
            <a:endParaRPr lang="en-US" sz="1100" dirty="0">
              <a:solidFill>
                <a:schemeClr val="bg1"/>
              </a:solidFill>
            </a:endParaRPr>
          </a:p>
        </p:txBody>
      </p:sp>
      <p:sp>
        <p:nvSpPr>
          <p:cNvPr id="17" name="Shape 12"/>
          <p:cNvSpPr/>
          <p:nvPr/>
        </p:nvSpPr>
        <p:spPr>
          <a:xfrm>
            <a:off x="274320" y="3931920"/>
            <a:ext cx="2651760" cy="822960"/>
          </a:xfrm>
          <a:prstGeom prst="rect">
            <a:avLst/>
          </a:prstGeom>
          <a:solidFill>
            <a:srgbClr val="1E293B"/>
          </a:solidFill>
          <a:ln w="6350">
            <a:solidFill>
              <a:srgbClr val="0891B2"/>
            </a:solidFill>
            <a:prstDash val="solid"/>
          </a:ln>
        </p:spPr>
        <p:txBody>
          <a:bodyPr/>
          <a:lstStyle/>
          <a:p>
            <a:endParaRPr lang="en-GB"/>
          </a:p>
        </p:txBody>
      </p:sp>
      <p:sp>
        <p:nvSpPr>
          <p:cNvPr id="18" name="Text 13"/>
          <p:cNvSpPr/>
          <p:nvPr/>
        </p:nvSpPr>
        <p:spPr>
          <a:xfrm>
            <a:off x="274320" y="3931920"/>
            <a:ext cx="2651760" cy="457200"/>
          </a:xfrm>
          <a:prstGeom prst="rect">
            <a:avLst/>
          </a:prstGeom>
          <a:noFill/>
          <a:ln/>
        </p:spPr>
        <p:txBody>
          <a:bodyPr wrap="square" lIns="0" tIns="0" rIns="0" bIns="0" rtlCol="0" anchor="ctr"/>
          <a:lstStyle/>
          <a:p>
            <a:pPr marL="0" indent="0" algn="ctr">
              <a:buNone/>
            </a:pPr>
            <a:r>
              <a:rPr lang="en-US" sz="2200" b="1" dirty="0">
                <a:solidFill>
                  <a:srgbClr val="00D4FF"/>
                </a:solidFill>
                <a:latin typeface="Calibri" pitchFamily="34" charset="0"/>
                <a:ea typeface="Calibri" pitchFamily="34" charset="-122"/>
                <a:cs typeface="Calibri" pitchFamily="34" charset="-120"/>
              </a:rPr>
              <a:t>3.4B</a:t>
            </a:r>
            <a:endParaRPr lang="en-US" sz="2200" dirty="0"/>
          </a:p>
        </p:txBody>
      </p:sp>
      <p:sp>
        <p:nvSpPr>
          <p:cNvPr id="19" name="Text 14"/>
          <p:cNvSpPr/>
          <p:nvPr/>
        </p:nvSpPr>
        <p:spPr>
          <a:xfrm>
            <a:off x="274320" y="4370832"/>
            <a:ext cx="2651760" cy="320040"/>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Phishing emails/day</a:t>
            </a:r>
            <a:endParaRPr lang="en-US" sz="900" dirty="0"/>
          </a:p>
        </p:txBody>
      </p:sp>
      <p:sp>
        <p:nvSpPr>
          <p:cNvPr id="20" name="Shape 15"/>
          <p:cNvSpPr/>
          <p:nvPr/>
        </p:nvSpPr>
        <p:spPr>
          <a:xfrm>
            <a:off x="3154680" y="3931920"/>
            <a:ext cx="2651760" cy="822960"/>
          </a:xfrm>
          <a:prstGeom prst="rect">
            <a:avLst/>
          </a:prstGeom>
          <a:solidFill>
            <a:srgbClr val="1E293B"/>
          </a:solidFill>
          <a:ln w="6350">
            <a:solidFill>
              <a:srgbClr val="0891B2"/>
            </a:solidFill>
            <a:prstDash val="solid"/>
          </a:ln>
        </p:spPr>
        <p:txBody>
          <a:bodyPr/>
          <a:lstStyle/>
          <a:p>
            <a:endParaRPr lang="en-GB"/>
          </a:p>
        </p:txBody>
      </p:sp>
      <p:sp>
        <p:nvSpPr>
          <p:cNvPr id="21" name="Text 16"/>
          <p:cNvSpPr/>
          <p:nvPr/>
        </p:nvSpPr>
        <p:spPr>
          <a:xfrm>
            <a:off x="3154680" y="3931920"/>
            <a:ext cx="2651760" cy="457200"/>
          </a:xfrm>
          <a:prstGeom prst="rect">
            <a:avLst/>
          </a:prstGeom>
          <a:noFill/>
          <a:ln/>
        </p:spPr>
        <p:txBody>
          <a:bodyPr wrap="square" lIns="0" tIns="0" rIns="0" bIns="0" rtlCol="0" anchor="ctr"/>
          <a:lstStyle/>
          <a:p>
            <a:pPr marL="0" indent="0" algn="ctr">
              <a:buNone/>
            </a:pPr>
            <a:r>
              <a:rPr lang="en-US" sz="2200" b="1" dirty="0">
                <a:solidFill>
                  <a:srgbClr val="00D4FF"/>
                </a:solidFill>
                <a:latin typeface="Calibri" pitchFamily="34" charset="0"/>
                <a:ea typeface="Calibri" pitchFamily="34" charset="-122"/>
                <a:cs typeface="Calibri" pitchFamily="34" charset="-120"/>
              </a:rPr>
              <a:t>36%</a:t>
            </a:r>
            <a:endParaRPr lang="en-US" sz="2200" dirty="0"/>
          </a:p>
        </p:txBody>
      </p:sp>
      <p:sp>
        <p:nvSpPr>
          <p:cNvPr id="22" name="Text 17"/>
          <p:cNvSpPr/>
          <p:nvPr/>
        </p:nvSpPr>
        <p:spPr>
          <a:xfrm>
            <a:off x="3154680" y="4370832"/>
            <a:ext cx="2651760" cy="320040"/>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of breaches involve phishing</a:t>
            </a:r>
            <a:endParaRPr lang="en-US" sz="900" dirty="0"/>
          </a:p>
        </p:txBody>
      </p:sp>
      <p:sp>
        <p:nvSpPr>
          <p:cNvPr id="23" name="Shape 18"/>
          <p:cNvSpPr/>
          <p:nvPr/>
        </p:nvSpPr>
        <p:spPr>
          <a:xfrm>
            <a:off x="6035040" y="3931920"/>
            <a:ext cx="2651760" cy="822960"/>
          </a:xfrm>
          <a:prstGeom prst="rect">
            <a:avLst/>
          </a:prstGeom>
          <a:solidFill>
            <a:srgbClr val="1E293B"/>
          </a:solidFill>
          <a:ln w="6350">
            <a:solidFill>
              <a:srgbClr val="0891B2"/>
            </a:solidFill>
            <a:prstDash val="solid"/>
          </a:ln>
        </p:spPr>
        <p:txBody>
          <a:bodyPr/>
          <a:lstStyle/>
          <a:p>
            <a:endParaRPr lang="en-GB"/>
          </a:p>
        </p:txBody>
      </p:sp>
      <p:sp>
        <p:nvSpPr>
          <p:cNvPr id="24" name="Text 19"/>
          <p:cNvSpPr/>
          <p:nvPr/>
        </p:nvSpPr>
        <p:spPr>
          <a:xfrm>
            <a:off x="6035040" y="3931920"/>
            <a:ext cx="2651760" cy="457200"/>
          </a:xfrm>
          <a:prstGeom prst="rect">
            <a:avLst/>
          </a:prstGeom>
          <a:noFill/>
          <a:ln/>
        </p:spPr>
        <p:txBody>
          <a:bodyPr wrap="square" lIns="0" tIns="0" rIns="0" bIns="0" rtlCol="0" anchor="ctr"/>
          <a:lstStyle/>
          <a:p>
            <a:pPr marL="0" indent="0" algn="ctr">
              <a:buNone/>
            </a:pPr>
            <a:r>
              <a:rPr lang="en-US" sz="2200" b="1" dirty="0">
                <a:solidFill>
                  <a:srgbClr val="00D4FF"/>
                </a:solidFill>
                <a:latin typeface="Calibri" pitchFamily="34" charset="0"/>
                <a:ea typeface="Calibri" pitchFamily="34" charset="-122"/>
                <a:cs typeface="Calibri" pitchFamily="34" charset="-120"/>
              </a:rPr>
              <a:t>$17.8K</a:t>
            </a:r>
            <a:endParaRPr lang="en-US" sz="2200" dirty="0"/>
          </a:p>
        </p:txBody>
      </p:sp>
      <p:sp>
        <p:nvSpPr>
          <p:cNvPr id="25" name="Text 20"/>
          <p:cNvSpPr/>
          <p:nvPr/>
        </p:nvSpPr>
        <p:spPr>
          <a:xfrm>
            <a:off x="6035040" y="4370832"/>
            <a:ext cx="2651760" cy="320040"/>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avg cost per minute of downtime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D4FF"/>
          </a:solidFill>
          <a:ln w="12700">
            <a:solidFill>
              <a:srgbClr val="00D4FF"/>
            </a:solidFill>
            <a:prstDash val="solid"/>
          </a:ln>
        </p:spPr>
        <p:txBody>
          <a:bodyPr/>
          <a:lstStyle/>
          <a:p>
            <a:endParaRPr lang="en-GB"/>
          </a:p>
        </p:txBody>
      </p:sp>
      <p:sp>
        <p:nvSpPr>
          <p:cNvPr id="3" name="Text 1"/>
          <p:cNvSpPr/>
          <p:nvPr/>
        </p:nvSpPr>
        <p:spPr>
          <a:xfrm>
            <a:off x="274320" y="164592"/>
            <a:ext cx="1097280" cy="320040"/>
          </a:xfrm>
          <a:prstGeom prst="rect">
            <a:avLst/>
          </a:prstGeom>
          <a:solidFill>
            <a:srgbClr val="0C2A3A"/>
          </a:solidFill>
          <a:ln/>
        </p:spPr>
        <p:txBody>
          <a:bodyPr wrap="square" lIns="25400" tIns="25400" rIns="25400" bIns="25400" rtlCol="0" anchor="ctr"/>
          <a:lstStyle/>
          <a:p>
            <a:pPr marL="0" indent="0" algn="ctr">
              <a:buNone/>
            </a:pPr>
            <a:r>
              <a:rPr lang="en-US" sz="1100" b="1" dirty="0">
                <a:solidFill>
                  <a:srgbClr val="00D4FF"/>
                </a:solidFill>
                <a:latin typeface="Calibri" pitchFamily="34" charset="0"/>
                <a:ea typeface="Calibri" pitchFamily="34" charset="-122"/>
                <a:cs typeface="Calibri" pitchFamily="34" charset="-120"/>
              </a:rPr>
              <a:t>Paper 1</a:t>
            </a:r>
            <a:endParaRPr lang="en-US" sz="1100" dirty="0"/>
          </a:p>
        </p:txBody>
      </p:sp>
      <p:sp>
        <p:nvSpPr>
          <p:cNvPr id="4" name="Text 2"/>
          <p:cNvSpPr/>
          <p:nvPr/>
        </p:nvSpPr>
        <p:spPr>
          <a:xfrm>
            <a:off x="1463040" y="182880"/>
            <a:ext cx="74066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Detection of Phishing Website Using Machine Learning Approach</a:t>
            </a:r>
            <a:endParaRPr lang="en-US" sz="1400" dirty="0"/>
          </a:p>
        </p:txBody>
      </p:sp>
      <p:sp>
        <p:nvSpPr>
          <p:cNvPr id="5" name="Text 3"/>
          <p:cNvSpPr/>
          <p:nvPr/>
        </p:nvSpPr>
        <p:spPr>
          <a:xfrm>
            <a:off x="274320" y="548640"/>
            <a:ext cx="8595360" cy="274320"/>
          </a:xfrm>
          <a:prstGeom prst="rect">
            <a:avLst/>
          </a:prstGeom>
          <a:noFill/>
          <a:ln/>
        </p:spPr>
        <p:txBody>
          <a:bodyPr wrap="square" lIns="0" tIns="0" rIns="0" bIns="0" rtlCol="0" anchor="ctr"/>
          <a:lstStyle/>
          <a:p>
            <a:pPr marL="0" indent="0">
              <a:buNone/>
            </a:pPr>
            <a:r>
              <a:rPr lang="en-US" sz="1150" dirty="0">
                <a:solidFill>
                  <a:srgbClr val="00D4FF"/>
                </a:solidFill>
                <a:latin typeface="Calibri" pitchFamily="34" charset="0"/>
                <a:ea typeface="Calibri" pitchFamily="34" charset="-122"/>
                <a:cs typeface="Calibri" pitchFamily="34" charset="-120"/>
              </a:rPr>
              <a:t>Extreme Learning Machine (ELM) with URL &amp; Website Features</a:t>
            </a:r>
            <a:endParaRPr lang="en-US" sz="1150" dirty="0"/>
          </a:p>
        </p:txBody>
      </p:sp>
      <p:sp>
        <p:nvSpPr>
          <p:cNvPr id="6" name="Shape 4"/>
          <p:cNvSpPr/>
          <p:nvPr/>
        </p:nvSpPr>
        <p:spPr>
          <a:xfrm>
            <a:off x="274320" y="960120"/>
            <a:ext cx="1417320" cy="731520"/>
          </a:xfrm>
          <a:prstGeom prst="rect">
            <a:avLst/>
          </a:prstGeom>
          <a:solidFill>
            <a:srgbClr val="1A2333"/>
          </a:solidFill>
          <a:ln w="12700">
            <a:solidFill>
              <a:srgbClr val="475569"/>
            </a:solidFill>
            <a:prstDash val="solid"/>
          </a:ln>
        </p:spPr>
        <p:txBody>
          <a:bodyPr/>
          <a:lstStyle/>
          <a:p>
            <a:endParaRPr lang="en-GB"/>
          </a:p>
        </p:txBody>
      </p:sp>
      <p:sp>
        <p:nvSpPr>
          <p:cNvPr id="7" name="Text 5"/>
          <p:cNvSpPr/>
          <p:nvPr/>
        </p:nvSpPr>
        <p:spPr>
          <a:xfrm>
            <a:off x="274320" y="960120"/>
            <a:ext cx="1417320" cy="731520"/>
          </a:xfrm>
          <a:prstGeom prst="rect">
            <a:avLst/>
          </a:prstGeom>
          <a:noFill/>
          <a:ln/>
        </p:spPr>
        <p:txBody>
          <a:bodyPr wrap="square" lIns="25400" tIns="25400" rIns="25400" bIns="25400" rtlCol="0" anchor="ctr"/>
          <a:lstStyle/>
          <a:p>
            <a:pPr marL="0" indent="0" algn="ctr">
              <a:buNone/>
            </a:pPr>
            <a:r>
              <a:rPr lang="en-US" sz="1050" dirty="0">
                <a:solidFill>
                  <a:srgbClr val="94A3B8"/>
                </a:solidFill>
                <a:latin typeface="Calibri" pitchFamily="34" charset="0"/>
                <a:ea typeface="Calibri" pitchFamily="34" charset="-122"/>
                <a:cs typeface="Calibri" pitchFamily="34" charset="-120"/>
              </a:rPr>
              <a:t>Input URL+ other features</a:t>
            </a:r>
            <a:endParaRPr lang="en-US" sz="1050" dirty="0"/>
          </a:p>
        </p:txBody>
      </p:sp>
      <p:sp>
        <p:nvSpPr>
          <p:cNvPr id="8" name="Shape 6"/>
          <p:cNvSpPr/>
          <p:nvPr/>
        </p:nvSpPr>
        <p:spPr>
          <a:xfrm>
            <a:off x="1691640" y="1325880"/>
            <a:ext cx="320040" cy="0"/>
          </a:xfrm>
          <a:prstGeom prst="line">
            <a:avLst/>
          </a:prstGeom>
          <a:noFill/>
          <a:ln w="19050">
            <a:solidFill>
              <a:srgbClr val="00D4FF"/>
            </a:solidFill>
            <a:prstDash val="solid"/>
          </a:ln>
        </p:spPr>
        <p:txBody>
          <a:bodyPr/>
          <a:lstStyle/>
          <a:p>
            <a:endParaRPr lang="en-GB"/>
          </a:p>
        </p:txBody>
      </p:sp>
      <p:sp>
        <p:nvSpPr>
          <p:cNvPr id="9" name="Shape 7"/>
          <p:cNvSpPr/>
          <p:nvPr/>
        </p:nvSpPr>
        <p:spPr>
          <a:xfrm>
            <a:off x="2011680" y="960120"/>
            <a:ext cx="1417320" cy="731520"/>
          </a:xfrm>
          <a:prstGeom prst="rect">
            <a:avLst/>
          </a:prstGeom>
          <a:solidFill>
            <a:srgbClr val="1A2333"/>
          </a:solidFill>
          <a:ln w="12700">
            <a:solidFill>
              <a:srgbClr val="475569"/>
            </a:solidFill>
            <a:prstDash val="solid"/>
          </a:ln>
        </p:spPr>
        <p:txBody>
          <a:bodyPr/>
          <a:lstStyle/>
          <a:p>
            <a:endParaRPr lang="en-GB"/>
          </a:p>
        </p:txBody>
      </p:sp>
      <p:sp>
        <p:nvSpPr>
          <p:cNvPr id="10" name="Text 8"/>
          <p:cNvSpPr/>
          <p:nvPr/>
        </p:nvSpPr>
        <p:spPr>
          <a:xfrm>
            <a:off x="2011680" y="960120"/>
            <a:ext cx="1417320" cy="731520"/>
          </a:xfrm>
          <a:prstGeom prst="rect">
            <a:avLst/>
          </a:prstGeom>
          <a:noFill/>
          <a:ln/>
        </p:spPr>
        <p:txBody>
          <a:bodyPr wrap="square" lIns="25400" tIns="25400" rIns="25400" bIns="25400" rtlCol="0" anchor="ctr"/>
          <a:lstStyle/>
          <a:p>
            <a:pPr marL="0" indent="0" algn="ctr">
              <a:buNone/>
            </a:pPr>
            <a:r>
              <a:rPr lang="en-US" sz="1050" dirty="0">
                <a:solidFill>
                  <a:srgbClr val="94A3B8"/>
                </a:solidFill>
                <a:latin typeface="Calibri" pitchFamily="34" charset="0"/>
                <a:ea typeface="Calibri" pitchFamily="34" charset="-122"/>
                <a:cs typeface="Calibri" pitchFamily="34" charset="-120"/>
              </a:rPr>
              <a:t>Extract 30</a:t>
            </a:r>
            <a:endParaRPr lang="en-US" sz="1050" dirty="0"/>
          </a:p>
          <a:p>
            <a:pPr marL="0" indent="0" algn="ctr">
              <a:buNone/>
            </a:pPr>
            <a:r>
              <a:rPr lang="en-US" sz="1050" dirty="0">
                <a:solidFill>
                  <a:srgbClr val="94A3B8"/>
                </a:solidFill>
                <a:latin typeface="Calibri" pitchFamily="34" charset="0"/>
                <a:ea typeface="Calibri" pitchFamily="34" charset="-122"/>
                <a:cs typeface="Calibri" pitchFamily="34" charset="-120"/>
              </a:rPr>
              <a:t>Features</a:t>
            </a:r>
            <a:endParaRPr lang="en-US" sz="1050" dirty="0"/>
          </a:p>
        </p:txBody>
      </p:sp>
      <p:sp>
        <p:nvSpPr>
          <p:cNvPr id="11" name="Shape 9"/>
          <p:cNvSpPr/>
          <p:nvPr/>
        </p:nvSpPr>
        <p:spPr>
          <a:xfrm>
            <a:off x="3429000" y="1325880"/>
            <a:ext cx="320040" cy="0"/>
          </a:xfrm>
          <a:prstGeom prst="line">
            <a:avLst/>
          </a:prstGeom>
          <a:noFill/>
          <a:ln w="19050">
            <a:solidFill>
              <a:srgbClr val="00D4FF"/>
            </a:solidFill>
            <a:prstDash val="solid"/>
          </a:ln>
        </p:spPr>
        <p:txBody>
          <a:bodyPr/>
          <a:lstStyle/>
          <a:p>
            <a:endParaRPr lang="en-GB"/>
          </a:p>
        </p:txBody>
      </p:sp>
      <p:sp>
        <p:nvSpPr>
          <p:cNvPr id="12" name="Shape 10"/>
          <p:cNvSpPr/>
          <p:nvPr/>
        </p:nvSpPr>
        <p:spPr>
          <a:xfrm>
            <a:off x="3749040" y="960120"/>
            <a:ext cx="1417320" cy="731520"/>
          </a:xfrm>
          <a:prstGeom prst="rect">
            <a:avLst/>
          </a:prstGeom>
          <a:solidFill>
            <a:srgbClr val="0891B2"/>
          </a:solidFill>
          <a:ln w="12700">
            <a:solidFill>
              <a:srgbClr val="00D4FF"/>
            </a:solidFill>
            <a:prstDash val="solid"/>
          </a:ln>
        </p:spPr>
        <p:txBody>
          <a:bodyPr/>
          <a:lstStyle/>
          <a:p>
            <a:endParaRPr lang="en-GB"/>
          </a:p>
        </p:txBody>
      </p:sp>
      <p:sp>
        <p:nvSpPr>
          <p:cNvPr id="13" name="Text 11"/>
          <p:cNvSpPr/>
          <p:nvPr/>
        </p:nvSpPr>
        <p:spPr>
          <a:xfrm>
            <a:off x="3749040" y="960120"/>
            <a:ext cx="1417320" cy="731520"/>
          </a:xfrm>
          <a:prstGeom prst="rect">
            <a:avLst/>
          </a:prstGeom>
          <a:noFill/>
          <a:ln/>
        </p:spPr>
        <p:txBody>
          <a:bodyPr wrap="square" lIns="25400" tIns="25400" rIns="25400" bIns="2540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ELM</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Model</a:t>
            </a:r>
            <a:endParaRPr lang="en-US" sz="1050" dirty="0"/>
          </a:p>
        </p:txBody>
      </p:sp>
      <p:sp>
        <p:nvSpPr>
          <p:cNvPr id="14" name="Shape 12"/>
          <p:cNvSpPr/>
          <p:nvPr/>
        </p:nvSpPr>
        <p:spPr>
          <a:xfrm>
            <a:off x="5166360" y="1325880"/>
            <a:ext cx="320040" cy="0"/>
          </a:xfrm>
          <a:prstGeom prst="line">
            <a:avLst/>
          </a:prstGeom>
          <a:noFill/>
          <a:ln w="19050">
            <a:solidFill>
              <a:srgbClr val="00D4FF"/>
            </a:solidFill>
            <a:prstDash val="solid"/>
          </a:ln>
        </p:spPr>
        <p:txBody>
          <a:bodyPr/>
          <a:lstStyle/>
          <a:p>
            <a:endParaRPr lang="en-GB"/>
          </a:p>
        </p:txBody>
      </p:sp>
      <p:sp>
        <p:nvSpPr>
          <p:cNvPr id="15" name="Shape 13"/>
          <p:cNvSpPr/>
          <p:nvPr/>
        </p:nvSpPr>
        <p:spPr>
          <a:xfrm>
            <a:off x="5486400" y="960120"/>
            <a:ext cx="1417320" cy="731520"/>
          </a:xfrm>
          <a:prstGeom prst="rect">
            <a:avLst/>
          </a:prstGeom>
          <a:solidFill>
            <a:srgbClr val="1A2333"/>
          </a:solidFill>
          <a:ln w="12700">
            <a:solidFill>
              <a:srgbClr val="475569"/>
            </a:solidFill>
            <a:prstDash val="solid"/>
          </a:ln>
        </p:spPr>
        <p:txBody>
          <a:bodyPr/>
          <a:lstStyle/>
          <a:p>
            <a:endParaRPr lang="en-GB"/>
          </a:p>
        </p:txBody>
      </p:sp>
      <p:sp>
        <p:nvSpPr>
          <p:cNvPr id="16" name="Text 14"/>
          <p:cNvSpPr/>
          <p:nvPr/>
        </p:nvSpPr>
        <p:spPr>
          <a:xfrm>
            <a:off x="5486400" y="960120"/>
            <a:ext cx="1417320" cy="731520"/>
          </a:xfrm>
          <a:prstGeom prst="rect">
            <a:avLst/>
          </a:prstGeom>
          <a:noFill/>
          <a:ln/>
        </p:spPr>
        <p:txBody>
          <a:bodyPr wrap="square" lIns="25400" tIns="25400" rIns="25400" bIns="25400" rtlCol="0" anchor="ctr"/>
          <a:lstStyle/>
          <a:p>
            <a:pPr marL="0" indent="0" algn="ctr">
              <a:buNone/>
            </a:pPr>
            <a:r>
              <a:rPr lang="en-US" sz="1050" dirty="0">
                <a:solidFill>
                  <a:srgbClr val="94A3B8"/>
                </a:solidFill>
                <a:latin typeface="Calibri" pitchFamily="34" charset="0"/>
                <a:ea typeface="Calibri" pitchFamily="34" charset="-122"/>
                <a:cs typeface="Calibri" pitchFamily="34" charset="-120"/>
              </a:rPr>
              <a:t>Classify</a:t>
            </a:r>
            <a:endParaRPr lang="en-US" sz="1050" dirty="0"/>
          </a:p>
          <a:p>
            <a:pPr marL="0" indent="0" algn="ctr">
              <a:buNone/>
            </a:pPr>
            <a:r>
              <a:rPr lang="en-US" sz="1050" dirty="0">
                <a:solidFill>
                  <a:srgbClr val="94A3B8"/>
                </a:solidFill>
                <a:latin typeface="Calibri" pitchFamily="34" charset="0"/>
                <a:ea typeface="Calibri" pitchFamily="34" charset="-122"/>
                <a:cs typeface="Calibri" pitchFamily="34" charset="-120"/>
              </a:rPr>
              <a:t>+1 / -1</a:t>
            </a:r>
            <a:endParaRPr lang="en-US" sz="1050" dirty="0"/>
          </a:p>
        </p:txBody>
      </p:sp>
      <p:sp>
        <p:nvSpPr>
          <p:cNvPr id="17" name="Shape 15"/>
          <p:cNvSpPr/>
          <p:nvPr/>
        </p:nvSpPr>
        <p:spPr>
          <a:xfrm>
            <a:off x="6903720" y="1325880"/>
            <a:ext cx="320040" cy="0"/>
          </a:xfrm>
          <a:prstGeom prst="line">
            <a:avLst/>
          </a:prstGeom>
          <a:noFill/>
          <a:ln w="19050">
            <a:solidFill>
              <a:srgbClr val="00D4FF"/>
            </a:solidFill>
            <a:prstDash val="solid"/>
          </a:ln>
        </p:spPr>
        <p:txBody>
          <a:bodyPr/>
          <a:lstStyle/>
          <a:p>
            <a:endParaRPr lang="en-GB"/>
          </a:p>
        </p:txBody>
      </p:sp>
      <p:sp>
        <p:nvSpPr>
          <p:cNvPr id="18" name="Shape 16"/>
          <p:cNvSpPr/>
          <p:nvPr/>
        </p:nvSpPr>
        <p:spPr>
          <a:xfrm>
            <a:off x="7223760" y="960120"/>
            <a:ext cx="1417320" cy="731520"/>
          </a:xfrm>
          <a:prstGeom prst="rect">
            <a:avLst/>
          </a:prstGeom>
          <a:solidFill>
            <a:srgbClr val="1A2333"/>
          </a:solidFill>
          <a:ln w="12700">
            <a:solidFill>
              <a:srgbClr val="475569"/>
            </a:solidFill>
            <a:prstDash val="solid"/>
          </a:ln>
        </p:spPr>
        <p:txBody>
          <a:bodyPr/>
          <a:lstStyle/>
          <a:p>
            <a:endParaRPr lang="en-GB"/>
          </a:p>
        </p:txBody>
      </p:sp>
      <p:sp>
        <p:nvSpPr>
          <p:cNvPr id="19" name="Text 17"/>
          <p:cNvSpPr/>
          <p:nvPr/>
        </p:nvSpPr>
        <p:spPr>
          <a:xfrm>
            <a:off x="7223760" y="960120"/>
            <a:ext cx="1417320" cy="731520"/>
          </a:xfrm>
          <a:prstGeom prst="rect">
            <a:avLst/>
          </a:prstGeom>
          <a:noFill/>
          <a:ln/>
        </p:spPr>
        <p:txBody>
          <a:bodyPr wrap="square" lIns="25400" tIns="25400" rIns="25400" bIns="25400" rtlCol="0" anchor="ctr"/>
          <a:lstStyle/>
          <a:p>
            <a:pPr marL="0" indent="0" algn="ctr">
              <a:buNone/>
            </a:pPr>
            <a:r>
              <a:rPr lang="en-US" sz="1050" dirty="0">
                <a:solidFill>
                  <a:srgbClr val="94A3B8"/>
                </a:solidFill>
                <a:latin typeface="Calibri" pitchFamily="34" charset="0"/>
                <a:ea typeface="Calibri" pitchFamily="34" charset="-122"/>
                <a:cs typeface="Calibri" pitchFamily="34" charset="-120"/>
              </a:rPr>
              <a:t>Alert</a:t>
            </a:r>
            <a:endParaRPr lang="en-US" sz="1050" dirty="0"/>
          </a:p>
          <a:p>
            <a:pPr marL="0" indent="0" algn="ctr">
              <a:buNone/>
            </a:pPr>
            <a:r>
              <a:rPr lang="en-US" sz="1050" dirty="0">
                <a:solidFill>
                  <a:srgbClr val="94A3B8"/>
                </a:solidFill>
                <a:latin typeface="Calibri" pitchFamily="34" charset="0"/>
                <a:ea typeface="Calibri" pitchFamily="34" charset="-122"/>
                <a:cs typeface="Calibri" pitchFamily="34" charset="-120"/>
              </a:rPr>
              <a:t>User</a:t>
            </a:r>
            <a:endParaRPr lang="en-US" sz="1050" dirty="0"/>
          </a:p>
        </p:txBody>
      </p:sp>
      <p:sp>
        <p:nvSpPr>
          <p:cNvPr id="20" name="Text 18"/>
          <p:cNvSpPr/>
          <p:nvPr/>
        </p:nvSpPr>
        <p:spPr>
          <a:xfrm>
            <a:off x="274320" y="1920240"/>
            <a:ext cx="4023360" cy="274320"/>
          </a:xfrm>
          <a:prstGeom prst="rect">
            <a:avLst/>
          </a:prstGeom>
          <a:noFill/>
          <a:ln/>
        </p:spPr>
        <p:txBody>
          <a:bodyPr wrap="square" lIns="0" tIns="0" rIns="0" bIns="0" rtlCol="0" anchor="ctr"/>
          <a:lstStyle/>
          <a:p>
            <a:pPr marL="0" indent="0">
              <a:buNone/>
            </a:pPr>
            <a:r>
              <a:rPr lang="en-US" sz="1100" b="1" dirty="0">
                <a:solidFill>
                  <a:srgbClr val="00D4FF"/>
                </a:solidFill>
                <a:latin typeface="Calibri" pitchFamily="34" charset="0"/>
                <a:ea typeface="Calibri" pitchFamily="34" charset="-122"/>
                <a:cs typeface="Calibri" pitchFamily="34" charset="-120"/>
              </a:rPr>
              <a:t>Address-based Features</a:t>
            </a:r>
            <a:endParaRPr lang="en-US" sz="1100" dirty="0"/>
          </a:p>
        </p:txBody>
      </p:sp>
      <p:sp>
        <p:nvSpPr>
          <p:cNvPr id="21" name="Shape 19"/>
          <p:cNvSpPr/>
          <p:nvPr/>
        </p:nvSpPr>
        <p:spPr>
          <a:xfrm>
            <a:off x="274320" y="2194560"/>
            <a:ext cx="54864" cy="256032"/>
          </a:xfrm>
          <a:prstGeom prst="rect">
            <a:avLst/>
          </a:prstGeom>
          <a:solidFill>
            <a:srgbClr val="00D4FF"/>
          </a:solidFill>
          <a:ln w="12700">
            <a:solidFill>
              <a:srgbClr val="00D4FF"/>
            </a:solidFill>
            <a:prstDash val="solid"/>
          </a:ln>
        </p:spPr>
        <p:txBody>
          <a:bodyPr/>
          <a:lstStyle/>
          <a:p>
            <a:endParaRPr lang="en-GB"/>
          </a:p>
        </p:txBody>
      </p:sp>
      <p:sp>
        <p:nvSpPr>
          <p:cNvPr id="22" name="Text 20"/>
          <p:cNvSpPr/>
          <p:nvPr/>
        </p:nvSpPr>
        <p:spPr>
          <a:xfrm>
            <a:off x="384048" y="219456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URL length</a:t>
            </a:r>
            <a:endParaRPr lang="en-US" sz="1050" dirty="0"/>
          </a:p>
        </p:txBody>
      </p:sp>
      <p:sp>
        <p:nvSpPr>
          <p:cNvPr id="23" name="Shape 21"/>
          <p:cNvSpPr/>
          <p:nvPr/>
        </p:nvSpPr>
        <p:spPr>
          <a:xfrm>
            <a:off x="274320" y="2468880"/>
            <a:ext cx="54864" cy="256032"/>
          </a:xfrm>
          <a:prstGeom prst="rect">
            <a:avLst/>
          </a:prstGeom>
          <a:solidFill>
            <a:srgbClr val="00D4FF"/>
          </a:solidFill>
          <a:ln w="12700">
            <a:solidFill>
              <a:srgbClr val="00D4FF"/>
            </a:solidFill>
            <a:prstDash val="solid"/>
          </a:ln>
        </p:spPr>
        <p:txBody>
          <a:bodyPr/>
          <a:lstStyle/>
          <a:p>
            <a:endParaRPr lang="en-GB"/>
          </a:p>
        </p:txBody>
      </p:sp>
      <p:sp>
        <p:nvSpPr>
          <p:cNvPr id="24" name="Text 22"/>
          <p:cNvSpPr/>
          <p:nvPr/>
        </p:nvSpPr>
        <p:spPr>
          <a:xfrm>
            <a:off x="384048" y="246888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Special characters (@, //)</a:t>
            </a:r>
            <a:endParaRPr lang="en-US" sz="1050" dirty="0"/>
          </a:p>
        </p:txBody>
      </p:sp>
      <p:sp>
        <p:nvSpPr>
          <p:cNvPr id="25" name="Shape 23"/>
          <p:cNvSpPr/>
          <p:nvPr/>
        </p:nvSpPr>
        <p:spPr>
          <a:xfrm>
            <a:off x="274320" y="2743200"/>
            <a:ext cx="54864" cy="256032"/>
          </a:xfrm>
          <a:prstGeom prst="rect">
            <a:avLst/>
          </a:prstGeom>
          <a:solidFill>
            <a:srgbClr val="00D4FF"/>
          </a:solidFill>
          <a:ln w="12700">
            <a:solidFill>
              <a:srgbClr val="00D4FF"/>
            </a:solidFill>
            <a:prstDash val="solid"/>
          </a:ln>
        </p:spPr>
        <p:txBody>
          <a:bodyPr/>
          <a:lstStyle/>
          <a:p>
            <a:endParaRPr lang="en-GB"/>
          </a:p>
        </p:txBody>
      </p:sp>
      <p:sp>
        <p:nvSpPr>
          <p:cNvPr id="26" name="Text 24"/>
          <p:cNvSpPr/>
          <p:nvPr/>
        </p:nvSpPr>
        <p:spPr>
          <a:xfrm>
            <a:off x="384048" y="274320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Prefix/Suffix (-)</a:t>
            </a:r>
            <a:endParaRPr lang="en-US" sz="1050" dirty="0"/>
          </a:p>
        </p:txBody>
      </p:sp>
      <p:sp>
        <p:nvSpPr>
          <p:cNvPr id="27" name="Shape 25"/>
          <p:cNvSpPr/>
          <p:nvPr/>
        </p:nvSpPr>
        <p:spPr>
          <a:xfrm>
            <a:off x="274320" y="3017520"/>
            <a:ext cx="54864" cy="256032"/>
          </a:xfrm>
          <a:prstGeom prst="rect">
            <a:avLst/>
          </a:prstGeom>
          <a:solidFill>
            <a:srgbClr val="00D4FF"/>
          </a:solidFill>
          <a:ln w="12700">
            <a:solidFill>
              <a:srgbClr val="00D4FF"/>
            </a:solidFill>
            <a:prstDash val="solid"/>
          </a:ln>
        </p:spPr>
        <p:txBody>
          <a:bodyPr/>
          <a:lstStyle/>
          <a:p>
            <a:endParaRPr lang="en-GB"/>
          </a:p>
        </p:txBody>
      </p:sp>
      <p:sp>
        <p:nvSpPr>
          <p:cNvPr id="28" name="Text 26"/>
          <p:cNvSpPr/>
          <p:nvPr/>
        </p:nvSpPr>
        <p:spPr>
          <a:xfrm>
            <a:off x="384048" y="301752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IP address in URL</a:t>
            </a:r>
            <a:endParaRPr lang="en-US" sz="1050" dirty="0"/>
          </a:p>
        </p:txBody>
      </p:sp>
      <p:sp>
        <p:nvSpPr>
          <p:cNvPr id="29" name="Text 27"/>
          <p:cNvSpPr/>
          <p:nvPr/>
        </p:nvSpPr>
        <p:spPr>
          <a:xfrm>
            <a:off x="274320" y="3429000"/>
            <a:ext cx="4023360" cy="274320"/>
          </a:xfrm>
          <a:prstGeom prst="rect">
            <a:avLst/>
          </a:prstGeom>
          <a:noFill/>
          <a:ln/>
        </p:spPr>
        <p:txBody>
          <a:bodyPr wrap="square" lIns="0" tIns="0" rIns="0" bIns="0" rtlCol="0" anchor="ctr"/>
          <a:lstStyle/>
          <a:p>
            <a:pPr marL="0" indent="0">
              <a:buNone/>
            </a:pPr>
            <a:r>
              <a:rPr lang="en-US" sz="1100" b="1" dirty="0">
                <a:solidFill>
                  <a:srgbClr val="00D4FF"/>
                </a:solidFill>
                <a:latin typeface="Calibri" pitchFamily="34" charset="0"/>
                <a:ea typeface="Calibri" pitchFamily="34" charset="-122"/>
                <a:cs typeface="Calibri" pitchFamily="34" charset="-120"/>
              </a:rPr>
              <a:t>HTML / JavaScript Features</a:t>
            </a:r>
            <a:endParaRPr lang="en-US" sz="1100" dirty="0"/>
          </a:p>
        </p:txBody>
      </p:sp>
      <p:sp>
        <p:nvSpPr>
          <p:cNvPr id="30" name="Shape 28"/>
          <p:cNvSpPr/>
          <p:nvPr/>
        </p:nvSpPr>
        <p:spPr>
          <a:xfrm>
            <a:off x="274320" y="3703320"/>
            <a:ext cx="54864" cy="256032"/>
          </a:xfrm>
          <a:prstGeom prst="rect">
            <a:avLst/>
          </a:prstGeom>
          <a:solidFill>
            <a:srgbClr val="00D4FF"/>
          </a:solidFill>
          <a:ln w="12700">
            <a:solidFill>
              <a:srgbClr val="00D4FF"/>
            </a:solidFill>
            <a:prstDash val="solid"/>
          </a:ln>
        </p:spPr>
        <p:txBody>
          <a:bodyPr/>
          <a:lstStyle/>
          <a:p>
            <a:endParaRPr lang="en-GB"/>
          </a:p>
        </p:txBody>
      </p:sp>
      <p:sp>
        <p:nvSpPr>
          <p:cNvPr id="31" name="Text 29"/>
          <p:cNvSpPr/>
          <p:nvPr/>
        </p:nvSpPr>
        <p:spPr>
          <a:xfrm>
            <a:off x="384048" y="370332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Popup windows</a:t>
            </a:r>
            <a:endParaRPr lang="en-US" sz="1050" dirty="0"/>
          </a:p>
        </p:txBody>
      </p:sp>
      <p:sp>
        <p:nvSpPr>
          <p:cNvPr id="32" name="Shape 30"/>
          <p:cNvSpPr/>
          <p:nvPr/>
        </p:nvSpPr>
        <p:spPr>
          <a:xfrm>
            <a:off x="274320" y="3977640"/>
            <a:ext cx="54864" cy="256032"/>
          </a:xfrm>
          <a:prstGeom prst="rect">
            <a:avLst/>
          </a:prstGeom>
          <a:solidFill>
            <a:srgbClr val="00D4FF"/>
          </a:solidFill>
          <a:ln w="12700">
            <a:solidFill>
              <a:srgbClr val="00D4FF"/>
            </a:solidFill>
            <a:prstDash val="solid"/>
          </a:ln>
        </p:spPr>
        <p:txBody>
          <a:bodyPr/>
          <a:lstStyle/>
          <a:p>
            <a:endParaRPr lang="en-GB"/>
          </a:p>
        </p:txBody>
      </p:sp>
      <p:sp>
        <p:nvSpPr>
          <p:cNvPr id="33" name="Text 31"/>
          <p:cNvSpPr/>
          <p:nvPr/>
        </p:nvSpPr>
        <p:spPr>
          <a:xfrm>
            <a:off x="384048" y="397764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iFrame usage</a:t>
            </a:r>
            <a:endParaRPr lang="en-US" sz="1050" dirty="0"/>
          </a:p>
        </p:txBody>
      </p:sp>
      <p:sp>
        <p:nvSpPr>
          <p:cNvPr id="34" name="Shape 32"/>
          <p:cNvSpPr/>
          <p:nvPr/>
        </p:nvSpPr>
        <p:spPr>
          <a:xfrm>
            <a:off x="274320" y="4251960"/>
            <a:ext cx="54864" cy="256032"/>
          </a:xfrm>
          <a:prstGeom prst="rect">
            <a:avLst/>
          </a:prstGeom>
          <a:solidFill>
            <a:srgbClr val="00D4FF"/>
          </a:solidFill>
          <a:ln w="12700">
            <a:solidFill>
              <a:srgbClr val="00D4FF"/>
            </a:solidFill>
            <a:prstDash val="solid"/>
          </a:ln>
        </p:spPr>
        <p:txBody>
          <a:bodyPr/>
          <a:lstStyle/>
          <a:p>
            <a:endParaRPr lang="en-GB"/>
          </a:p>
        </p:txBody>
      </p:sp>
      <p:sp>
        <p:nvSpPr>
          <p:cNvPr id="35" name="Text 33"/>
          <p:cNvSpPr/>
          <p:nvPr/>
        </p:nvSpPr>
        <p:spPr>
          <a:xfrm>
            <a:off x="384048" y="425196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On-mouseover events</a:t>
            </a:r>
            <a:endParaRPr lang="en-US" sz="1050" dirty="0"/>
          </a:p>
        </p:txBody>
      </p:sp>
      <p:sp>
        <p:nvSpPr>
          <p:cNvPr id="36" name="Shape 34"/>
          <p:cNvSpPr/>
          <p:nvPr/>
        </p:nvSpPr>
        <p:spPr>
          <a:xfrm>
            <a:off x="274320" y="4526280"/>
            <a:ext cx="54864" cy="256032"/>
          </a:xfrm>
          <a:prstGeom prst="rect">
            <a:avLst/>
          </a:prstGeom>
          <a:solidFill>
            <a:srgbClr val="00D4FF"/>
          </a:solidFill>
          <a:ln w="12700">
            <a:solidFill>
              <a:srgbClr val="00D4FF"/>
            </a:solidFill>
            <a:prstDash val="solid"/>
          </a:ln>
        </p:spPr>
        <p:txBody>
          <a:bodyPr/>
          <a:lstStyle/>
          <a:p>
            <a:endParaRPr lang="en-GB"/>
          </a:p>
        </p:txBody>
      </p:sp>
      <p:sp>
        <p:nvSpPr>
          <p:cNvPr id="37" name="Text 35"/>
          <p:cNvSpPr/>
          <p:nvPr/>
        </p:nvSpPr>
        <p:spPr>
          <a:xfrm>
            <a:off x="384048" y="452628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Right-click disabled</a:t>
            </a:r>
            <a:endParaRPr lang="en-US" sz="1050" dirty="0"/>
          </a:p>
        </p:txBody>
      </p:sp>
      <p:sp>
        <p:nvSpPr>
          <p:cNvPr id="38" name="Text 36"/>
          <p:cNvSpPr/>
          <p:nvPr/>
        </p:nvSpPr>
        <p:spPr>
          <a:xfrm>
            <a:off x="4663440" y="1920240"/>
            <a:ext cx="4023360" cy="274320"/>
          </a:xfrm>
          <a:prstGeom prst="rect">
            <a:avLst/>
          </a:prstGeom>
          <a:noFill/>
          <a:ln/>
        </p:spPr>
        <p:txBody>
          <a:bodyPr wrap="square" lIns="0" tIns="0" rIns="0" bIns="0" rtlCol="0" anchor="ctr"/>
          <a:lstStyle/>
          <a:p>
            <a:pPr marL="0" indent="0">
              <a:buNone/>
            </a:pPr>
            <a:r>
              <a:rPr lang="en-US" sz="1100" b="1" dirty="0">
                <a:solidFill>
                  <a:srgbClr val="00D4FF"/>
                </a:solidFill>
                <a:latin typeface="Calibri" pitchFamily="34" charset="0"/>
                <a:ea typeface="Calibri" pitchFamily="34" charset="-122"/>
                <a:cs typeface="Calibri" pitchFamily="34" charset="-120"/>
              </a:rPr>
              <a:t>Abnormal Features</a:t>
            </a:r>
            <a:endParaRPr lang="en-US" sz="1100" dirty="0"/>
          </a:p>
        </p:txBody>
      </p:sp>
      <p:sp>
        <p:nvSpPr>
          <p:cNvPr id="39" name="Shape 37"/>
          <p:cNvSpPr/>
          <p:nvPr/>
        </p:nvSpPr>
        <p:spPr>
          <a:xfrm>
            <a:off x="4663440" y="2194560"/>
            <a:ext cx="54864" cy="256032"/>
          </a:xfrm>
          <a:prstGeom prst="rect">
            <a:avLst/>
          </a:prstGeom>
          <a:solidFill>
            <a:srgbClr val="00D4FF"/>
          </a:solidFill>
          <a:ln w="12700">
            <a:solidFill>
              <a:srgbClr val="00D4FF"/>
            </a:solidFill>
            <a:prstDash val="solid"/>
          </a:ln>
        </p:spPr>
        <p:txBody>
          <a:bodyPr/>
          <a:lstStyle/>
          <a:p>
            <a:endParaRPr lang="en-GB"/>
          </a:p>
        </p:txBody>
      </p:sp>
      <p:sp>
        <p:nvSpPr>
          <p:cNvPr id="40" name="Text 38"/>
          <p:cNvSpPr/>
          <p:nvPr/>
        </p:nvSpPr>
        <p:spPr>
          <a:xfrm>
            <a:off x="4773168" y="219456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Abnormal URL patterns</a:t>
            </a:r>
            <a:endParaRPr lang="en-US" sz="1050" dirty="0"/>
          </a:p>
        </p:txBody>
      </p:sp>
      <p:sp>
        <p:nvSpPr>
          <p:cNvPr id="41" name="Shape 39"/>
          <p:cNvSpPr/>
          <p:nvPr/>
        </p:nvSpPr>
        <p:spPr>
          <a:xfrm>
            <a:off x="4663440" y="2468880"/>
            <a:ext cx="54864" cy="256032"/>
          </a:xfrm>
          <a:prstGeom prst="rect">
            <a:avLst/>
          </a:prstGeom>
          <a:solidFill>
            <a:srgbClr val="00D4FF"/>
          </a:solidFill>
          <a:ln w="12700">
            <a:solidFill>
              <a:srgbClr val="00D4FF"/>
            </a:solidFill>
            <a:prstDash val="solid"/>
          </a:ln>
        </p:spPr>
        <p:txBody>
          <a:bodyPr/>
          <a:lstStyle/>
          <a:p>
            <a:endParaRPr lang="en-GB"/>
          </a:p>
        </p:txBody>
      </p:sp>
      <p:sp>
        <p:nvSpPr>
          <p:cNvPr id="42" name="Text 40"/>
          <p:cNvSpPr/>
          <p:nvPr/>
        </p:nvSpPr>
        <p:spPr>
          <a:xfrm>
            <a:off x="4773168" y="246888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Redirects count</a:t>
            </a:r>
            <a:endParaRPr lang="en-US" sz="1050" dirty="0"/>
          </a:p>
        </p:txBody>
      </p:sp>
      <p:sp>
        <p:nvSpPr>
          <p:cNvPr id="43" name="Shape 41"/>
          <p:cNvSpPr/>
          <p:nvPr/>
        </p:nvSpPr>
        <p:spPr>
          <a:xfrm>
            <a:off x="4663440" y="2743200"/>
            <a:ext cx="54864" cy="256032"/>
          </a:xfrm>
          <a:prstGeom prst="rect">
            <a:avLst/>
          </a:prstGeom>
          <a:solidFill>
            <a:srgbClr val="00D4FF"/>
          </a:solidFill>
          <a:ln w="12700">
            <a:solidFill>
              <a:srgbClr val="00D4FF"/>
            </a:solidFill>
            <a:prstDash val="solid"/>
          </a:ln>
        </p:spPr>
        <p:txBody>
          <a:bodyPr/>
          <a:lstStyle/>
          <a:p>
            <a:endParaRPr lang="en-GB"/>
          </a:p>
        </p:txBody>
      </p:sp>
      <p:sp>
        <p:nvSpPr>
          <p:cNvPr id="44" name="Text 42"/>
          <p:cNvSpPr/>
          <p:nvPr/>
        </p:nvSpPr>
        <p:spPr>
          <a:xfrm>
            <a:off x="4773168" y="274320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Submitting to email</a:t>
            </a:r>
            <a:endParaRPr lang="en-US" sz="1050" dirty="0"/>
          </a:p>
        </p:txBody>
      </p:sp>
      <p:sp>
        <p:nvSpPr>
          <p:cNvPr id="45" name="Text 43"/>
          <p:cNvSpPr/>
          <p:nvPr/>
        </p:nvSpPr>
        <p:spPr>
          <a:xfrm>
            <a:off x="4663440" y="3154680"/>
            <a:ext cx="4023360" cy="274320"/>
          </a:xfrm>
          <a:prstGeom prst="rect">
            <a:avLst/>
          </a:prstGeom>
          <a:noFill/>
          <a:ln/>
        </p:spPr>
        <p:txBody>
          <a:bodyPr wrap="square" lIns="0" tIns="0" rIns="0" bIns="0" rtlCol="0" anchor="ctr"/>
          <a:lstStyle/>
          <a:p>
            <a:pPr marL="0" indent="0">
              <a:buNone/>
            </a:pPr>
            <a:r>
              <a:rPr lang="en-US" sz="1100" b="1" dirty="0">
                <a:solidFill>
                  <a:srgbClr val="00D4FF"/>
                </a:solidFill>
                <a:latin typeface="Calibri" pitchFamily="34" charset="0"/>
                <a:ea typeface="Calibri" pitchFamily="34" charset="-122"/>
                <a:cs typeface="Calibri" pitchFamily="34" charset="-120"/>
              </a:rPr>
              <a:t>Domain-based Features</a:t>
            </a:r>
            <a:endParaRPr lang="en-US" sz="1100" dirty="0"/>
          </a:p>
        </p:txBody>
      </p:sp>
      <p:sp>
        <p:nvSpPr>
          <p:cNvPr id="46" name="Shape 44"/>
          <p:cNvSpPr/>
          <p:nvPr/>
        </p:nvSpPr>
        <p:spPr>
          <a:xfrm>
            <a:off x="4663440" y="3429000"/>
            <a:ext cx="54864" cy="256032"/>
          </a:xfrm>
          <a:prstGeom prst="rect">
            <a:avLst/>
          </a:prstGeom>
          <a:solidFill>
            <a:srgbClr val="00D4FF"/>
          </a:solidFill>
          <a:ln w="12700">
            <a:solidFill>
              <a:srgbClr val="00D4FF"/>
            </a:solidFill>
            <a:prstDash val="solid"/>
          </a:ln>
        </p:spPr>
        <p:txBody>
          <a:bodyPr/>
          <a:lstStyle/>
          <a:p>
            <a:endParaRPr lang="en-GB"/>
          </a:p>
        </p:txBody>
      </p:sp>
      <p:sp>
        <p:nvSpPr>
          <p:cNvPr id="47" name="Text 45"/>
          <p:cNvSpPr/>
          <p:nvPr/>
        </p:nvSpPr>
        <p:spPr>
          <a:xfrm>
            <a:off x="4773168" y="342900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Domain age</a:t>
            </a:r>
            <a:endParaRPr lang="en-US" sz="1050" dirty="0"/>
          </a:p>
        </p:txBody>
      </p:sp>
      <p:sp>
        <p:nvSpPr>
          <p:cNvPr id="48" name="Shape 46"/>
          <p:cNvSpPr/>
          <p:nvPr/>
        </p:nvSpPr>
        <p:spPr>
          <a:xfrm>
            <a:off x="4663440" y="3703320"/>
            <a:ext cx="54864" cy="256032"/>
          </a:xfrm>
          <a:prstGeom prst="rect">
            <a:avLst/>
          </a:prstGeom>
          <a:solidFill>
            <a:srgbClr val="00D4FF"/>
          </a:solidFill>
          <a:ln w="12700">
            <a:solidFill>
              <a:srgbClr val="00D4FF"/>
            </a:solidFill>
            <a:prstDash val="solid"/>
          </a:ln>
        </p:spPr>
        <p:txBody>
          <a:bodyPr/>
          <a:lstStyle/>
          <a:p>
            <a:endParaRPr lang="en-GB"/>
          </a:p>
        </p:txBody>
      </p:sp>
      <p:sp>
        <p:nvSpPr>
          <p:cNvPr id="49" name="Text 47"/>
          <p:cNvSpPr/>
          <p:nvPr/>
        </p:nvSpPr>
        <p:spPr>
          <a:xfrm>
            <a:off x="4773168" y="370332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Web traffic</a:t>
            </a:r>
            <a:endParaRPr lang="en-US" sz="1050" dirty="0"/>
          </a:p>
        </p:txBody>
      </p:sp>
      <p:sp>
        <p:nvSpPr>
          <p:cNvPr id="50" name="Shape 48"/>
          <p:cNvSpPr/>
          <p:nvPr/>
        </p:nvSpPr>
        <p:spPr>
          <a:xfrm>
            <a:off x="4663440" y="3977640"/>
            <a:ext cx="54864" cy="256032"/>
          </a:xfrm>
          <a:prstGeom prst="rect">
            <a:avLst/>
          </a:prstGeom>
          <a:solidFill>
            <a:srgbClr val="00D4FF"/>
          </a:solidFill>
          <a:ln w="12700">
            <a:solidFill>
              <a:srgbClr val="00D4FF"/>
            </a:solidFill>
            <a:prstDash val="solid"/>
          </a:ln>
        </p:spPr>
        <p:txBody>
          <a:bodyPr/>
          <a:lstStyle/>
          <a:p>
            <a:endParaRPr lang="en-GB"/>
          </a:p>
        </p:txBody>
      </p:sp>
      <p:sp>
        <p:nvSpPr>
          <p:cNvPr id="51" name="Text 49"/>
          <p:cNvSpPr/>
          <p:nvPr/>
        </p:nvSpPr>
        <p:spPr>
          <a:xfrm>
            <a:off x="4773168" y="397764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Google index</a:t>
            </a:r>
            <a:endParaRPr lang="en-US" sz="1050" dirty="0"/>
          </a:p>
        </p:txBody>
      </p:sp>
      <p:sp>
        <p:nvSpPr>
          <p:cNvPr id="52" name="Shape 50"/>
          <p:cNvSpPr/>
          <p:nvPr/>
        </p:nvSpPr>
        <p:spPr>
          <a:xfrm>
            <a:off x="4663440" y="4251960"/>
            <a:ext cx="54864" cy="256032"/>
          </a:xfrm>
          <a:prstGeom prst="rect">
            <a:avLst/>
          </a:prstGeom>
          <a:solidFill>
            <a:srgbClr val="00D4FF"/>
          </a:solidFill>
          <a:ln w="12700">
            <a:solidFill>
              <a:srgbClr val="00D4FF"/>
            </a:solidFill>
            <a:prstDash val="solid"/>
          </a:ln>
        </p:spPr>
        <p:txBody>
          <a:bodyPr/>
          <a:lstStyle/>
          <a:p>
            <a:endParaRPr lang="en-GB"/>
          </a:p>
        </p:txBody>
      </p:sp>
      <p:sp>
        <p:nvSpPr>
          <p:cNvPr id="53" name="Text 51"/>
          <p:cNvSpPr/>
          <p:nvPr/>
        </p:nvSpPr>
        <p:spPr>
          <a:xfrm>
            <a:off x="4773168" y="4251960"/>
            <a:ext cx="3886200" cy="256032"/>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DNS record status</a:t>
            </a:r>
            <a:endParaRPr lang="en-US" sz="1050" dirty="0"/>
          </a:p>
        </p:txBody>
      </p:sp>
      <p:sp>
        <p:nvSpPr>
          <p:cNvPr id="54" name="Shape 52"/>
          <p:cNvSpPr/>
          <p:nvPr/>
        </p:nvSpPr>
        <p:spPr>
          <a:xfrm>
            <a:off x="274320" y="4434840"/>
            <a:ext cx="8503920" cy="502920"/>
          </a:xfrm>
          <a:prstGeom prst="rect">
            <a:avLst/>
          </a:prstGeom>
          <a:solidFill>
            <a:srgbClr val="0C2A3A"/>
          </a:solidFill>
          <a:ln w="10160">
            <a:solidFill>
              <a:srgbClr val="00D4FF"/>
            </a:solidFill>
            <a:prstDash val="solid"/>
          </a:ln>
        </p:spPr>
        <p:txBody>
          <a:bodyPr/>
          <a:lstStyle/>
          <a:p>
            <a:endParaRPr lang="en-GB"/>
          </a:p>
        </p:txBody>
      </p:sp>
      <p:sp>
        <p:nvSpPr>
          <p:cNvPr id="55" name="Text 53"/>
          <p:cNvSpPr/>
          <p:nvPr/>
        </p:nvSpPr>
        <p:spPr>
          <a:xfrm>
            <a:off x="411480" y="4453128"/>
            <a:ext cx="8321040" cy="457200"/>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  Key Contribution: ELM achieves fast training (no iterative updates</a:t>
            </a:r>
            <a:r>
              <a:rPr lang="en-US" sz="1050">
                <a:solidFill>
                  <a:srgbClr val="FFFFFF"/>
                </a:solidFill>
                <a:latin typeface="Calibri" pitchFamily="34" charset="0"/>
                <a:ea typeface="Calibri" pitchFamily="34" charset="-122"/>
                <a:cs typeface="Calibri" pitchFamily="34" charset="-120"/>
              </a:rPr>
              <a:t>) , </a:t>
            </a:r>
            <a:r>
              <a:rPr lang="en-US" sz="1050" dirty="0">
                <a:solidFill>
                  <a:srgbClr val="FFFFFF"/>
                </a:solidFill>
                <a:latin typeface="Calibri" pitchFamily="34" charset="0"/>
                <a:ea typeface="Calibri" pitchFamily="34" charset="-122"/>
                <a:cs typeface="Calibri" pitchFamily="34" charset="-120"/>
              </a:rPr>
              <a:t>random input weights, analytically computed output weights. 30 features, real-time detection.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2C55E"/>
          </a:solidFill>
          <a:ln w="12700">
            <a:solidFill>
              <a:srgbClr val="22C55E"/>
            </a:solidFill>
            <a:prstDash val="solid"/>
          </a:ln>
        </p:spPr>
        <p:txBody>
          <a:bodyPr/>
          <a:lstStyle/>
          <a:p>
            <a:endParaRPr lang="en-GB"/>
          </a:p>
        </p:txBody>
      </p:sp>
      <p:sp>
        <p:nvSpPr>
          <p:cNvPr id="3" name="Text 1"/>
          <p:cNvSpPr/>
          <p:nvPr/>
        </p:nvSpPr>
        <p:spPr>
          <a:xfrm>
            <a:off x="274320" y="164592"/>
            <a:ext cx="1097280" cy="320040"/>
          </a:xfrm>
          <a:prstGeom prst="rect">
            <a:avLst/>
          </a:prstGeom>
          <a:solidFill>
            <a:srgbClr val="0A1F12"/>
          </a:solidFill>
          <a:ln/>
        </p:spPr>
        <p:txBody>
          <a:bodyPr wrap="square" lIns="25400" tIns="25400" rIns="25400" bIns="25400" rtlCol="0" anchor="ctr"/>
          <a:lstStyle/>
          <a:p>
            <a:pPr marL="0" indent="0" algn="ctr">
              <a:buNone/>
            </a:pPr>
            <a:r>
              <a:rPr lang="en-US" sz="1100" b="1" dirty="0">
                <a:solidFill>
                  <a:srgbClr val="22C55E"/>
                </a:solidFill>
                <a:latin typeface="Calibri" pitchFamily="34" charset="0"/>
                <a:ea typeface="Calibri" pitchFamily="34" charset="-122"/>
                <a:cs typeface="Calibri" pitchFamily="34" charset="-120"/>
              </a:rPr>
              <a:t>Paper 2</a:t>
            </a:r>
            <a:endParaRPr lang="en-US" sz="1100" dirty="0"/>
          </a:p>
        </p:txBody>
      </p:sp>
      <p:sp>
        <p:nvSpPr>
          <p:cNvPr id="4" name="Text 2"/>
          <p:cNvSpPr/>
          <p:nvPr/>
        </p:nvSpPr>
        <p:spPr>
          <a:xfrm>
            <a:off x="1463040" y="182880"/>
            <a:ext cx="74066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Machine Learning Algorithms for Detecting Phishing Websites</a:t>
            </a:r>
            <a:endParaRPr lang="en-US" sz="1400" dirty="0"/>
          </a:p>
        </p:txBody>
      </p:sp>
      <p:sp>
        <p:nvSpPr>
          <p:cNvPr id="5" name="Text 3"/>
          <p:cNvSpPr/>
          <p:nvPr/>
        </p:nvSpPr>
        <p:spPr>
          <a:xfrm>
            <a:off x="274320" y="548640"/>
            <a:ext cx="8595360" cy="274320"/>
          </a:xfrm>
          <a:prstGeom prst="rect">
            <a:avLst/>
          </a:prstGeom>
          <a:noFill/>
          <a:ln/>
        </p:spPr>
        <p:txBody>
          <a:bodyPr wrap="square" lIns="0" tIns="0" rIns="0" bIns="0" rtlCol="0" anchor="ctr"/>
          <a:lstStyle/>
          <a:p>
            <a:pPr marL="0" indent="0">
              <a:buNone/>
            </a:pPr>
            <a:r>
              <a:rPr lang="en-US" sz="1150" dirty="0">
                <a:solidFill>
                  <a:srgbClr val="22C55E"/>
                </a:solidFill>
                <a:latin typeface="Calibri" pitchFamily="34" charset="0"/>
                <a:ea typeface="Calibri" pitchFamily="34" charset="-122"/>
                <a:cs typeface="Calibri" pitchFamily="34" charset="-120"/>
              </a:rPr>
              <a:t>NLP + Domain Intelligence + AutoML — The Strongest Approach</a:t>
            </a:r>
            <a:endParaRPr lang="en-US" sz="1150" dirty="0"/>
          </a:p>
        </p:txBody>
      </p:sp>
      <p:sp>
        <p:nvSpPr>
          <p:cNvPr id="6" name="Shape 4"/>
          <p:cNvSpPr/>
          <p:nvPr/>
        </p:nvSpPr>
        <p:spPr>
          <a:xfrm>
            <a:off x="228600" y="1005840"/>
            <a:ext cx="2788920" cy="3794760"/>
          </a:xfrm>
          <a:prstGeom prst="rect">
            <a:avLst/>
          </a:prstGeom>
          <a:solidFill>
            <a:srgbClr val="091A25"/>
          </a:solidFill>
          <a:ln w="15240">
            <a:solidFill>
              <a:srgbClr val="00D4FF"/>
            </a:solidFill>
            <a:prstDash val="solid"/>
          </a:ln>
        </p:spPr>
        <p:txBody>
          <a:bodyPr/>
          <a:lstStyle/>
          <a:p>
            <a:endParaRPr lang="en-GB"/>
          </a:p>
        </p:txBody>
      </p:sp>
      <p:sp>
        <p:nvSpPr>
          <p:cNvPr id="7" name="Shape 5"/>
          <p:cNvSpPr/>
          <p:nvPr/>
        </p:nvSpPr>
        <p:spPr>
          <a:xfrm>
            <a:off x="228600" y="1005840"/>
            <a:ext cx="2788920" cy="502920"/>
          </a:xfrm>
          <a:prstGeom prst="rect">
            <a:avLst/>
          </a:prstGeom>
          <a:solidFill>
            <a:srgbClr val="00D4FF"/>
          </a:solidFill>
          <a:ln w="12700">
            <a:solidFill>
              <a:srgbClr val="00D4FF"/>
            </a:solidFill>
            <a:prstDash val="solid"/>
          </a:ln>
        </p:spPr>
        <p:txBody>
          <a:bodyPr/>
          <a:lstStyle/>
          <a:p>
            <a:endParaRPr lang="en-GB"/>
          </a:p>
        </p:txBody>
      </p:sp>
      <p:pic>
        <p:nvPicPr>
          <p:cNvPr id="8" name="Image 0" descr="preencoded.png"/>
          <p:cNvPicPr>
            <a:picLocks noChangeAspect="1"/>
          </p:cNvPicPr>
          <p:nvPr/>
        </p:nvPicPr>
        <p:blipFill>
          <a:blip r:embed="rId3"/>
          <a:stretch>
            <a:fillRect/>
          </a:stretch>
        </p:blipFill>
        <p:spPr>
          <a:xfrm>
            <a:off x="320040" y="1051560"/>
            <a:ext cx="365760" cy="365760"/>
          </a:xfrm>
          <a:prstGeom prst="rect">
            <a:avLst/>
          </a:prstGeom>
        </p:spPr>
      </p:pic>
      <p:sp>
        <p:nvSpPr>
          <p:cNvPr id="9" name="Text 6"/>
          <p:cNvSpPr/>
          <p:nvPr/>
        </p:nvSpPr>
        <p:spPr>
          <a:xfrm>
            <a:off x="731520" y="1051560"/>
            <a:ext cx="2194560" cy="365760"/>
          </a:xfrm>
          <a:prstGeom prst="rect">
            <a:avLst/>
          </a:prstGeom>
          <a:noFill/>
          <a:ln/>
        </p:spPr>
        <p:txBody>
          <a:bodyPr wrap="square" lIns="0" tIns="0" rIns="0" bIns="0" rtlCol="0" anchor="ctr"/>
          <a:lstStyle/>
          <a:p>
            <a:pPr marL="0" indent="0">
              <a:buNone/>
            </a:pPr>
            <a:r>
              <a:rPr lang="en-US" sz="1300" b="1" dirty="0">
                <a:solidFill>
                  <a:srgbClr val="0A0E1A"/>
                </a:solidFill>
                <a:latin typeface="Calibri" pitchFamily="34" charset="0"/>
                <a:ea typeface="Calibri" pitchFamily="34" charset="-122"/>
                <a:cs typeface="Calibri" pitchFamily="34" charset="-120"/>
              </a:rPr>
              <a:t>NLP Features</a:t>
            </a:r>
            <a:endParaRPr lang="en-US" sz="1300" dirty="0"/>
          </a:p>
        </p:txBody>
      </p:sp>
      <p:sp>
        <p:nvSpPr>
          <p:cNvPr id="10" name="Shape 7"/>
          <p:cNvSpPr/>
          <p:nvPr/>
        </p:nvSpPr>
        <p:spPr>
          <a:xfrm>
            <a:off x="338328" y="1627632"/>
            <a:ext cx="54864" cy="256032"/>
          </a:xfrm>
          <a:prstGeom prst="rect">
            <a:avLst/>
          </a:prstGeom>
          <a:solidFill>
            <a:srgbClr val="00D4FF"/>
          </a:solidFill>
          <a:ln w="12700">
            <a:solidFill>
              <a:srgbClr val="00D4FF"/>
            </a:solidFill>
            <a:prstDash val="solid"/>
          </a:ln>
        </p:spPr>
        <p:txBody>
          <a:bodyPr/>
          <a:lstStyle/>
          <a:p>
            <a:endParaRPr lang="en-GB"/>
          </a:p>
        </p:txBody>
      </p:sp>
      <p:sp>
        <p:nvSpPr>
          <p:cNvPr id="11" name="Text 8"/>
          <p:cNvSpPr/>
          <p:nvPr/>
        </p:nvSpPr>
        <p:spPr>
          <a:xfrm>
            <a:off x="457200" y="1627632"/>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Suspicious keywords detection</a:t>
            </a:r>
            <a:endParaRPr lang="en-US" sz="1000" dirty="0"/>
          </a:p>
        </p:txBody>
      </p:sp>
      <p:sp>
        <p:nvSpPr>
          <p:cNvPr id="12" name="Shape 9"/>
          <p:cNvSpPr/>
          <p:nvPr/>
        </p:nvSpPr>
        <p:spPr>
          <a:xfrm>
            <a:off x="338328" y="2203704"/>
            <a:ext cx="54864" cy="256032"/>
          </a:xfrm>
          <a:prstGeom prst="rect">
            <a:avLst/>
          </a:prstGeom>
          <a:solidFill>
            <a:srgbClr val="00D4FF"/>
          </a:solidFill>
          <a:ln w="12700">
            <a:solidFill>
              <a:srgbClr val="00D4FF"/>
            </a:solidFill>
            <a:prstDash val="solid"/>
          </a:ln>
        </p:spPr>
        <p:txBody>
          <a:bodyPr/>
          <a:lstStyle/>
          <a:p>
            <a:endParaRPr lang="en-GB"/>
          </a:p>
        </p:txBody>
      </p:sp>
      <p:sp>
        <p:nvSpPr>
          <p:cNvPr id="13" name="Text 10"/>
          <p:cNvSpPr/>
          <p:nvPr/>
        </p:nvSpPr>
        <p:spPr>
          <a:xfrm>
            <a:off x="457200" y="2203704"/>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"Urgent login now" patterns</a:t>
            </a:r>
            <a:endParaRPr lang="en-US" sz="1000" dirty="0"/>
          </a:p>
        </p:txBody>
      </p:sp>
      <p:sp>
        <p:nvSpPr>
          <p:cNvPr id="14" name="Shape 11"/>
          <p:cNvSpPr/>
          <p:nvPr/>
        </p:nvSpPr>
        <p:spPr>
          <a:xfrm>
            <a:off x="338328" y="2779776"/>
            <a:ext cx="54864" cy="256032"/>
          </a:xfrm>
          <a:prstGeom prst="rect">
            <a:avLst/>
          </a:prstGeom>
          <a:solidFill>
            <a:srgbClr val="00D4FF"/>
          </a:solidFill>
          <a:ln w="12700">
            <a:solidFill>
              <a:srgbClr val="00D4FF"/>
            </a:solidFill>
            <a:prstDash val="solid"/>
          </a:ln>
        </p:spPr>
        <p:txBody>
          <a:bodyPr/>
          <a:lstStyle/>
          <a:p>
            <a:endParaRPr lang="en-GB"/>
          </a:p>
        </p:txBody>
      </p:sp>
      <p:sp>
        <p:nvSpPr>
          <p:cNvPr id="15" name="Text 12"/>
          <p:cNvSpPr/>
          <p:nvPr/>
        </p:nvSpPr>
        <p:spPr>
          <a:xfrm>
            <a:off x="457200" y="2779776"/>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Spelling error analysis</a:t>
            </a:r>
            <a:endParaRPr lang="en-US" sz="1000" dirty="0"/>
          </a:p>
        </p:txBody>
      </p:sp>
      <p:sp>
        <p:nvSpPr>
          <p:cNvPr id="16" name="Shape 13"/>
          <p:cNvSpPr/>
          <p:nvPr/>
        </p:nvSpPr>
        <p:spPr>
          <a:xfrm>
            <a:off x="338328" y="3355848"/>
            <a:ext cx="54864" cy="256032"/>
          </a:xfrm>
          <a:prstGeom prst="rect">
            <a:avLst/>
          </a:prstGeom>
          <a:solidFill>
            <a:srgbClr val="00D4FF"/>
          </a:solidFill>
          <a:ln w="12700">
            <a:solidFill>
              <a:srgbClr val="00D4FF"/>
            </a:solidFill>
            <a:prstDash val="solid"/>
          </a:ln>
        </p:spPr>
        <p:txBody>
          <a:bodyPr/>
          <a:lstStyle/>
          <a:p>
            <a:endParaRPr lang="en-GB"/>
          </a:p>
        </p:txBody>
      </p:sp>
      <p:sp>
        <p:nvSpPr>
          <p:cNvPr id="17" name="Text 14"/>
          <p:cNvSpPr/>
          <p:nvPr/>
        </p:nvSpPr>
        <p:spPr>
          <a:xfrm>
            <a:off x="457200" y="3355848"/>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Weird/unusual language patterns</a:t>
            </a:r>
            <a:endParaRPr lang="en-US" sz="1000" dirty="0"/>
          </a:p>
        </p:txBody>
      </p:sp>
      <p:sp>
        <p:nvSpPr>
          <p:cNvPr id="18" name="Shape 15"/>
          <p:cNvSpPr/>
          <p:nvPr/>
        </p:nvSpPr>
        <p:spPr>
          <a:xfrm>
            <a:off x="338328" y="3931920"/>
            <a:ext cx="54864" cy="256032"/>
          </a:xfrm>
          <a:prstGeom prst="rect">
            <a:avLst/>
          </a:prstGeom>
          <a:solidFill>
            <a:srgbClr val="00D4FF"/>
          </a:solidFill>
          <a:ln w="12700">
            <a:solidFill>
              <a:srgbClr val="00D4FF"/>
            </a:solidFill>
            <a:prstDash val="solid"/>
          </a:ln>
        </p:spPr>
        <p:txBody>
          <a:bodyPr/>
          <a:lstStyle/>
          <a:p>
            <a:endParaRPr lang="en-GB"/>
          </a:p>
        </p:txBody>
      </p:sp>
      <p:sp>
        <p:nvSpPr>
          <p:cNvPr id="19" name="Text 16"/>
          <p:cNvSpPr/>
          <p:nvPr/>
        </p:nvSpPr>
        <p:spPr>
          <a:xfrm>
            <a:off x="457200" y="3931920"/>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Content semantics analysis</a:t>
            </a:r>
            <a:endParaRPr lang="en-US" sz="1000" dirty="0"/>
          </a:p>
        </p:txBody>
      </p:sp>
      <p:sp>
        <p:nvSpPr>
          <p:cNvPr id="20" name="Shape 17"/>
          <p:cNvSpPr/>
          <p:nvPr/>
        </p:nvSpPr>
        <p:spPr>
          <a:xfrm>
            <a:off x="3172968" y="1005840"/>
            <a:ext cx="2788920" cy="3794760"/>
          </a:xfrm>
          <a:prstGeom prst="rect">
            <a:avLst/>
          </a:prstGeom>
          <a:solidFill>
            <a:srgbClr val="1A1500"/>
          </a:solidFill>
          <a:ln w="15240">
            <a:solidFill>
              <a:srgbClr val="F59E0B"/>
            </a:solidFill>
            <a:prstDash val="solid"/>
          </a:ln>
        </p:spPr>
        <p:txBody>
          <a:bodyPr/>
          <a:lstStyle/>
          <a:p>
            <a:endParaRPr lang="en-GB"/>
          </a:p>
        </p:txBody>
      </p:sp>
      <p:sp>
        <p:nvSpPr>
          <p:cNvPr id="21" name="Shape 18"/>
          <p:cNvSpPr/>
          <p:nvPr/>
        </p:nvSpPr>
        <p:spPr>
          <a:xfrm>
            <a:off x="3172968" y="1005840"/>
            <a:ext cx="2788920" cy="502920"/>
          </a:xfrm>
          <a:prstGeom prst="rect">
            <a:avLst/>
          </a:prstGeom>
          <a:solidFill>
            <a:srgbClr val="F59E0B"/>
          </a:solidFill>
          <a:ln w="12700">
            <a:solidFill>
              <a:srgbClr val="F59E0B"/>
            </a:solidFill>
            <a:prstDash val="solid"/>
          </a:ln>
        </p:spPr>
        <p:txBody>
          <a:bodyPr/>
          <a:lstStyle/>
          <a:p>
            <a:endParaRPr lang="en-GB"/>
          </a:p>
        </p:txBody>
      </p:sp>
      <p:pic>
        <p:nvPicPr>
          <p:cNvPr id="22" name="Image 1" descr="preencoded.png"/>
          <p:cNvPicPr>
            <a:picLocks noChangeAspect="1"/>
          </p:cNvPicPr>
          <p:nvPr/>
        </p:nvPicPr>
        <p:blipFill>
          <a:blip r:embed="rId4"/>
          <a:stretch>
            <a:fillRect/>
          </a:stretch>
        </p:blipFill>
        <p:spPr>
          <a:xfrm>
            <a:off x="3264408" y="1051560"/>
            <a:ext cx="365760" cy="365760"/>
          </a:xfrm>
          <a:prstGeom prst="rect">
            <a:avLst/>
          </a:prstGeom>
        </p:spPr>
      </p:pic>
      <p:sp>
        <p:nvSpPr>
          <p:cNvPr id="23" name="Text 19"/>
          <p:cNvSpPr/>
          <p:nvPr/>
        </p:nvSpPr>
        <p:spPr>
          <a:xfrm>
            <a:off x="3675888" y="1051560"/>
            <a:ext cx="2194560" cy="365760"/>
          </a:xfrm>
          <a:prstGeom prst="rect">
            <a:avLst/>
          </a:prstGeom>
          <a:noFill/>
          <a:ln/>
        </p:spPr>
        <p:txBody>
          <a:bodyPr wrap="square" lIns="0" tIns="0" rIns="0" bIns="0" rtlCol="0" anchor="ctr"/>
          <a:lstStyle/>
          <a:p>
            <a:pPr marL="0" indent="0">
              <a:buNone/>
            </a:pPr>
            <a:r>
              <a:rPr lang="en-US" sz="1300" b="1" dirty="0">
                <a:solidFill>
                  <a:srgbClr val="0A0E1A"/>
                </a:solidFill>
                <a:latin typeface="Calibri" pitchFamily="34" charset="0"/>
                <a:ea typeface="Calibri" pitchFamily="34" charset="-122"/>
                <a:cs typeface="Calibri" pitchFamily="34" charset="-120"/>
              </a:rPr>
              <a:t>Domain Features</a:t>
            </a:r>
            <a:endParaRPr lang="en-US" sz="1300" dirty="0"/>
          </a:p>
        </p:txBody>
      </p:sp>
      <p:sp>
        <p:nvSpPr>
          <p:cNvPr id="24" name="Shape 20"/>
          <p:cNvSpPr/>
          <p:nvPr/>
        </p:nvSpPr>
        <p:spPr>
          <a:xfrm>
            <a:off x="3282696" y="1627632"/>
            <a:ext cx="54864" cy="256032"/>
          </a:xfrm>
          <a:prstGeom prst="rect">
            <a:avLst/>
          </a:prstGeom>
          <a:solidFill>
            <a:srgbClr val="F59E0B"/>
          </a:solidFill>
          <a:ln w="12700">
            <a:solidFill>
              <a:srgbClr val="F59E0B"/>
            </a:solidFill>
            <a:prstDash val="solid"/>
          </a:ln>
        </p:spPr>
        <p:txBody>
          <a:bodyPr/>
          <a:lstStyle/>
          <a:p>
            <a:endParaRPr lang="en-GB"/>
          </a:p>
        </p:txBody>
      </p:sp>
      <p:sp>
        <p:nvSpPr>
          <p:cNvPr id="25" name="Text 21"/>
          <p:cNvSpPr/>
          <p:nvPr/>
        </p:nvSpPr>
        <p:spPr>
          <a:xfrm>
            <a:off x="3401568" y="1627632"/>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Python-WHOIS queries</a:t>
            </a:r>
            <a:endParaRPr lang="en-US" sz="1000" dirty="0"/>
          </a:p>
        </p:txBody>
      </p:sp>
      <p:sp>
        <p:nvSpPr>
          <p:cNvPr id="26" name="Shape 22"/>
          <p:cNvSpPr/>
          <p:nvPr/>
        </p:nvSpPr>
        <p:spPr>
          <a:xfrm>
            <a:off x="3282696" y="2203704"/>
            <a:ext cx="54864" cy="256032"/>
          </a:xfrm>
          <a:prstGeom prst="rect">
            <a:avLst/>
          </a:prstGeom>
          <a:solidFill>
            <a:srgbClr val="F59E0B"/>
          </a:solidFill>
          <a:ln w="12700">
            <a:solidFill>
              <a:srgbClr val="F59E0B"/>
            </a:solidFill>
            <a:prstDash val="solid"/>
          </a:ln>
        </p:spPr>
        <p:txBody>
          <a:bodyPr/>
          <a:lstStyle/>
          <a:p>
            <a:endParaRPr lang="en-GB"/>
          </a:p>
        </p:txBody>
      </p:sp>
      <p:sp>
        <p:nvSpPr>
          <p:cNvPr id="27" name="Text 23"/>
          <p:cNvSpPr/>
          <p:nvPr/>
        </p:nvSpPr>
        <p:spPr>
          <a:xfrm>
            <a:off x="3401568" y="2203704"/>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DNS record inspection</a:t>
            </a:r>
            <a:endParaRPr lang="en-US" sz="1000" dirty="0"/>
          </a:p>
        </p:txBody>
      </p:sp>
      <p:sp>
        <p:nvSpPr>
          <p:cNvPr id="28" name="Shape 24"/>
          <p:cNvSpPr/>
          <p:nvPr/>
        </p:nvSpPr>
        <p:spPr>
          <a:xfrm>
            <a:off x="3282696" y="2779776"/>
            <a:ext cx="54864" cy="256032"/>
          </a:xfrm>
          <a:prstGeom prst="rect">
            <a:avLst/>
          </a:prstGeom>
          <a:solidFill>
            <a:srgbClr val="F59E0B"/>
          </a:solidFill>
          <a:ln w="12700">
            <a:solidFill>
              <a:srgbClr val="F59E0B"/>
            </a:solidFill>
            <a:prstDash val="solid"/>
          </a:ln>
        </p:spPr>
        <p:txBody>
          <a:bodyPr/>
          <a:lstStyle/>
          <a:p>
            <a:endParaRPr lang="en-GB"/>
          </a:p>
        </p:txBody>
      </p:sp>
      <p:sp>
        <p:nvSpPr>
          <p:cNvPr id="29" name="Text 25"/>
          <p:cNvSpPr/>
          <p:nvPr/>
        </p:nvSpPr>
        <p:spPr>
          <a:xfrm>
            <a:off x="3401568" y="2779776"/>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Domain registration age</a:t>
            </a:r>
            <a:endParaRPr lang="en-US" sz="1000" dirty="0"/>
          </a:p>
        </p:txBody>
      </p:sp>
      <p:sp>
        <p:nvSpPr>
          <p:cNvPr id="30" name="Shape 26"/>
          <p:cNvSpPr/>
          <p:nvPr/>
        </p:nvSpPr>
        <p:spPr>
          <a:xfrm>
            <a:off x="3282696" y="3355848"/>
            <a:ext cx="54864" cy="256032"/>
          </a:xfrm>
          <a:prstGeom prst="rect">
            <a:avLst/>
          </a:prstGeom>
          <a:solidFill>
            <a:srgbClr val="F59E0B"/>
          </a:solidFill>
          <a:ln w="12700">
            <a:solidFill>
              <a:srgbClr val="F59E0B"/>
            </a:solidFill>
            <a:prstDash val="solid"/>
          </a:ln>
        </p:spPr>
        <p:txBody>
          <a:bodyPr/>
          <a:lstStyle/>
          <a:p>
            <a:endParaRPr lang="en-GB"/>
          </a:p>
        </p:txBody>
      </p:sp>
      <p:sp>
        <p:nvSpPr>
          <p:cNvPr id="31" name="Text 27"/>
          <p:cNvSpPr/>
          <p:nvPr/>
        </p:nvSpPr>
        <p:spPr>
          <a:xfrm>
            <a:off x="3401568" y="3355848"/>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Short lifetime detection</a:t>
            </a:r>
            <a:endParaRPr lang="en-US" sz="1000" dirty="0"/>
          </a:p>
        </p:txBody>
      </p:sp>
      <p:sp>
        <p:nvSpPr>
          <p:cNvPr id="32" name="Shape 28"/>
          <p:cNvSpPr/>
          <p:nvPr/>
        </p:nvSpPr>
        <p:spPr>
          <a:xfrm>
            <a:off x="3282696" y="3931920"/>
            <a:ext cx="54864" cy="256032"/>
          </a:xfrm>
          <a:prstGeom prst="rect">
            <a:avLst/>
          </a:prstGeom>
          <a:solidFill>
            <a:srgbClr val="F59E0B"/>
          </a:solidFill>
          <a:ln w="12700">
            <a:solidFill>
              <a:srgbClr val="F59E0B"/>
            </a:solidFill>
            <a:prstDash val="solid"/>
          </a:ln>
        </p:spPr>
        <p:txBody>
          <a:bodyPr/>
          <a:lstStyle/>
          <a:p>
            <a:endParaRPr lang="en-GB"/>
          </a:p>
        </p:txBody>
      </p:sp>
      <p:sp>
        <p:nvSpPr>
          <p:cNvPr id="33" name="Text 29"/>
          <p:cNvSpPr/>
          <p:nvPr/>
        </p:nvSpPr>
        <p:spPr>
          <a:xfrm>
            <a:off x="3401568" y="3931920"/>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Suspicious registrar info</a:t>
            </a:r>
            <a:endParaRPr lang="en-US" sz="1000" dirty="0"/>
          </a:p>
        </p:txBody>
      </p:sp>
      <p:sp>
        <p:nvSpPr>
          <p:cNvPr id="34" name="Shape 30"/>
          <p:cNvSpPr/>
          <p:nvPr/>
        </p:nvSpPr>
        <p:spPr>
          <a:xfrm>
            <a:off x="6117336" y="1005840"/>
            <a:ext cx="2788920" cy="3794760"/>
          </a:xfrm>
          <a:prstGeom prst="rect">
            <a:avLst/>
          </a:prstGeom>
          <a:solidFill>
            <a:srgbClr val="0A1F12"/>
          </a:solidFill>
          <a:ln w="15240">
            <a:solidFill>
              <a:srgbClr val="22C55E"/>
            </a:solidFill>
            <a:prstDash val="solid"/>
          </a:ln>
        </p:spPr>
        <p:txBody>
          <a:bodyPr/>
          <a:lstStyle/>
          <a:p>
            <a:endParaRPr lang="en-GB"/>
          </a:p>
        </p:txBody>
      </p:sp>
      <p:sp>
        <p:nvSpPr>
          <p:cNvPr id="35" name="Shape 31"/>
          <p:cNvSpPr/>
          <p:nvPr/>
        </p:nvSpPr>
        <p:spPr>
          <a:xfrm>
            <a:off x="6117336" y="1005840"/>
            <a:ext cx="2788920" cy="502920"/>
          </a:xfrm>
          <a:prstGeom prst="rect">
            <a:avLst/>
          </a:prstGeom>
          <a:solidFill>
            <a:srgbClr val="22C55E"/>
          </a:solidFill>
          <a:ln w="12700">
            <a:solidFill>
              <a:srgbClr val="22C55E"/>
            </a:solidFill>
            <a:prstDash val="solid"/>
          </a:ln>
        </p:spPr>
        <p:txBody>
          <a:bodyPr/>
          <a:lstStyle/>
          <a:p>
            <a:endParaRPr lang="en-GB"/>
          </a:p>
        </p:txBody>
      </p:sp>
      <p:pic>
        <p:nvPicPr>
          <p:cNvPr id="36" name="Image 2" descr="preencoded.png"/>
          <p:cNvPicPr>
            <a:picLocks noChangeAspect="1"/>
          </p:cNvPicPr>
          <p:nvPr/>
        </p:nvPicPr>
        <p:blipFill>
          <a:blip r:embed="rId5"/>
          <a:stretch>
            <a:fillRect/>
          </a:stretch>
        </p:blipFill>
        <p:spPr>
          <a:xfrm>
            <a:off x="6208776" y="1051560"/>
            <a:ext cx="365760" cy="365760"/>
          </a:xfrm>
          <a:prstGeom prst="rect">
            <a:avLst/>
          </a:prstGeom>
        </p:spPr>
      </p:pic>
      <p:sp>
        <p:nvSpPr>
          <p:cNvPr id="37" name="Text 32"/>
          <p:cNvSpPr/>
          <p:nvPr/>
        </p:nvSpPr>
        <p:spPr>
          <a:xfrm>
            <a:off x="6620256" y="1051560"/>
            <a:ext cx="2194560" cy="365760"/>
          </a:xfrm>
          <a:prstGeom prst="rect">
            <a:avLst/>
          </a:prstGeom>
          <a:noFill/>
          <a:ln/>
        </p:spPr>
        <p:txBody>
          <a:bodyPr wrap="square" lIns="0" tIns="0" rIns="0" bIns="0" rtlCol="0" anchor="ctr"/>
          <a:lstStyle/>
          <a:p>
            <a:pPr marL="0" indent="0">
              <a:buNone/>
            </a:pPr>
            <a:r>
              <a:rPr lang="en-US" sz="1300" b="1" dirty="0">
                <a:solidFill>
                  <a:srgbClr val="0A0E1A"/>
                </a:solidFill>
                <a:latin typeface="Calibri" pitchFamily="34" charset="0"/>
                <a:ea typeface="Calibri" pitchFamily="34" charset="-122"/>
                <a:cs typeface="Calibri" pitchFamily="34" charset="-120"/>
              </a:rPr>
              <a:t>AutoML</a:t>
            </a:r>
            <a:endParaRPr lang="en-US" sz="1300" dirty="0"/>
          </a:p>
        </p:txBody>
      </p:sp>
      <p:sp>
        <p:nvSpPr>
          <p:cNvPr id="38" name="Shape 33"/>
          <p:cNvSpPr/>
          <p:nvPr/>
        </p:nvSpPr>
        <p:spPr>
          <a:xfrm>
            <a:off x="6227064" y="1627632"/>
            <a:ext cx="54864" cy="256032"/>
          </a:xfrm>
          <a:prstGeom prst="rect">
            <a:avLst/>
          </a:prstGeom>
          <a:solidFill>
            <a:srgbClr val="22C55E"/>
          </a:solidFill>
          <a:ln w="12700">
            <a:solidFill>
              <a:srgbClr val="22C55E"/>
            </a:solidFill>
            <a:prstDash val="solid"/>
          </a:ln>
        </p:spPr>
        <p:txBody>
          <a:bodyPr/>
          <a:lstStyle/>
          <a:p>
            <a:endParaRPr lang="en-GB"/>
          </a:p>
        </p:txBody>
      </p:sp>
      <p:sp>
        <p:nvSpPr>
          <p:cNvPr id="39" name="Text 34"/>
          <p:cNvSpPr/>
          <p:nvPr/>
        </p:nvSpPr>
        <p:spPr>
          <a:xfrm>
            <a:off x="6345936" y="1627632"/>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Auto model selection</a:t>
            </a:r>
            <a:endParaRPr lang="en-US" sz="1000" dirty="0"/>
          </a:p>
        </p:txBody>
      </p:sp>
      <p:sp>
        <p:nvSpPr>
          <p:cNvPr id="40" name="Shape 35"/>
          <p:cNvSpPr/>
          <p:nvPr/>
        </p:nvSpPr>
        <p:spPr>
          <a:xfrm>
            <a:off x="6227064" y="2203704"/>
            <a:ext cx="54864" cy="256032"/>
          </a:xfrm>
          <a:prstGeom prst="rect">
            <a:avLst/>
          </a:prstGeom>
          <a:solidFill>
            <a:srgbClr val="22C55E"/>
          </a:solidFill>
          <a:ln w="12700">
            <a:solidFill>
              <a:srgbClr val="22C55E"/>
            </a:solidFill>
            <a:prstDash val="solid"/>
          </a:ln>
        </p:spPr>
        <p:txBody>
          <a:bodyPr/>
          <a:lstStyle/>
          <a:p>
            <a:endParaRPr lang="en-GB"/>
          </a:p>
        </p:txBody>
      </p:sp>
      <p:sp>
        <p:nvSpPr>
          <p:cNvPr id="41" name="Text 36"/>
          <p:cNvSpPr/>
          <p:nvPr/>
        </p:nvSpPr>
        <p:spPr>
          <a:xfrm>
            <a:off x="6345936" y="2203704"/>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Tests RF, Gradient Boost,</a:t>
            </a:r>
            <a:endParaRPr lang="en-US" sz="1000" dirty="0"/>
          </a:p>
          <a:p>
            <a:pPr marL="0" indent="0">
              <a:buNone/>
            </a:pPr>
            <a:r>
              <a:rPr lang="en-US" sz="1000" dirty="0">
                <a:solidFill>
                  <a:srgbClr val="FFFFFF"/>
                </a:solidFill>
                <a:latin typeface="Calibri" pitchFamily="34" charset="0"/>
                <a:ea typeface="Calibri" pitchFamily="34" charset="-122"/>
                <a:cs typeface="Calibri" pitchFamily="34" charset="-120"/>
              </a:rPr>
              <a:t>Decision Tree, SVM</a:t>
            </a:r>
            <a:endParaRPr lang="en-US" sz="1000" dirty="0"/>
          </a:p>
        </p:txBody>
      </p:sp>
      <p:sp>
        <p:nvSpPr>
          <p:cNvPr id="42" name="Shape 37"/>
          <p:cNvSpPr/>
          <p:nvPr/>
        </p:nvSpPr>
        <p:spPr>
          <a:xfrm>
            <a:off x="6227064" y="2779776"/>
            <a:ext cx="54864" cy="256032"/>
          </a:xfrm>
          <a:prstGeom prst="rect">
            <a:avLst/>
          </a:prstGeom>
          <a:solidFill>
            <a:srgbClr val="22C55E"/>
          </a:solidFill>
          <a:ln w="12700">
            <a:solidFill>
              <a:srgbClr val="22C55E"/>
            </a:solidFill>
            <a:prstDash val="solid"/>
          </a:ln>
        </p:spPr>
        <p:txBody>
          <a:bodyPr/>
          <a:lstStyle/>
          <a:p>
            <a:endParaRPr lang="en-GB"/>
          </a:p>
        </p:txBody>
      </p:sp>
      <p:sp>
        <p:nvSpPr>
          <p:cNvPr id="43" name="Text 38"/>
          <p:cNvSpPr/>
          <p:nvPr/>
        </p:nvSpPr>
        <p:spPr>
          <a:xfrm>
            <a:off x="6345936" y="2779776"/>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Chooses best automatically</a:t>
            </a:r>
            <a:endParaRPr lang="en-US" sz="1000" dirty="0"/>
          </a:p>
        </p:txBody>
      </p:sp>
      <p:sp>
        <p:nvSpPr>
          <p:cNvPr id="44" name="Shape 39"/>
          <p:cNvSpPr/>
          <p:nvPr/>
        </p:nvSpPr>
        <p:spPr>
          <a:xfrm>
            <a:off x="6227064" y="3355848"/>
            <a:ext cx="54864" cy="256032"/>
          </a:xfrm>
          <a:prstGeom prst="rect">
            <a:avLst/>
          </a:prstGeom>
          <a:solidFill>
            <a:srgbClr val="22C55E"/>
          </a:solidFill>
          <a:ln w="12700">
            <a:solidFill>
              <a:srgbClr val="22C55E"/>
            </a:solidFill>
            <a:prstDash val="solid"/>
          </a:ln>
        </p:spPr>
        <p:txBody>
          <a:bodyPr/>
          <a:lstStyle/>
          <a:p>
            <a:endParaRPr lang="en-GB"/>
          </a:p>
        </p:txBody>
      </p:sp>
      <p:sp>
        <p:nvSpPr>
          <p:cNvPr id="45" name="Text 40"/>
          <p:cNvSpPr/>
          <p:nvPr/>
        </p:nvSpPr>
        <p:spPr>
          <a:xfrm>
            <a:off x="6345936" y="3355848"/>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No manual trial needed</a:t>
            </a:r>
            <a:endParaRPr lang="en-US" sz="1000" dirty="0"/>
          </a:p>
        </p:txBody>
      </p:sp>
      <p:sp>
        <p:nvSpPr>
          <p:cNvPr id="46" name="Shape 41"/>
          <p:cNvSpPr/>
          <p:nvPr/>
        </p:nvSpPr>
        <p:spPr>
          <a:xfrm>
            <a:off x="6227064" y="3931920"/>
            <a:ext cx="54864" cy="256032"/>
          </a:xfrm>
          <a:prstGeom prst="rect">
            <a:avLst/>
          </a:prstGeom>
          <a:solidFill>
            <a:srgbClr val="22C55E"/>
          </a:solidFill>
          <a:ln w="12700">
            <a:solidFill>
              <a:srgbClr val="22C55E"/>
            </a:solidFill>
            <a:prstDash val="solid"/>
          </a:ln>
        </p:spPr>
        <p:txBody>
          <a:bodyPr/>
          <a:lstStyle/>
          <a:p>
            <a:endParaRPr lang="en-GB"/>
          </a:p>
        </p:txBody>
      </p:sp>
      <p:sp>
        <p:nvSpPr>
          <p:cNvPr id="47" name="Text 42"/>
          <p:cNvSpPr/>
          <p:nvPr/>
        </p:nvSpPr>
        <p:spPr>
          <a:xfrm>
            <a:off x="6345936" y="3931920"/>
            <a:ext cx="246888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Optimal result: 95.8% acc.</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E1A"/>
        </a:solidFill>
        <a:effectLst/>
      </p:bgPr>
    </p:bg>
    <p:spTree>
      <p:nvGrpSpPr>
        <p:cNvPr id="1" name="">
          <a:extLst>
            <a:ext uri="{FF2B5EF4-FFF2-40B4-BE49-F238E27FC236}">
              <a16:creationId xmlns:a16="http://schemas.microsoft.com/office/drawing/2014/main" id="{7AA6F81C-B043-66B4-7795-7D5B8AA7B3A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AD15F97-29E7-C807-8A1D-70EB701D405D}"/>
              </a:ext>
            </a:extLst>
          </p:cNvPr>
          <p:cNvSpPr/>
          <p:nvPr/>
        </p:nvSpPr>
        <p:spPr>
          <a:xfrm>
            <a:off x="0" y="0"/>
            <a:ext cx="54864" cy="5143500"/>
          </a:xfrm>
          <a:prstGeom prst="rect">
            <a:avLst/>
          </a:prstGeom>
          <a:solidFill>
            <a:srgbClr val="22C55E"/>
          </a:solidFill>
          <a:ln w="12700">
            <a:solidFill>
              <a:srgbClr val="22C55E"/>
            </a:solidFill>
            <a:prstDash val="solid"/>
          </a:ln>
        </p:spPr>
        <p:txBody>
          <a:bodyPr/>
          <a:lstStyle/>
          <a:p>
            <a:endParaRPr lang="en-GB"/>
          </a:p>
        </p:txBody>
      </p:sp>
      <p:sp>
        <p:nvSpPr>
          <p:cNvPr id="3" name="Text 1">
            <a:extLst>
              <a:ext uri="{FF2B5EF4-FFF2-40B4-BE49-F238E27FC236}">
                <a16:creationId xmlns:a16="http://schemas.microsoft.com/office/drawing/2014/main" id="{E7E98E3B-D11A-8AAC-5094-F33DE0552748}"/>
              </a:ext>
            </a:extLst>
          </p:cNvPr>
          <p:cNvSpPr/>
          <p:nvPr/>
        </p:nvSpPr>
        <p:spPr>
          <a:xfrm>
            <a:off x="274320" y="164592"/>
            <a:ext cx="1097280" cy="320040"/>
          </a:xfrm>
          <a:prstGeom prst="rect">
            <a:avLst/>
          </a:prstGeom>
          <a:solidFill>
            <a:srgbClr val="0A1F12"/>
          </a:solidFill>
          <a:ln/>
        </p:spPr>
        <p:txBody>
          <a:bodyPr wrap="square" lIns="25400" tIns="25400" rIns="25400" bIns="25400" rtlCol="0" anchor="ctr"/>
          <a:lstStyle/>
          <a:p>
            <a:pPr marL="0" indent="0" algn="ctr">
              <a:buNone/>
            </a:pPr>
            <a:r>
              <a:rPr lang="en-US" sz="1100" b="1" dirty="0">
                <a:solidFill>
                  <a:srgbClr val="22C55E"/>
                </a:solidFill>
                <a:latin typeface="Calibri" pitchFamily="34" charset="0"/>
                <a:ea typeface="Calibri" pitchFamily="34" charset="-122"/>
                <a:cs typeface="Calibri" pitchFamily="34" charset="-120"/>
              </a:rPr>
              <a:t>Paper 2</a:t>
            </a:r>
            <a:endParaRPr lang="en-US" sz="1100" dirty="0"/>
          </a:p>
        </p:txBody>
      </p:sp>
      <p:sp>
        <p:nvSpPr>
          <p:cNvPr id="4" name="Text 2">
            <a:extLst>
              <a:ext uri="{FF2B5EF4-FFF2-40B4-BE49-F238E27FC236}">
                <a16:creationId xmlns:a16="http://schemas.microsoft.com/office/drawing/2014/main" id="{10305702-DE05-DEF2-7FA1-DB430FBFE725}"/>
              </a:ext>
            </a:extLst>
          </p:cNvPr>
          <p:cNvSpPr/>
          <p:nvPr/>
        </p:nvSpPr>
        <p:spPr>
          <a:xfrm>
            <a:off x="1463040" y="182880"/>
            <a:ext cx="74066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Machine Learning Algorithms for Detecting Phishing Websites  </a:t>
            </a:r>
          </a:p>
          <a:p>
            <a:pPr marL="0" indent="0">
              <a:buNone/>
            </a:pPr>
            <a:r>
              <a:rPr lang="en-US" sz="1400" b="1" dirty="0">
                <a:solidFill>
                  <a:srgbClr val="FFFFFF"/>
                </a:solidFill>
                <a:latin typeface="Calibri" pitchFamily="34" charset="0"/>
                <a:ea typeface="Calibri" pitchFamily="34" charset="-122"/>
                <a:cs typeface="Calibri" pitchFamily="34" charset="-120"/>
              </a:rPr>
              <a:t>Full Pipeline of proposed solution</a:t>
            </a:r>
            <a:endParaRPr lang="en-US" sz="1400" dirty="0"/>
          </a:p>
        </p:txBody>
      </p:sp>
      <p:sp>
        <p:nvSpPr>
          <p:cNvPr id="9" name="Text 6">
            <a:extLst>
              <a:ext uri="{FF2B5EF4-FFF2-40B4-BE49-F238E27FC236}">
                <a16:creationId xmlns:a16="http://schemas.microsoft.com/office/drawing/2014/main" id="{AB41D6F1-FF80-69D6-0119-EE0A361C23B9}"/>
              </a:ext>
            </a:extLst>
          </p:cNvPr>
          <p:cNvSpPr/>
          <p:nvPr/>
        </p:nvSpPr>
        <p:spPr>
          <a:xfrm>
            <a:off x="731520" y="1051560"/>
            <a:ext cx="2194560" cy="365760"/>
          </a:xfrm>
          <a:prstGeom prst="rect">
            <a:avLst/>
          </a:prstGeom>
          <a:noFill/>
          <a:ln/>
        </p:spPr>
        <p:txBody>
          <a:bodyPr wrap="square" lIns="0" tIns="0" rIns="0" bIns="0" rtlCol="0" anchor="ctr"/>
          <a:lstStyle/>
          <a:p>
            <a:pPr marL="0" indent="0">
              <a:buNone/>
            </a:pPr>
            <a:r>
              <a:rPr lang="en-US" sz="1300" b="1" dirty="0">
                <a:solidFill>
                  <a:srgbClr val="0A0E1A"/>
                </a:solidFill>
                <a:latin typeface="Calibri" pitchFamily="34" charset="0"/>
                <a:ea typeface="Calibri" pitchFamily="34" charset="-122"/>
                <a:cs typeface="Calibri" pitchFamily="34" charset="-120"/>
              </a:rPr>
              <a:t>NLP Features</a:t>
            </a:r>
            <a:endParaRPr lang="en-US" sz="1300" dirty="0"/>
          </a:p>
        </p:txBody>
      </p:sp>
      <p:pic>
        <p:nvPicPr>
          <p:cNvPr id="51" name="Picture 50">
            <a:extLst>
              <a:ext uri="{FF2B5EF4-FFF2-40B4-BE49-F238E27FC236}">
                <a16:creationId xmlns:a16="http://schemas.microsoft.com/office/drawing/2014/main" id="{3CA1C1F6-7197-129E-17BE-3908E73A2E9C}"/>
              </a:ext>
            </a:extLst>
          </p:cNvPr>
          <p:cNvPicPr>
            <a:picLocks noChangeAspect="1"/>
          </p:cNvPicPr>
          <p:nvPr/>
        </p:nvPicPr>
        <p:blipFill>
          <a:blip r:embed="rId3"/>
          <a:stretch>
            <a:fillRect/>
          </a:stretch>
        </p:blipFill>
        <p:spPr>
          <a:xfrm>
            <a:off x="3358752" y="581523"/>
            <a:ext cx="2859170" cy="3488187"/>
          </a:xfrm>
          <a:prstGeom prst="rect">
            <a:avLst/>
          </a:prstGeom>
        </p:spPr>
      </p:pic>
      <p:sp>
        <p:nvSpPr>
          <p:cNvPr id="53" name="TextBox 52">
            <a:extLst>
              <a:ext uri="{FF2B5EF4-FFF2-40B4-BE49-F238E27FC236}">
                <a16:creationId xmlns:a16="http://schemas.microsoft.com/office/drawing/2014/main" id="{AAAC4B7E-4491-5548-EB69-93235454E5EC}"/>
              </a:ext>
            </a:extLst>
          </p:cNvPr>
          <p:cNvSpPr txBox="1"/>
          <p:nvPr/>
        </p:nvSpPr>
        <p:spPr>
          <a:xfrm>
            <a:off x="731520" y="4148313"/>
            <a:ext cx="8322055" cy="738664"/>
          </a:xfrm>
          <a:prstGeom prst="rect">
            <a:avLst/>
          </a:prstGeom>
          <a:noFill/>
        </p:spPr>
        <p:txBody>
          <a:bodyPr wrap="square">
            <a:spAutoFit/>
          </a:bodyPr>
          <a:lstStyle/>
          <a:p>
            <a:r>
              <a:rPr lang="en-GB" sz="1400" dirty="0">
                <a:solidFill>
                  <a:schemeClr val="bg1"/>
                </a:solidFill>
              </a:rPr>
              <a:t>The system collects data, extracts NLP and domain features, and then uses AutoML to select and train the best model for phishing detection.  The system collects data, extracts NLP and domain features, and then uses AutoML to select and train the best model for phishing detection</a:t>
            </a:r>
          </a:p>
        </p:txBody>
      </p:sp>
    </p:spTree>
    <p:extLst>
      <p:ext uri="{BB962C8B-B14F-4D97-AF65-F5344CB8AC3E}">
        <p14:creationId xmlns:p14="http://schemas.microsoft.com/office/powerpoint/2010/main" val="2042708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59E0B"/>
          </a:solidFill>
          <a:ln w="12700">
            <a:solidFill>
              <a:srgbClr val="F59E0B"/>
            </a:solidFill>
            <a:prstDash val="solid"/>
          </a:ln>
        </p:spPr>
        <p:txBody>
          <a:bodyPr/>
          <a:lstStyle/>
          <a:p>
            <a:endParaRPr lang="en-GB"/>
          </a:p>
        </p:txBody>
      </p:sp>
      <p:sp>
        <p:nvSpPr>
          <p:cNvPr id="3" name="Text 1"/>
          <p:cNvSpPr/>
          <p:nvPr/>
        </p:nvSpPr>
        <p:spPr>
          <a:xfrm>
            <a:off x="274320" y="164592"/>
            <a:ext cx="1097280" cy="320040"/>
          </a:xfrm>
          <a:prstGeom prst="rect">
            <a:avLst/>
          </a:prstGeom>
          <a:solidFill>
            <a:srgbClr val="1A1500"/>
          </a:solidFill>
          <a:ln/>
        </p:spPr>
        <p:txBody>
          <a:bodyPr wrap="square" lIns="25400" tIns="25400" rIns="25400" bIns="25400" rtlCol="0" anchor="ctr"/>
          <a:lstStyle/>
          <a:p>
            <a:pPr marL="0" indent="0" algn="ctr">
              <a:buNone/>
            </a:pPr>
            <a:r>
              <a:rPr lang="en-US" sz="1100" b="1" dirty="0">
                <a:solidFill>
                  <a:srgbClr val="F59E0B"/>
                </a:solidFill>
                <a:latin typeface="Calibri" pitchFamily="34" charset="0"/>
                <a:ea typeface="Calibri" pitchFamily="34" charset="-122"/>
                <a:cs typeface="Calibri" pitchFamily="34" charset="-120"/>
              </a:rPr>
              <a:t>Paper 3</a:t>
            </a:r>
            <a:endParaRPr lang="en-US" sz="1100" dirty="0"/>
          </a:p>
        </p:txBody>
      </p:sp>
      <p:sp>
        <p:nvSpPr>
          <p:cNvPr id="4" name="Text 2"/>
          <p:cNvSpPr/>
          <p:nvPr/>
        </p:nvSpPr>
        <p:spPr>
          <a:xfrm>
            <a:off x="1463040" y="182880"/>
            <a:ext cx="740664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Phishing Websites Detection using Machine Learning</a:t>
            </a:r>
            <a:endParaRPr lang="en-US" sz="1400" dirty="0"/>
          </a:p>
        </p:txBody>
      </p:sp>
      <p:sp>
        <p:nvSpPr>
          <p:cNvPr id="5" name="Text 3"/>
          <p:cNvSpPr/>
          <p:nvPr/>
        </p:nvSpPr>
        <p:spPr>
          <a:xfrm>
            <a:off x="274320" y="548640"/>
            <a:ext cx="8595360" cy="274320"/>
          </a:xfrm>
          <a:prstGeom prst="rect">
            <a:avLst/>
          </a:prstGeom>
          <a:noFill/>
          <a:ln/>
        </p:spPr>
        <p:txBody>
          <a:bodyPr wrap="square" lIns="0" tIns="0" rIns="0" bIns="0" rtlCol="0" anchor="ctr"/>
          <a:lstStyle/>
          <a:p>
            <a:pPr marL="0" indent="0">
              <a:buNone/>
            </a:pPr>
            <a:r>
              <a:rPr lang="en-US" sz="1150" dirty="0">
                <a:solidFill>
                  <a:srgbClr val="F59E0B"/>
                </a:solidFill>
                <a:latin typeface="Calibri" pitchFamily="34" charset="0"/>
                <a:ea typeface="Calibri" pitchFamily="34" charset="-122"/>
                <a:cs typeface="Calibri" pitchFamily="34" charset="-120"/>
              </a:rPr>
              <a:t>Comparing Decision Tree, SVM, Naïve Bayes, Neural Network on URL Features</a:t>
            </a:r>
            <a:endParaRPr lang="en-US" sz="1150" dirty="0"/>
          </a:p>
        </p:txBody>
      </p:sp>
      <p:sp>
        <p:nvSpPr>
          <p:cNvPr id="6" name="Shape 4"/>
          <p:cNvSpPr/>
          <p:nvPr/>
        </p:nvSpPr>
        <p:spPr>
          <a:xfrm>
            <a:off x="274320" y="914400"/>
            <a:ext cx="8503920" cy="548640"/>
          </a:xfrm>
          <a:prstGeom prst="rect">
            <a:avLst/>
          </a:prstGeom>
          <a:solidFill>
            <a:srgbClr val="1A1500"/>
          </a:solidFill>
          <a:ln w="10160">
            <a:solidFill>
              <a:srgbClr val="F59E0B"/>
            </a:solidFill>
            <a:prstDash val="solid"/>
          </a:ln>
        </p:spPr>
        <p:txBody>
          <a:bodyPr/>
          <a:lstStyle/>
          <a:p>
            <a:endParaRPr lang="en-GB"/>
          </a:p>
        </p:txBody>
      </p:sp>
      <p:pic>
        <p:nvPicPr>
          <p:cNvPr id="7" name="Image 0" descr="preencoded.png"/>
          <p:cNvPicPr>
            <a:picLocks noChangeAspect="1"/>
          </p:cNvPicPr>
          <p:nvPr/>
        </p:nvPicPr>
        <p:blipFill>
          <a:blip r:embed="rId3"/>
          <a:stretch>
            <a:fillRect/>
          </a:stretch>
        </p:blipFill>
        <p:spPr>
          <a:xfrm>
            <a:off x="411480" y="1005840"/>
            <a:ext cx="320040" cy="320040"/>
          </a:xfrm>
          <a:prstGeom prst="rect">
            <a:avLst/>
          </a:prstGeom>
        </p:spPr>
      </p:pic>
      <p:sp>
        <p:nvSpPr>
          <p:cNvPr id="8" name="Text 5"/>
          <p:cNvSpPr/>
          <p:nvPr/>
        </p:nvSpPr>
        <p:spPr>
          <a:xfrm>
            <a:off x="822960" y="987552"/>
            <a:ext cx="777240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Dataset: UCI Repository  |  1,353 URLs  (702 phishing  •  548 legitimate  •  103 suspicious)  |  9 Features  |  3-class classification</a:t>
            </a:r>
            <a:endParaRPr lang="en-US" sz="1100" dirty="0"/>
          </a:p>
        </p:txBody>
      </p:sp>
      <p:sp>
        <p:nvSpPr>
          <p:cNvPr id="9" name="Shape 6"/>
          <p:cNvSpPr/>
          <p:nvPr/>
        </p:nvSpPr>
        <p:spPr>
          <a:xfrm>
            <a:off x="228600" y="1645920"/>
            <a:ext cx="2057400" cy="3108960"/>
          </a:xfrm>
          <a:prstGeom prst="rect">
            <a:avLst/>
          </a:prstGeom>
          <a:solidFill>
            <a:srgbClr val="1A2333"/>
          </a:solidFill>
          <a:ln w="25400">
            <a:solidFill>
              <a:srgbClr val="22C55E"/>
            </a:solidFill>
            <a:prstDash val="solid"/>
          </a:ln>
        </p:spPr>
        <p:txBody>
          <a:bodyPr/>
          <a:lstStyle/>
          <a:p>
            <a:endParaRPr lang="en-GB"/>
          </a:p>
        </p:txBody>
      </p:sp>
      <p:sp>
        <p:nvSpPr>
          <p:cNvPr id="10" name="Shape 7"/>
          <p:cNvSpPr/>
          <p:nvPr/>
        </p:nvSpPr>
        <p:spPr>
          <a:xfrm>
            <a:off x="228600" y="1645920"/>
            <a:ext cx="2057400" cy="411480"/>
          </a:xfrm>
          <a:prstGeom prst="rect">
            <a:avLst/>
          </a:prstGeom>
          <a:solidFill>
            <a:srgbClr val="22C55E"/>
          </a:solidFill>
          <a:ln w="12700">
            <a:solidFill>
              <a:srgbClr val="22C55E"/>
            </a:solidFill>
            <a:prstDash val="solid"/>
          </a:ln>
        </p:spPr>
        <p:txBody>
          <a:bodyPr/>
          <a:lstStyle/>
          <a:p>
            <a:endParaRPr lang="en-GB"/>
          </a:p>
        </p:txBody>
      </p:sp>
      <p:sp>
        <p:nvSpPr>
          <p:cNvPr id="11" name="Text 8"/>
          <p:cNvSpPr/>
          <p:nvPr/>
        </p:nvSpPr>
        <p:spPr>
          <a:xfrm>
            <a:off x="1554480" y="1664208"/>
            <a:ext cx="685800" cy="274320"/>
          </a:xfrm>
          <a:prstGeom prst="rect">
            <a:avLst/>
          </a:prstGeom>
          <a:noFill/>
          <a:ln/>
        </p:spPr>
        <p:txBody>
          <a:bodyPr wrap="square" lIns="0" tIns="0" rIns="0" bIns="0" rtlCol="0" anchor="ctr"/>
          <a:lstStyle/>
          <a:p>
            <a:pPr marL="0" indent="0" algn="ctr">
              <a:buNone/>
            </a:pPr>
            <a:r>
              <a:rPr lang="en-US" sz="850" b="1" dirty="0">
                <a:solidFill>
                  <a:srgbClr val="0A0E1A"/>
                </a:solidFill>
                <a:latin typeface="Calibri" pitchFamily="34" charset="0"/>
                <a:ea typeface="Calibri" pitchFamily="34" charset="-122"/>
                <a:cs typeface="Calibri" pitchFamily="34" charset="-120"/>
              </a:rPr>
              <a:t>★ BEST</a:t>
            </a:r>
            <a:endParaRPr lang="en-US" sz="850" dirty="0"/>
          </a:p>
        </p:txBody>
      </p:sp>
      <p:sp>
        <p:nvSpPr>
          <p:cNvPr id="12" name="Text 9"/>
          <p:cNvSpPr/>
          <p:nvPr/>
        </p:nvSpPr>
        <p:spPr>
          <a:xfrm>
            <a:off x="301752" y="1673352"/>
            <a:ext cx="1645920" cy="320040"/>
          </a:xfrm>
          <a:prstGeom prst="rect">
            <a:avLst/>
          </a:prstGeom>
          <a:noFill/>
          <a:ln/>
        </p:spPr>
        <p:txBody>
          <a:bodyPr wrap="square" lIns="0" tIns="0" rIns="0" bIns="0" rtlCol="0" anchor="ctr"/>
          <a:lstStyle/>
          <a:p>
            <a:pPr marL="0" indent="0">
              <a:buNone/>
            </a:pPr>
            <a:r>
              <a:rPr lang="en-US" sz="1200" b="1" dirty="0">
                <a:solidFill>
                  <a:srgbClr val="0A0E1A"/>
                </a:solidFill>
                <a:latin typeface="Calibri" pitchFamily="34" charset="0"/>
                <a:ea typeface="Calibri" pitchFamily="34" charset="-122"/>
                <a:cs typeface="Calibri" pitchFamily="34" charset="-120"/>
              </a:rPr>
              <a:t>Decision Tree</a:t>
            </a:r>
            <a:endParaRPr lang="en-US" sz="1200" dirty="0"/>
          </a:p>
        </p:txBody>
      </p:sp>
      <p:sp>
        <p:nvSpPr>
          <p:cNvPr id="13" name="Text 10"/>
          <p:cNvSpPr/>
          <p:nvPr/>
        </p:nvSpPr>
        <p:spPr>
          <a:xfrm>
            <a:off x="228600" y="2103120"/>
            <a:ext cx="2057400" cy="548640"/>
          </a:xfrm>
          <a:prstGeom prst="rect">
            <a:avLst/>
          </a:prstGeom>
          <a:noFill/>
          <a:ln/>
        </p:spPr>
        <p:txBody>
          <a:bodyPr wrap="square" lIns="0" tIns="0" rIns="0" bIns="0" rtlCol="0" anchor="ctr"/>
          <a:lstStyle/>
          <a:p>
            <a:pPr marL="0" indent="0" algn="ctr">
              <a:buNone/>
            </a:pPr>
            <a:r>
              <a:rPr lang="en-US" sz="3000" b="1" dirty="0">
                <a:solidFill>
                  <a:srgbClr val="22C55E"/>
                </a:solidFill>
                <a:latin typeface="Calibri" pitchFamily="34" charset="0"/>
                <a:ea typeface="Calibri" pitchFamily="34" charset="-122"/>
                <a:cs typeface="Calibri" pitchFamily="34" charset="-120"/>
              </a:rPr>
              <a:t>91.5%</a:t>
            </a:r>
            <a:endParaRPr lang="en-US" sz="3000" dirty="0"/>
          </a:p>
        </p:txBody>
      </p:sp>
      <p:sp>
        <p:nvSpPr>
          <p:cNvPr id="14" name="Text 11"/>
          <p:cNvSpPr/>
          <p:nvPr/>
        </p:nvSpPr>
        <p:spPr>
          <a:xfrm>
            <a:off x="228600" y="2633472"/>
            <a:ext cx="2057400" cy="274320"/>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Accuracy</a:t>
            </a:r>
            <a:endParaRPr lang="en-US" sz="900" dirty="0"/>
          </a:p>
        </p:txBody>
      </p:sp>
      <p:sp>
        <p:nvSpPr>
          <p:cNvPr id="15" name="Text 12"/>
          <p:cNvSpPr/>
          <p:nvPr/>
        </p:nvSpPr>
        <p:spPr>
          <a:xfrm>
            <a:off x="320040" y="2926080"/>
            <a:ext cx="1874520" cy="173736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Best performer. Works well with categorical/discrete features. Issue: overfitting → solved by pruning.</a:t>
            </a:r>
            <a:endParaRPr lang="en-US" sz="950" dirty="0"/>
          </a:p>
        </p:txBody>
      </p:sp>
      <p:sp>
        <p:nvSpPr>
          <p:cNvPr id="16" name="Shape 13"/>
          <p:cNvSpPr/>
          <p:nvPr/>
        </p:nvSpPr>
        <p:spPr>
          <a:xfrm>
            <a:off x="2441448" y="1645920"/>
            <a:ext cx="2057400" cy="3108960"/>
          </a:xfrm>
          <a:prstGeom prst="rect">
            <a:avLst/>
          </a:prstGeom>
          <a:solidFill>
            <a:srgbClr val="1A2333"/>
          </a:solidFill>
          <a:ln w="10160">
            <a:solidFill>
              <a:srgbClr val="00D4FF"/>
            </a:solidFill>
            <a:prstDash val="solid"/>
          </a:ln>
        </p:spPr>
        <p:txBody>
          <a:bodyPr/>
          <a:lstStyle/>
          <a:p>
            <a:endParaRPr lang="en-GB"/>
          </a:p>
        </p:txBody>
      </p:sp>
      <p:sp>
        <p:nvSpPr>
          <p:cNvPr id="17" name="Shape 14"/>
          <p:cNvSpPr/>
          <p:nvPr/>
        </p:nvSpPr>
        <p:spPr>
          <a:xfrm>
            <a:off x="2441448" y="1645920"/>
            <a:ext cx="2057400" cy="411480"/>
          </a:xfrm>
          <a:prstGeom prst="rect">
            <a:avLst/>
          </a:prstGeom>
          <a:solidFill>
            <a:srgbClr val="00D4FF"/>
          </a:solidFill>
          <a:ln w="12700">
            <a:solidFill>
              <a:srgbClr val="00D4FF"/>
            </a:solidFill>
            <a:prstDash val="solid"/>
          </a:ln>
        </p:spPr>
        <p:txBody>
          <a:bodyPr/>
          <a:lstStyle/>
          <a:p>
            <a:endParaRPr lang="en-GB"/>
          </a:p>
        </p:txBody>
      </p:sp>
      <p:sp>
        <p:nvSpPr>
          <p:cNvPr id="18" name="Text 15"/>
          <p:cNvSpPr/>
          <p:nvPr/>
        </p:nvSpPr>
        <p:spPr>
          <a:xfrm>
            <a:off x="2514600" y="1673352"/>
            <a:ext cx="1645920" cy="320040"/>
          </a:xfrm>
          <a:prstGeom prst="rect">
            <a:avLst/>
          </a:prstGeom>
          <a:noFill/>
          <a:ln/>
        </p:spPr>
        <p:txBody>
          <a:bodyPr wrap="square" lIns="0" tIns="0" rIns="0" bIns="0" rtlCol="0" anchor="ctr"/>
          <a:lstStyle/>
          <a:p>
            <a:pPr marL="0" indent="0">
              <a:buNone/>
            </a:pPr>
            <a:r>
              <a:rPr lang="en-US" sz="1200" b="1" dirty="0">
                <a:solidFill>
                  <a:srgbClr val="0A0E1A"/>
                </a:solidFill>
                <a:latin typeface="Calibri" pitchFamily="34" charset="0"/>
                <a:ea typeface="Calibri" pitchFamily="34" charset="-122"/>
                <a:cs typeface="Calibri" pitchFamily="34" charset="-120"/>
              </a:rPr>
              <a:t>SVM</a:t>
            </a:r>
            <a:endParaRPr lang="en-US" sz="1200" dirty="0"/>
          </a:p>
        </p:txBody>
      </p:sp>
      <p:sp>
        <p:nvSpPr>
          <p:cNvPr id="19" name="Text 16"/>
          <p:cNvSpPr/>
          <p:nvPr/>
        </p:nvSpPr>
        <p:spPr>
          <a:xfrm>
            <a:off x="2441448" y="2103120"/>
            <a:ext cx="2057400" cy="548640"/>
          </a:xfrm>
          <a:prstGeom prst="rect">
            <a:avLst/>
          </a:prstGeom>
          <a:noFill/>
          <a:ln/>
        </p:spPr>
        <p:txBody>
          <a:bodyPr wrap="square" lIns="0" tIns="0" rIns="0" bIns="0" rtlCol="0" anchor="ctr"/>
          <a:lstStyle/>
          <a:p>
            <a:pPr marL="0" indent="0" algn="ctr">
              <a:buNone/>
            </a:pPr>
            <a:r>
              <a:rPr lang="en-US" sz="3000" b="1" dirty="0">
                <a:solidFill>
                  <a:srgbClr val="00D4FF"/>
                </a:solidFill>
                <a:latin typeface="Calibri" pitchFamily="34" charset="0"/>
                <a:ea typeface="Calibri" pitchFamily="34" charset="-122"/>
                <a:cs typeface="Calibri" pitchFamily="34" charset="-120"/>
              </a:rPr>
              <a:t>86.69%</a:t>
            </a:r>
            <a:endParaRPr lang="en-US" sz="3000" dirty="0"/>
          </a:p>
        </p:txBody>
      </p:sp>
      <p:sp>
        <p:nvSpPr>
          <p:cNvPr id="20" name="Text 17"/>
          <p:cNvSpPr/>
          <p:nvPr/>
        </p:nvSpPr>
        <p:spPr>
          <a:xfrm>
            <a:off x="2441448" y="2633472"/>
            <a:ext cx="2057400" cy="274320"/>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Accuracy</a:t>
            </a:r>
            <a:endParaRPr lang="en-US" sz="900" dirty="0"/>
          </a:p>
        </p:txBody>
      </p:sp>
      <p:sp>
        <p:nvSpPr>
          <p:cNvPr id="21" name="Text 18"/>
          <p:cNvSpPr/>
          <p:nvPr/>
        </p:nvSpPr>
        <p:spPr>
          <a:xfrm>
            <a:off x="2532888" y="2926080"/>
            <a:ext cx="1874520" cy="173736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Finds optimal hyperplane boundary. Maximizes margin between classes.</a:t>
            </a:r>
            <a:endParaRPr lang="en-US" sz="950" dirty="0"/>
          </a:p>
        </p:txBody>
      </p:sp>
      <p:sp>
        <p:nvSpPr>
          <p:cNvPr id="22" name="Shape 19"/>
          <p:cNvSpPr/>
          <p:nvPr/>
        </p:nvSpPr>
        <p:spPr>
          <a:xfrm>
            <a:off x="4654296" y="1645920"/>
            <a:ext cx="2057400" cy="3108960"/>
          </a:xfrm>
          <a:prstGeom prst="rect">
            <a:avLst/>
          </a:prstGeom>
          <a:solidFill>
            <a:srgbClr val="1A2333"/>
          </a:solidFill>
          <a:ln w="10160">
            <a:solidFill>
              <a:srgbClr val="F59E0B"/>
            </a:solidFill>
            <a:prstDash val="solid"/>
          </a:ln>
        </p:spPr>
        <p:txBody>
          <a:bodyPr/>
          <a:lstStyle/>
          <a:p>
            <a:endParaRPr lang="en-GB"/>
          </a:p>
        </p:txBody>
      </p:sp>
      <p:sp>
        <p:nvSpPr>
          <p:cNvPr id="23" name="Shape 20"/>
          <p:cNvSpPr/>
          <p:nvPr/>
        </p:nvSpPr>
        <p:spPr>
          <a:xfrm>
            <a:off x="4654296" y="1645920"/>
            <a:ext cx="2057400" cy="411480"/>
          </a:xfrm>
          <a:prstGeom prst="rect">
            <a:avLst/>
          </a:prstGeom>
          <a:solidFill>
            <a:srgbClr val="F59E0B"/>
          </a:solidFill>
          <a:ln w="12700">
            <a:solidFill>
              <a:srgbClr val="F59E0B"/>
            </a:solidFill>
            <a:prstDash val="solid"/>
          </a:ln>
        </p:spPr>
        <p:txBody>
          <a:bodyPr/>
          <a:lstStyle/>
          <a:p>
            <a:endParaRPr lang="en-GB"/>
          </a:p>
        </p:txBody>
      </p:sp>
      <p:sp>
        <p:nvSpPr>
          <p:cNvPr id="24" name="Text 21"/>
          <p:cNvSpPr/>
          <p:nvPr/>
        </p:nvSpPr>
        <p:spPr>
          <a:xfrm>
            <a:off x="4727448" y="1673352"/>
            <a:ext cx="1645920" cy="320040"/>
          </a:xfrm>
          <a:prstGeom prst="rect">
            <a:avLst/>
          </a:prstGeom>
          <a:noFill/>
          <a:ln/>
        </p:spPr>
        <p:txBody>
          <a:bodyPr wrap="square" lIns="0" tIns="0" rIns="0" bIns="0" rtlCol="0" anchor="ctr"/>
          <a:lstStyle/>
          <a:p>
            <a:pPr marL="0" indent="0">
              <a:buNone/>
            </a:pPr>
            <a:r>
              <a:rPr lang="en-US" sz="1200" b="1" dirty="0">
                <a:solidFill>
                  <a:srgbClr val="0A0E1A"/>
                </a:solidFill>
                <a:latin typeface="Calibri" pitchFamily="34" charset="0"/>
                <a:ea typeface="Calibri" pitchFamily="34" charset="-122"/>
                <a:cs typeface="Calibri" pitchFamily="34" charset="-120"/>
              </a:rPr>
              <a:t>Naïve Bayes</a:t>
            </a:r>
            <a:endParaRPr lang="en-US" sz="1200" dirty="0"/>
          </a:p>
        </p:txBody>
      </p:sp>
      <p:sp>
        <p:nvSpPr>
          <p:cNvPr id="25" name="Text 22"/>
          <p:cNvSpPr/>
          <p:nvPr/>
        </p:nvSpPr>
        <p:spPr>
          <a:xfrm>
            <a:off x="4654296" y="2103120"/>
            <a:ext cx="2057400" cy="548640"/>
          </a:xfrm>
          <a:prstGeom prst="rect">
            <a:avLst/>
          </a:prstGeom>
          <a:noFill/>
          <a:ln/>
        </p:spPr>
        <p:txBody>
          <a:bodyPr wrap="square" lIns="0" tIns="0" rIns="0" bIns="0" rtlCol="0" anchor="ctr"/>
          <a:lstStyle/>
          <a:p>
            <a:pPr marL="0" indent="0" algn="ctr">
              <a:buNone/>
            </a:pPr>
            <a:r>
              <a:rPr lang="en-US" sz="3000" b="1" dirty="0">
                <a:solidFill>
                  <a:srgbClr val="F59E0B"/>
                </a:solidFill>
                <a:latin typeface="Calibri" pitchFamily="34" charset="0"/>
                <a:ea typeface="Calibri" pitchFamily="34" charset="-122"/>
                <a:cs typeface="Calibri" pitchFamily="34" charset="-120"/>
              </a:rPr>
              <a:t>86.14%</a:t>
            </a:r>
            <a:endParaRPr lang="en-US" sz="3000" dirty="0"/>
          </a:p>
        </p:txBody>
      </p:sp>
      <p:sp>
        <p:nvSpPr>
          <p:cNvPr id="26" name="Text 23"/>
          <p:cNvSpPr/>
          <p:nvPr/>
        </p:nvSpPr>
        <p:spPr>
          <a:xfrm>
            <a:off x="4654296" y="2633472"/>
            <a:ext cx="2057400" cy="274320"/>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Accuracy</a:t>
            </a:r>
            <a:endParaRPr lang="en-US" sz="900" dirty="0"/>
          </a:p>
        </p:txBody>
      </p:sp>
      <p:sp>
        <p:nvSpPr>
          <p:cNvPr id="27" name="Text 24"/>
          <p:cNvSpPr/>
          <p:nvPr/>
        </p:nvSpPr>
        <p:spPr>
          <a:xfrm>
            <a:off x="4745736" y="2926080"/>
            <a:ext cx="1874520" cy="173736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Probability-based. Assumes feature independence — not ideal for correlated phishing features.</a:t>
            </a:r>
            <a:endParaRPr lang="en-US" sz="950" dirty="0"/>
          </a:p>
        </p:txBody>
      </p:sp>
      <p:sp>
        <p:nvSpPr>
          <p:cNvPr id="28" name="Shape 25"/>
          <p:cNvSpPr/>
          <p:nvPr/>
        </p:nvSpPr>
        <p:spPr>
          <a:xfrm>
            <a:off x="6867144" y="1645920"/>
            <a:ext cx="2057400" cy="3108960"/>
          </a:xfrm>
          <a:prstGeom prst="rect">
            <a:avLst/>
          </a:prstGeom>
          <a:solidFill>
            <a:srgbClr val="1A2333"/>
          </a:solidFill>
          <a:ln w="10160">
            <a:solidFill>
              <a:srgbClr val="EF4444"/>
            </a:solidFill>
            <a:prstDash val="solid"/>
          </a:ln>
        </p:spPr>
        <p:txBody>
          <a:bodyPr/>
          <a:lstStyle/>
          <a:p>
            <a:endParaRPr lang="en-GB"/>
          </a:p>
        </p:txBody>
      </p:sp>
      <p:sp>
        <p:nvSpPr>
          <p:cNvPr id="29" name="Shape 26"/>
          <p:cNvSpPr/>
          <p:nvPr/>
        </p:nvSpPr>
        <p:spPr>
          <a:xfrm>
            <a:off x="6867144" y="1645920"/>
            <a:ext cx="2057400" cy="411480"/>
          </a:xfrm>
          <a:prstGeom prst="rect">
            <a:avLst/>
          </a:prstGeom>
          <a:solidFill>
            <a:srgbClr val="EF4444"/>
          </a:solidFill>
          <a:ln w="12700">
            <a:solidFill>
              <a:srgbClr val="EF4444"/>
            </a:solidFill>
            <a:prstDash val="solid"/>
          </a:ln>
        </p:spPr>
        <p:txBody>
          <a:bodyPr/>
          <a:lstStyle/>
          <a:p>
            <a:endParaRPr lang="en-GB"/>
          </a:p>
        </p:txBody>
      </p:sp>
      <p:sp>
        <p:nvSpPr>
          <p:cNvPr id="30" name="Text 27"/>
          <p:cNvSpPr/>
          <p:nvPr/>
        </p:nvSpPr>
        <p:spPr>
          <a:xfrm>
            <a:off x="6940296" y="1673352"/>
            <a:ext cx="1645920" cy="320040"/>
          </a:xfrm>
          <a:prstGeom prst="rect">
            <a:avLst/>
          </a:prstGeom>
          <a:noFill/>
          <a:ln/>
        </p:spPr>
        <p:txBody>
          <a:bodyPr wrap="square" lIns="0" tIns="0" rIns="0" bIns="0" rtlCol="0" anchor="ctr"/>
          <a:lstStyle/>
          <a:p>
            <a:pPr marL="0" indent="0">
              <a:buNone/>
            </a:pPr>
            <a:r>
              <a:rPr lang="en-US" sz="1200" b="1" dirty="0">
                <a:solidFill>
                  <a:srgbClr val="0A0E1A"/>
                </a:solidFill>
                <a:latin typeface="Calibri" pitchFamily="34" charset="0"/>
                <a:ea typeface="Calibri" pitchFamily="34" charset="-122"/>
                <a:cs typeface="Calibri" pitchFamily="34" charset="-120"/>
              </a:rPr>
              <a:t>Neural Network</a:t>
            </a:r>
            <a:endParaRPr lang="en-US" sz="1200" dirty="0"/>
          </a:p>
        </p:txBody>
      </p:sp>
      <p:sp>
        <p:nvSpPr>
          <p:cNvPr id="31" name="Text 28"/>
          <p:cNvSpPr/>
          <p:nvPr/>
        </p:nvSpPr>
        <p:spPr>
          <a:xfrm>
            <a:off x="6867144" y="2103120"/>
            <a:ext cx="2057400" cy="548640"/>
          </a:xfrm>
          <a:prstGeom prst="rect">
            <a:avLst/>
          </a:prstGeom>
          <a:noFill/>
          <a:ln/>
        </p:spPr>
        <p:txBody>
          <a:bodyPr wrap="square" lIns="0" tIns="0" rIns="0" bIns="0" rtlCol="0" anchor="ctr"/>
          <a:lstStyle/>
          <a:p>
            <a:pPr marL="0" indent="0" algn="ctr">
              <a:buNone/>
            </a:pPr>
            <a:r>
              <a:rPr lang="en-US" sz="3000" b="1" dirty="0">
                <a:solidFill>
                  <a:srgbClr val="EF4444"/>
                </a:solidFill>
                <a:latin typeface="Calibri" pitchFamily="34" charset="0"/>
                <a:ea typeface="Calibri" pitchFamily="34" charset="-122"/>
                <a:cs typeface="Calibri" pitchFamily="34" charset="-120"/>
              </a:rPr>
              <a:t>84.87%</a:t>
            </a:r>
            <a:endParaRPr lang="en-US" sz="3000" dirty="0"/>
          </a:p>
        </p:txBody>
      </p:sp>
      <p:sp>
        <p:nvSpPr>
          <p:cNvPr id="32" name="Text 29"/>
          <p:cNvSpPr/>
          <p:nvPr/>
        </p:nvSpPr>
        <p:spPr>
          <a:xfrm>
            <a:off x="6867144" y="2633472"/>
            <a:ext cx="2057400" cy="274320"/>
          </a:xfrm>
          <a:prstGeom prst="rect">
            <a:avLst/>
          </a:prstGeom>
          <a:noFill/>
          <a:ln/>
        </p:spPr>
        <p:txBody>
          <a:bodyPr wrap="square" lIns="0" tIns="0" rIns="0" bIns="0" rtlCol="0" anchor="ctr"/>
          <a:lstStyle/>
          <a:p>
            <a:pPr marL="0" indent="0" algn="ctr">
              <a:buNone/>
            </a:pPr>
            <a:r>
              <a:rPr lang="en-US" sz="900" dirty="0">
                <a:solidFill>
                  <a:srgbClr val="94A3B8"/>
                </a:solidFill>
                <a:latin typeface="Calibri" pitchFamily="34" charset="0"/>
                <a:ea typeface="Calibri" pitchFamily="34" charset="-122"/>
                <a:cs typeface="Calibri" pitchFamily="34" charset="-120"/>
              </a:rPr>
              <a:t>Accuracy</a:t>
            </a:r>
            <a:endParaRPr lang="en-US" sz="900" dirty="0"/>
          </a:p>
        </p:txBody>
      </p:sp>
      <p:sp>
        <p:nvSpPr>
          <p:cNvPr id="33" name="Text 30"/>
          <p:cNvSpPr/>
          <p:nvPr/>
        </p:nvSpPr>
        <p:spPr>
          <a:xfrm>
            <a:off x="6958584" y="2926080"/>
            <a:ext cx="1874520" cy="173736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3-layer network (9→10→3). Worst result — data is discrete, not continuous. NN prefers continuous data.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D4FF"/>
          </a:solidFill>
          <a:ln w="12700">
            <a:solidFill>
              <a:srgbClr val="00D4FF"/>
            </a:solidFill>
            <a:prstDash val="solid"/>
          </a:ln>
        </p:spPr>
        <p:txBody>
          <a:bodyPr/>
          <a:lstStyle/>
          <a:p>
            <a:endParaRPr lang="en-GB"/>
          </a:p>
        </p:txBody>
      </p:sp>
      <p:sp>
        <p:nvSpPr>
          <p:cNvPr id="3" name="Text 1"/>
          <p:cNvSpPr/>
          <p:nvPr/>
        </p:nvSpPr>
        <p:spPr>
          <a:xfrm>
            <a:off x="274320" y="182880"/>
            <a:ext cx="8595360" cy="45720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Research Papers — Comparative Analysis</a:t>
            </a:r>
            <a:endParaRPr lang="en-US" sz="2600" dirty="0"/>
          </a:p>
        </p:txBody>
      </p:sp>
      <p:sp>
        <p:nvSpPr>
          <p:cNvPr id="4" name="Shape 2"/>
          <p:cNvSpPr/>
          <p:nvPr/>
        </p:nvSpPr>
        <p:spPr>
          <a:xfrm>
            <a:off x="228600" y="822960"/>
            <a:ext cx="2011680" cy="411480"/>
          </a:xfrm>
          <a:prstGeom prst="rect">
            <a:avLst/>
          </a:prstGeom>
          <a:solidFill>
            <a:srgbClr val="475569"/>
          </a:solidFill>
          <a:ln w="6350">
            <a:solidFill>
              <a:srgbClr val="0A0E1A"/>
            </a:solidFill>
            <a:prstDash val="solid"/>
          </a:ln>
        </p:spPr>
        <p:txBody>
          <a:bodyPr/>
          <a:lstStyle/>
          <a:p>
            <a:endParaRPr lang="en-GB"/>
          </a:p>
        </p:txBody>
      </p:sp>
      <p:sp>
        <p:nvSpPr>
          <p:cNvPr id="5" name="Text 3"/>
          <p:cNvSpPr/>
          <p:nvPr/>
        </p:nvSpPr>
        <p:spPr>
          <a:xfrm>
            <a:off x="301752" y="822960"/>
            <a:ext cx="1865376" cy="41148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Aspect</a:t>
            </a:r>
            <a:endParaRPr lang="en-US" sz="1050" dirty="0"/>
          </a:p>
        </p:txBody>
      </p:sp>
      <p:sp>
        <p:nvSpPr>
          <p:cNvPr id="6" name="Shape 4"/>
          <p:cNvSpPr/>
          <p:nvPr/>
        </p:nvSpPr>
        <p:spPr>
          <a:xfrm>
            <a:off x="2286000" y="822960"/>
            <a:ext cx="2103120" cy="411480"/>
          </a:xfrm>
          <a:prstGeom prst="rect">
            <a:avLst/>
          </a:prstGeom>
          <a:solidFill>
            <a:srgbClr val="0891B2"/>
          </a:solidFill>
          <a:ln w="6350">
            <a:solidFill>
              <a:srgbClr val="0A0E1A"/>
            </a:solidFill>
            <a:prstDash val="solid"/>
          </a:ln>
        </p:spPr>
        <p:txBody>
          <a:bodyPr/>
          <a:lstStyle/>
          <a:p>
            <a:endParaRPr lang="en-GB"/>
          </a:p>
        </p:txBody>
      </p:sp>
      <p:sp>
        <p:nvSpPr>
          <p:cNvPr id="7" name="Text 5"/>
          <p:cNvSpPr/>
          <p:nvPr/>
        </p:nvSpPr>
        <p:spPr>
          <a:xfrm>
            <a:off x="2359152" y="822960"/>
            <a:ext cx="1956816" cy="41148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Paper 1 (ELM)</a:t>
            </a:r>
            <a:endParaRPr lang="en-US" sz="1050" dirty="0"/>
          </a:p>
        </p:txBody>
      </p:sp>
      <p:sp>
        <p:nvSpPr>
          <p:cNvPr id="8" name="Shape 6"/>
          <p:cNvSpPr/>
          <p:nvPr/>
        </p:nvSpPr>
        <p:spPr>
          <a:xfrm>
            <a:off x="4434840" y="822960"/>
            <a:ext cx="2468880" cy="411480"/>
          </a:xfrm>
          <a:prstGeom prst="rect">
            <a:avLst/>
          </a:prstGeom>
          <a:solidFill>
            <a:srgbClr val="166534"/>
          </a:solidFill>
          <a:ln w="6350">
            <a:solidFill>
              <a:srgbClr val="0A0E1A"/>
            </a:solidFill>
            <a:prstDash val="solid"/>
          </a:ln>
        </p:spPr>
        <p:txBody>
          <a:bodyPr/>
          <a:lstStyle/>
          <a:p>
            <a:endParaRPr lang="en-GB"/>
          </a:p>
        </p:txBody>
      </p:sp>
      <p:sp>
        <p:nvSpPr>
          <p:cNvPr id="9" name="Text 7"/>
          <p:cNvSpPr/>
          <p:nvPr/>
        </p:nvSpPr>
        <p:spPr>
          <a:xfrm>
            <a:off x="4507992" y="822960"/>
            <a:ext cx="2322576" cy="41148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Paper 2 (NLP+AutoML)</a:t>
            </a:r>
            <a:endParaRPr lang="en-US" sz="1050" dirty="0"/>
          </a:p>
        </p:txBody>
      </p:sp>
      <p:sp>
        <p:nvSpPr>
          <p:cNvPr id="10" name="Shape 8"/>
          <p:cNvSpPr/>
          <p:nvPr/>
        </p:nvSpPr>
        <p:spPr>
          <a:xfrm>
            <a:off x="6949440" y="822960"/>
            <a:ext cx="2377440" cy="411480"/>
          </a:xfrm>
          <a:prstGeom prst="rect">
            <a:avLst/>
          </a:prstGeom>
          <a:solidFill>
            <a:srgbClr val="92400E"/>
          </a:solidFill>
          <a:ln w="6350">
            <a:solidFill>
              <a:srgbClr val="0A0E1A"/>
            </a:solidFill>
            <a:prstDash val="solid"/>
          </a:ln>
        </p:spPr>
        <p:txBody>
          <a:bodyPr/>
          <a:lstStyle/>
          <a:p>
            <a:endParaRPr lang="en-GB"/>
          </a:p>
        </p:txBody>
      </p:sp>
      <p:sp>
        <p:nvSpPr>
          <p:cNvPr id="11" name="Text 9"/>
          <p:cNvSpPr/>
          <p:nvPr/>
        </p:nvSpPr>
        <p:spPr>
          <a:xfrm>
            <a:off x="7022592" y="822960"/>
            <a:ext cx="2231136" cy="41148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Paper 3 (Classical ML)</a:t>
            </a:r>
            <a:endParaRPr lang="en-US" sz="1050" dirty="0"/>
          </a:p>
        </p:txBody>
      </p:sp>
      <p:sp>
        <p:nvSpPr>
          <p:cNvPr id="12" name="Shape 10"/>
          <p:cNvSpPr/>
          <p:nvPr/>
        </p:nvSpPr>
        <p:spPr>
          <a:xfrm>
            <a:off x="228600" y="1234440"/>
            <a:ext cx="2011680" cy="530352"/>
          </a:xfrm>
          <a:prstGeom prst="rect">
            <a:avLst/>
          </a:prstGeom>
          <a:solidFill>
            <a:srgbClr val="1E293B"/>
          </a:solidFill>
          <a:ln w="6350">
            <a:solidFill>
              <a:srgbClr val="1E293B"/>
            </a:solidFill>
            <a:prstDash val="solid"/>
          </a:ln>
        </p:spPr>
        <p:txBody>
          <a:bodyPr/>
          <a:lstStyle/>
          <a:p>
            <a:endParaRPr lang="en-GB"/>
          </a:p>
        </p:txBody>
      </p:sp>
      <p:sp>
        <p:nvSpPr>
          <p:cNvPr id="13" name="Text 11"/>
          <p:cNvSpPr/>
          <p:nvPr/>
        </p:nvSpPr>
        <p:spPr>
          <a:xfrm>
            <a:off x="301752" y="1271016"/>
            <a:ext cx="1865376" cy="457200"/>
          </a:xfrm>
          <a:prstGeom prst="rect">
            <a:avLst/>
          </a:prstGeom>
          <a:noFill/>
          <a:ln/>
        </p:spPr>
        <p:txBody>
          <a:bodyPr wrap="square" lIns="0" tIns="0" rIns="0" bIns="0" rtlCol="0" anchor="ctr"/>
          <a:lstStyle/>
          <a:p>
            <a:pPr marL="0" indent="0">
              <a:buNone/>
            </a:pPr>
            <a:r>
              <a:rPr lang="en-US" sz="1000" b="1" dirty="0">
                <a:solidFill>
                  <a:srgbClr val="94A3B8"/>
                </a:solidFill>
                <a:latin typeface="Calibri" pitchFamily="34" charset="0"/>
                <a:ea typeface="Calibri" pitchFamily="34" charset="-122"/>
                <a:cs typeface="Calibri" pitchFamily="34" charset="-120"/>
              </a:rPr>
              <a:t>Features Used</a:t>
            </a:r>
            <a:endParaRPr lang="en-US" sz="1000" dirty="0"/>
          </a:p>
        </p:txBody>
      </p:sp>
      <p:sp>
        <p:nvSpPr>
          <p:cNvPr id="14" name="Shape 12"/>
          <p:cNvSpPr/>
          <p:nvPr/>
        </p:nvSpPr>
        <p:spPr>
          <a:xfrm>
            <a:off x="2286000" y="1234440"/>
            <a:ext cx="2103120" cy="530352"/>
          </a:xfrm>
          <a:prstGeom prst="rect">
            <a:avLst/>
          </a:prstGeom>
          <a:solidFill>
            <a:srgbClr val="111827"/>
          </a:solidFill>
          <a:ln w="6350">
            <a:solidFill>
              <a:srgbClr val="1E293B"/>
            </a:solidFill>
            <a:prstDash val="solid"/>
          </a:ln>
        </p:spPr>
        <p:txBody>
          <a:bodyPr/>
          <a:lstStyle/>
          <a:p>
            <a:endParaRPr lang="en-GB"/>
          </a:p>
        </p:txBody>
      </p:sp>
      <p:sp>
        <p:nvSpPr>
          <p:cNvPr id="15" name="Text 13"/>
          <p:cNvSpPr/>
          <p:nvPr/>
        </p:nvSpPr>
        <p:spPr>
          <a:xfrm>
            <a:off x="2359152" y="1271016"/>
            <a:ext cx="195681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30 URL + HTML features</a:t>
            </a:r>
            <a:endParaRPr lang="en-US" sz="950" dirty="0"/>
          </a:p>
        </p:txBody>
      </p:sp>
      <p:sp>
        <p:nvSpPr>
          <p:cNvPr id="16" name="Shape 14"/>
          <p:cNvSpPr/>
          <p:nvPr/>
        </p:nvSpPr>
        <p:spPr>
          <a:xfrm>
            <a:off x="4434840" y="1234440"/>
            <a:ext cx="2468880" cy="530352"/>
          </a:xfrm>
          <a:prstGeom prst="rect">
            <a:avLst/>
          </a:prstGeom>
          <a:solidFill>
            <a:srgbClr val="111827"/>
          </a:solidFill>
          <a:ln w="6350">
            <a:solidFill>
              <a:srgbClr val="1E293B"/>
            </a:solidFill>
            <a:prstDash val="solid"/>
          </a:ln>
        </p:spPr>
        <p:txBody>
          <a:bodyPr/>
          <a:lstStyle/>
          <a:p>
            <a:endParaRPr lang="en-GB"/>
          </a:p>
        </p:txBody>
      </p:sp>
      <p:sp>
        <p:nvSpPr>
          <p:cNvPr id="17" name="Text 15"/>
          <p:cNvSpPr/>
          <p:nvPr/>
        </p:nvSpPr>
        <p:spPr>
          <a:xfrm>
            <a:off x="4507992" y="1271016"/>
            <a:ext cx="232257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NLP + WHOIS + DNS</a:t>
            </a:r>
            <a:endParaRPr lang="en-US" sz="950" dirty="0"/>
          </a:p>
        </p:txBody>
      </p:sp>
      <p:sp>
        <p:nvSpPr>
          <p:cNvPr id="18" name="Shape 16"/>
          <p:cNvSpPr/>
          <p:nvPr/>
        </p:nvSpPr>
        <p:spPr>
          <a:xfrm>
            <a:off x="6949440" y="1234440"/>
            <a:ext cx="2377440" cy="530352"/>
          </a:xfrm>
          <a:prstGeom prst="rect">
            <a:avLst/>
          </a:prstGeom>
          <a:solidFill>
            <a:srgbClr val="111827"/>
          </a:solidFill>
          <a:ln w="6350">
            <a:solidFill>
              <a:srgbClr val="1E293B"/>
            </a:solidFill>
            <a:prstDash val="solid"/>
          </a:ln>
        </p:spPr>
        <p:txBody>
          <a:bodyPr/>
          <a:lstStyle/>
          <a:p>
            <a:endParaRPr lang="en-GB"/>
          </a:p>
        </p:txBody>
      </p:sp>
      <p:sp>
        <p:nvSpPr>
          <p:cNvPr id="19" name="Text 17"/>
          <p:cNvSpPr/>
          <p:nvPr/>
        </p:nvSpPr>
        <p:spPr>
          <a:xfrm>
            <a:off x="7022592" y="1271016"/>
            <a:ext cx="223113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9 URL features</a:t>
            </a:r>
            <a:endParaRPr lang="en-US" sz="950" dirty="0"/>
          </a:p>
        </p:txBody>
      </p:sp>
      <p:sp>
        <p:nvSpPr>
          <p:cNvPr id="20" name="Shape 18"/>
          <p:cNvSpPr/>
          <p:nvPr/>
        </p:nvSpPr>
        <p:spPr>
          <a:xfrm>
            <a:off x="228600" y="1764792"/>
            <a:ext cx="2011680" cy="530352"/>
          </a:xfrm>
          <a:prstGeom prst="rect">
            <a:avLst/>
          </a:prstGeom>
          <a:solidFill>
            <a:srgbClr val="1E293B"/>
          </a:solidFill>
          <a:ln w="6350">
            <a:solidFill>
              <a:srgbClr val="1E293B"/>
            </a:solidFill>
            <a:prstDash val="solid"/>
          </a:ln>
        </p:spPr>
        <p:txBody>
          <a:bodyPr/>
          <a:lstStyle/>
          <a:p>
            <a:endParaRPr lang="en-GB"/>
          </a:p>
        </p:txBody>
      </p:sp>
      <p:sp>
        <p:nvSpPr>
          <p:cNvPr id="21" name="Text 19"/>
          <p:cNvSpPr/>
          <p:nvPr/>
        </p:nvSpPr>
        <p:spPr>
          <a:xfrm>
            <a:off x="301752" y="1801368"/>
            <a:ext cx="1865376" cy="457200"/>
          </a:xfrm>
          <a:prstGeom prst="rect">
            <a:avLst/>
          </a:prstGeom>
          <a:noFill/>
          <a:ln/>
        </p:spPr>
        <p:txBody>
          <a:bodyPr wrap="square" lIns="0" tIns="0" rIns="0" bIns="0" rtlCol="0" anchor="ctr"/>
          <a:lstStyle/>
          <a:p>
            <a:pPr marL="0" indent="0">
              <a:buNone/>
            </a:pPr>
            <a:r>
              <a:rPr lang="en-US" sz="1000" b="1" dirty="0">
                <a:solidFill>
                  <a:srgbClr val="94A3B8"/>
                </a:solidFill>
                <a:latin typeface="Calibri" pitchFamily="34" charset="0"/>
                <a:ea typeface="Calibri" pitchFamily="34" charset="-122"/>
                <a:cs typeface="Calibri" pitchFamily="34" charset="-120"/>
              </a:rPr>
              <a:t>Main Algorithm</a:t>
            </a:r>
            <a:endParaRPr lang="en-US" sz="1000" dirty="0"/>
          </a:p>
        </p:txBody>
      </p:sp>
      <p:sp>
        <p:nvSpPr>
          <p:cNvPr id="22" name="Shape 20"/>
          <p:cNvSpPr/>
          <p:nvPr/>
        </p:nvSpPr>
        <p:spPr>
          <a:xfrm>
            <a:off x="2286000" y="1764792"/>
            <a:ext cx="2103120" cy="530352"/>
          </a:xfrm>
          <a:prstGeom prst="rect">
            <a:avLst/>
          </a:prstGeom>
          <a:solidFill>
            <a:srgbClr val="1A2333"/>
          </a:solidFill>
          <a:ln w="6350">
            <a:solidFill>
              <a:srgbClr val="1E293B"/>
            </a:solidFill>
            <a:prstDash val="solid"/>
          </a:ln>
        </p:spPr>
        <p:txBody>
          <a:bodyPr/>
          <a:lstStyle/>
          <a:p>
            <a:endParaRPr lang="en-GB"/>
          </a:p>
        </p:txBody>
      </p:sp>
      <p:sp>
        <p:nvSpPr>
          <p:cNvPr id="23" name="Text 21"/>
          <p:cNvSpPr/>
          <p:nvPr/>
        </p:nvSpPr>
        <p:spPr>
          <a:xfrm>
            <a:off x="2359152" y="1801368"/>
            <a:ext cx="195681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Extreme Learning Machine</a:t>
            </a:r>
            <a:endParaRPr lang="en-US" sz="950" dirty="0"/>
          </a:p>
        </p:txBody>
      </p:sp>
      <p:sp>
        <p:nvSpPr>
          <p:cNvPr id="24" name="Shape 22"/>
          <p:cNvSpPr/>
          <p:nvPr/>
        </p:nvSpPr>
        <p:spPr>
          <a:xfrm>
            <a:off x="4434840" y="1764792"/>
            <a:ext cx="2468880" cy="530352"/>
          </a:xfrm>
          <a:prstGeom prst="rect">
            <a:avLst/>
          </a:prstGeom>
          <a:solidFill>
            <a:srgbClr val="1A2333"/>
          </a:solidFill>
          <a:ln w="6350">
            <a:solidFill>
              <a:srgbClr val="1E293B"/>
            </a:solidFill>
            <a:prstDash val="solid"/>
          </a:ln>
        </p:spPr>
        <p:txBody>
          <a:bodyPr/>
          <a:lstStyle/>
          <a:p>
            <a:endParaRPr lang="en-GB"/>
          </a:p>
        </p:txBody>
      </p:sp>
      <p:sp>
        <p:nvSpPr>
          <p:cNvPr id="25" name="Text 23"/>
          <p:cNvSpPr/>
          <p:nvPr/>
        </p:nvSpPr>
        <p:spPr>
          <a:xfrm>
            <a:off x="4507992" y="1801368"/>
            <a:ext cx="232257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AutoML (auto-selection)</a:t>
            </a:r>
            <a:endParaRPr lang="en-US" sz="950" dirty="0"/>
          </a:p>
        </p:txBody>
      </p:sp>
      <p:sp>
        <p:nvSpPr>
          <p:cNvPr id="26" name="Shape 24"/>
          <p:cNvSpPr/>
          <p:nvPr/>
        </p:nvSpPr>
        <p:spPr>
          <a:xfrm>
            <a:off x="6949440" y="1764792"/>
            <a:ext cx="2377440" cy="530352"/>
          </a:xfrm>
          <a:prstGeom prst="rect">
            <a:avLst/>
          </a:prstGeom>
          <a:solidFill>
            <a:srgbClr val="1A2333"/>
          </a:solidFill>
          <a:ln w="6350">
            <a:solidFill>
              <a:srgbClr val="1E293B"/>
            </a:solidFill>
            <a:prstDash val="solid"/>
          </a:ln>
        </p:spPr>
        <p:txBody>
          <a:bodyPr/>
          <a:lstStyle/>
          <a:p>
            <a:endParaRPr lang="en-GB"/>
          </a:p>
        </p:txBody>
      </p:sp>
      <p:sp>
        <p:nvSpPr>
          <p:cNvPr id="27" name="Text 25"/>
          <p:cNvSpPr/>
          <p:nvPr/>
        </p:nvSpPr>
        <p:spPr>
          <a:xfrm>
            <a:off x="7022592" y="1801368"/>
            <a:ext cx="223113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Decision Tree (best)</a:t>
            </a:r>
            <a:endParaRPr lang="en-US" sz="950" dirty="0"/>
          </a:p>
        </p:txBody>
      </p:sp>
      <p:sp>
        <p:nvSpPr>
          <p:cNvPr id="28" name="Shape 26"/>
          <p:cNvSpPr/>
          <p:nvPr/>
        </p:nvSpPr>
        <p:spPr>
          <a:xfrm>
            <a:off x="228600" y="2295144"/>
            <a:ext cx="2011680" cy="530352"/>
          </a:xfrm>
          <a:prstGeom prst="rect">
            <a:avLst/>
          </a:prstGeom>
          <a:solidFill>
            <a:srgbClr val="1E293B"/>
          </a:solidFill>
          <a:ln w="6350">
            <a:solidFill>
              <a:srgbClr val="1E293B"/>
            </a:solidFill>
            <a:prstDash val="solid"/>
          </a:ln>
        </p:spPr>
        <p:txBody>
          <a:bodyPr/>
          <a:lstStyle/>
          <a:p>
            <a:endParaRPr lang="en-GB"/>
          </a:p>
        </p:txBody>
      </p:sp>
      <p:sp>
        <p:nvSpPr>
          <p:cNvPr id="29" name="Text 27"/>
          <p:cNvSpPr/>
          <p:nvPr/>
        </p:nvSpPr>
        <p:spPr>
          <a:xfrm>
            <a:off x="301752" y="2331720"/>
            <a:ext cx="1865376" cy="457200"/>
          </a:xfrm>
          <a:prstGeom prst="rect">
            <a:avLst/>
          </a:prstGeom>
          <a:noFill/>
          <a:ln/>
        </p:spPr>
        <p:txBody>
          <a:bodyPr wrap="square" lIns="0" tIns="0" rIns="0" bIns="0" rtlCol="0" anchor="ctr"/>
          <a:lstStyle/>
          <a:p>
            <a:pPr marL="0" indent="0">
              <a:buNone/>
            </a:pPr>
            <a:r>
              <a:rPr lang="en-US" sz="1000" b="1" dirty="0">
                <a:solidFill>
                  <a:srgbClr val="94A3B8"/>
                </a:solidFill>
                <a:latin typeface="Calibri" pitchFamily="34" charset="0"/>
                <a:ea typeface="Calibri" pitchFamily="34" charset="-122"/>
                <a:cs typeface="Calibri" pitchFamily="34" charset="-120"/>
              </a:rPr>
              <a:t>Best Accuracy</a:t>
            </a:r>
            <a:endParaRPr lang="en-US" sz="1000" dirty="0"/>
          </a:p>
        </p:txBody>
      </p:sp>
      <p:sp>
        <p:nvSpPr>
          <p:cNvPr id="30" name="Shape 28"/>
          <p:cNvSpPr/>
          <p:nvPr/>
        </p:nvSpPr>
        <p:spPr>
          <a:xfrm>
            <a:off x="2286000" y="2295144"/>
            <a:ext cx="2103120" cy="530352"/>
          </a:xfrm>
          <a:prstGeom prst="rect">
            <a:avLst/>
          </a:prstGeom>
          <a:solidFill>
            <a:srgbClr val="111827"/>
          </a:solidFill>
          <a:ln w="6350">
            <a:solidFill>
              <a:srgbClr val="1E293B"/>
            </a:solidFill>
            <a:prstDash val="solid"/>
          </a:ln>
        </p:spPr>
        <p:txBody>
          <a:bodyPr/>
          <a:lstStyle/>
          <a:p>
            <a:endParaRPr lang="en-GB"/>
          </a:p>
        </p:txBody>
      </p:sp>
      <p:sp>
        <p:nvSpPr>
          <p:cNvPr id="31" name="Text 29"/>
          <p:cNvSpPr/>
          <p:nvPr/>
        </p:nvSpPr>
        <p:spPr>
          <a:xfrm>
            <a:off x="2359152" y="2331720"/>
            <a:ext cx="195681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High (ELM competitive)</a:t>
            </a:r>
            <a:endParaRPr lang="en-US" sz="950" dirty="0"/>
          </a:p>
        </p:txBody>
      </p:sp>
      <p:sp>
        <p:nvSpPr>
          <p:cNvPr id="32" name="Shape 30"/>
          <p:cNvSpPr/>
          <p:nvPr/>
        </p:nvSpPr>
        <p:spPr>
          <a:xfrm>
            <a:off x="4434840" y="2295144"/>
            <a:ext cx="2468880" cy="530352"/>
          </a:xfrm>
          <a:prstGeom prst="rect">
            <a:avLst/>
          </a:prstGeom>
          <a:solidFill>
            <a:srgbClr val="111827"/>
          </a:solidFill>
          <a:ln w="6350">
            <a:solidFill>
              <a:srgbClr val="1E293B"/>
            </a:solidFill>
            <a:prstDash val="solid"/>
          </a:ln>
        </p:spPr>
        <p:txBody>
          <a:bodyPr/>
          <a:lstStyle/>
          <a:p>
            <a:endParaRPr lang="en-GB"/>
          </a:p>
        </p:txBody>
      </p:sp>
      <p:sp>
        <p:nvSpPr>
          <p:cNvPr id="33" name="Text 31"/>
          <p:cNvSpPr/>
          <p:nvPr/>
        </p:nvSpPr>
        <p:spPr>
          <a:xfrm>
            <a:off x="4507992" y="2331720"/>
            <a:ext cx="2322576" cy="457200"/>
          </a:xfrm>
          <a:prstGeom prst="rect">
            <a:avLst/>
          </a:prstGeom>
          <a:noFill/>
          <a:ln/>
        </p:spPr>
        <p:txBody>
          <a:bodyPr wrap="square" lIns="0" tIns="0" rIns="0" bIns="0" rtlCol="0" anchor="ctr"/>
          <a:lstStyle/>
          <a:p>
            <a:pPr marL="0" indent="0">
              <a:buNone/>
            </a:pPr>
            <a:r>
              <a:rPr lang="en-US" sz="950" b="1" dirty="0">
                <a:solidFill>
                  <a:srgbClr val="22C55E"/>
                </a:solidFill>
                <a:latin typeface="Calibri" pitchFamily="34" charset="0"/>
                <a:ea typeface="Calibri" pitchFamily="34" charset="-122"/>
                <a:cs typeface="Calibri" pitchFamily="34" charset="-120"/>
              </a:rPr>
              <a:t>95.8% ★</a:t>
            </a:r>
            <a:endParaRPr lang="en-US" sz="950" dirty="0"/>
          </a:p>
        </p:txBody>
      </p:sp>
      <p:sp>
        <p:nvSpPr>
          <p:cNvPr id="34" name="Shape 32"/>
          <p:cNvSpPr/>
          <p:nvPr/>
        </p:nvSpPr>
        <p:spPr>
          <a:xfrm>
            <a:off x="6949440" y="2295144"/>
            <a:ext cx="2377440" cy="530352"/>
          </a:xfrm>
          <a:prstGeom prst="rect">
            <a:avLst/>
          </a:prstGeom>
          <a:solidFill>
            <a:srgbClr val="111827"/>
          </a:solidFill>
          <a:ln w="6350">
            <a:solidFill>
              <a:srgbClr val="1E293B"/>
            </a:solidFill>
            <a:prstDash val="solid"/>
          </a:ln>
        </p:spPr>
        <p:txBody>
          <a:bodyPr/>
          <a:lstStyle/>
          <a:p>
            <a:endParaRPr lang="en-GB"/>
          </a:p>
        </p:txBody>
      </p:sp>
      <p:sp>
        <p:nvSpPr>
          <p:cNvPr id="35" name="Text 33"/>
          <p:cNvSpPr/>
          <p:nvPr/>
        </p:nvSpPr>
        <p:spPr>
          <a:xfrm>
            <a:off x="7022592" y="2331720"/>
            <a:ext cx="223113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91.5%</a:t>
            </a:r>
            <a:endParaRPr lang="en-US" sz="950" dirty="0"/>
          </a:p>
        </p:txBody>
      </p:sp>
      <p:sp>
        <p:nvSpPr>
          <p:cNvPr id="36" name="Shape 34"/>
          <p:cNvSpPr/>
          <p:nvPr/>
        </p:nvSpPr>
        <p:spPr>
          <a:xfrm>
            <a:off x="228600" y="2825496"/>
            <a:ext cx="2011680" cy="530352"/>
          </a:xfrm>
          <a:prstGeom prst="rect">
            <a:avLst/>
          </a:prstGeom>
          <a:solidFill>
            <a:srgbClr val="1E293B"/>
          </a:solidFill>
          <a:ln w="6350">
            <a:solidFill>
              <a:srgbClr val="1E293B"/>
            </a:solidFill>
            <a:prstDash val="solid"/>
          </a:ln>
        </p:spPr>
        <p:txBody>
          <a:bodyPr/>
          <a:lstStyle/>
          <a:p>
            <a:endParaRPr lang="en-GB"/>
          </a:p>
        </p:txBody>
      </p:sp>
      <p:sp>
        <p:nvSpPr>
          <p:cNvPr id="37" name="Text 35"/>
          <p:cNvSpPr/>
          <p:nvPr/>
        </p:nvSpPr>
        <p:spPr>
          <a:xfrm>
            <a:off x="301752" y="2862072"/>
            <a:ext cx="1865376" cy="457200"/>
          </a:xfrm>
          <a:prstGeom prst="rect">
            <a:avLst/>
          </a:prstGeom>
          <a:noFill/>
          <a:ln/>
        </p:spPr>
        <p:txBody>
          <a:bodyPr wrap="square" lIns="0" tIns="0" rIns="0" bIns="0" rtlCol="0" anchor="ctr"/>
          <a:lstStyle/>
          <a:p>
            <a:pPr marL="0" indent="0">
              <a:buNone/>
            </a:pPr>
            <a:r>
              <a:rPr lang="en-US" sz="1000" b="1" dirty="0">
                <a:solidFill>
                  <a:srgbClr val="94A3B8"/>
                </a:solidFill>
                <a:latin typeface="Calibri" pitchFamily="34" charset="0"/>
                <a:ea typeface="Calibri" pitchFamily="34" charset="-122"/>
                <a:cs typeface="Calibri" pitchFamily="34" charset="-120"/>
              </a:rPr>
              <a:t>Dataset Size</a:t>
            </a:r>
            <a:endParaRPr lang="en-US" sz="1000" dirty="0"/>
          </a:p>
        </p:txBody>
      </p:sp>
      <p:sp>
        <p:nvSpPr>
          <p:cNvPr id="38" name="Shape 36"/>
          <p:cNvSpPr/>
          <p:nvPr/>
        </p:nvSpPr>
        <p:spPr>
          <a:xfrm>
            <a:off x="2286000" y="2825496"/>
            <a:ext cx="2103120" cy="530352"/>
          </a:xfrm>
          <a:prstGeom prst="rect">
            <a:avLst/>
          </a:prstGeom>
          <a:solidFill>
            <a:srgbClr val="1A2333"/>
          </a:solidFill>
          <a:ln w="6350">
            <a:solidFill>
              <a:srgbClr val="1E293B"/>
            </a:solidFill>
            <a:prstDash val="solid"/>
          </a:ln>
        </p:spPr>
        <p:txBody>
          <a:bodyPr/>
          <a:lstStyle/>
          <a:p>
            <a:endParaRPr lang="en-GB"/>
          </a:p>
        </p:txBody>
      </p:sp>
      <p:sp>
        <p:nvSpPr>
          <p:cNvPr id="39" name="Text 37"/>
          <p:cNvSpPr/>
          <p:nvPr/>
        </p:nvSpPr>
        <p:spPr>
          <a:xfrm>
            <a:off x="2359152" y="2862072"/>
            <a:ext cx="195681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UCI (11,055 samples)</a:t>
            </a:r>
            <a:endParaRPr lang="en-US" sz="950" dirty="0"/>
          </a:p>
        </p:txBody>
      </p:sp>
      <p:sp>
        <p:nvSpPr>
          <p:cNvPr id="40" name="Shape 38"/>
          <p:cNvSpPr/>
          <p:nvPr/>
        </p:nvSpPr>
        <p:spPr>
          <a:xfrm>
            <a:off x="4434840" y="2825496"/>
            <a:ext cx="2468880" cy="530352"/>
          </a:xfrm>
          <a:prstGeom prst="rect">
            <a:avLst/>
          </a:prstGeom>
          <a:solidFill>
            <a:srgbClr val="1A2333"/>
          </a:solidFill>
          <a:ln w="6350">
            <a:solidFill>
              <a:srgbClr val="1E293B"/>
            </a:solidFill>
            <a:prstDash val="solid"/>
          </a:ln>
        </p:spPr>
        <p:txBody>
          <a:bodyPr/>
          <a:lstStyle/>
          <a:p>
            <a:endParaRPr lang="en-GB"/>
          </a:p>
        </p:txBody>
      </p:sp>
      <p:sp>
        <p:nvSpPr>
          <p:cNvPr id="41" name="Text 39"/>
          <p:cNvSpPr/>
          <p:nvPr/>
        </p:nvSpPr>
        <p:spPr>
          <a:xfrm>
            <a:off x="4507992" y="2862072"/>
            <a:ext cx="232257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PhishTank + UCI</a:t>
            </a:r>
            <a:endParaRPr lang="en-US" sz="950" dirty="0"/>
          </a:p>
        </p:txBody>
      </p:sp>
      <p:sp>
        <p:nvSpPr>
          <p:cNvPr id="42" name="Shape 40"/>
          <p:cNvSpPr/>
          <p:nvPr/>
        </p:nvSpPr>
        <p:spPr>
          <a:xfrm>
            <a:off x="6949440" y="2825496"/>
            <a:ext cx="2377440" cy="530352"/>
          </a:xfrm>
          <a:prstGeom prst="rect">
            <a:avLst/>
          </a:prstGeom>
          <a:solidFill>
            <a:srgbClr val="1A2333"/>
          </a:solidFill>
          <a:ln w="6350">
            <a:solidFill>
              <a:srgbClr val="1E293B"/>
            </a:solidFill>
            <a:prstDash val="solid"/>
          </a:ln>
        </p:spPr>
        <p:txBody>
          <a:bodyPr/>
          <a:lstStyle/>
          <a:p>
            <a:endParaRPr lang="en-GB"/>
          </a:p>
        </p:txBody>
      </p:sp>
      <p:sp>
        <p:nvSpPr>
          <p:cNvPr id="43" name="Text 41"/>
          <p:cNvSpPr/>
          <p:nvPr/>
        </p:nvSpPr>
        <p:spPr>
          <a:xfrm>
            <a:off x="7022592" y="2862072"/>
            <a:ext cx="223113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1,353 URLs</a:t>
            </a:r>
            <a:endParaRPr lang="en-US" sz="950" dirty="0"/>
          </a:p>
        </p:txBody>
      </p:sp>
      <p:sp>
        <p:nvSpPr>
          <p:cNvPr id="44" name="Shape 42"/>
          <p:cNvSpPr/>
          <p:nvPr/>
        </p:nvSpPr>
        <p:spPr>
          <a:xfrm>
            <a:off x="228600" y="3355848"/>
            <a:ext cx="2011680" cy="530352"/>
          </a:xfrm>
          <a:prstGeom prst="rect">
            <a:avLst/>
          </a:prstGeom>
          <a:solidFill>
            <a:srgbClr val="1E293B"/>
          </a:solidFill>
          <a:ln w="6350">
            <a:solidFill>
              <a:srgbClr val="1E293B"/>
            </a:solidFill>
            <a:prstDash val="solid"/>
          </a:ln>
        </p:spPr>
        <p:txBody>
          <a:bodyPr/>
          <a:lstStyle/>
          <a:p>
            <a:endParaRPr lang="en-GB"/>
          </a:p>
        </p:txBody>
      </p:sp>
      <p:sp>
        <p:nvSpPr>
          <p:cNvPr id="45" name="Text 43"/>
          <p:cNvSpPr/>
          <p:nvPr/>
        </p:nvSpPr>
        <p:spPr>
          <a:xfrm>
            <a:off x="301752" y="3392424"/>
            <a:ext cx="1865376" cy="457200"/>
          </a:xfrm>
          <a:prstGeom prst="rect">
            <a:avLst/>
          </a:prstGeom>
          <a:noFill/>
          <a:ln/>
        </p:spPr>
        <p:txBody>
          <a:bodyPr wrap="square" lIns="0" tIns="0" rIns="0" bIns="0" rtlCol="0" anchor="ctr"/>
          <a:lstStyle/>
          <a:p>
            <a:pPr marL="0" indent="0">
              <a:buNone/>
            </a:pPr>
            <a:r>
              <a:rPr lang="en-US" sz="1000" b="1" dirty="0">
                <a:solidFill>
                  <a:srgbClr val="94A3B8"/>
                </a:solidFill>
                <a:latin typeface="Calibri" pitchFamily="34" charset="0"/>
                <a:ea typeface="Calibri" pitchFamily="34" charset="-122"/>
                <a:cs typeface="Calibri" pitchFamily="34" charset="-120"/>
              </a:rPr>
              <a:t>Classification</a:t>
            </a:r>
            <a:endParaRPr lang="en-US" sz="1000" dirty="0"/>
          </a:p>
        </p:txBody>
      </p:sp>
      <p:sp>
        <p:nvSpPr>
          <p:cNvPr id="46" name="Shape 44"/>
          <p:cNvSpPr/>
          <p:nvPr/>
        </p:nvSpPr>
        <p:spPr>
          <a:xfrm>
            <a:off x="2286000" y="3355848"/>
            <a:ext cx="2103120" cy="530352"/>
          </a:xfrm>
          <a:prstGeom prst="rect">
            <a:avLst/>
          </a:prstGeom>
          <a:solidFill>
            <a:srgbClr val="111827"/>
          </a:solidFill>
          <a:ln w="6350">
            <a:solidFill>
              <a:srgbClr val="1E293B"/>
            </a:solidFill>
            <a:prstDash val="solid"/>
          </a:ln>
        </p:spPr>
        <p:txBody>
          <a:bodyPr/>
          <a:lstStyle/>
          <a:p>
            <a:endParaRPr lang="en-GB"/>
          </a:p>
        </p:txBody>
      </p:sp>
      <p:sp>
        <p:nvSpPr>
          <p:cNvPr id="47" name="Text 45"/>
          <p:cNvSpPr/>
          <p:nvPr/>
        </p:nvSpPr>
        <p:spPr>
          <a:xfrm>
            <a:off x="2359152" y="3392424"/>
            <a:ext cx="195681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Binary (+1/-1)</a:t>
            </a:r>
            <a:endParaRPr lang="en-US" sz="950" dirty="0"/>
          </a:p>
        </p:txBody>
      </p:sp>
      <p:sp>
        <p:nvSpPr>
          <p:cNvPr id="48" name="Shape 46"/>
          <p:cNvSpPr/>
          <p:nvPr/>
        </p:nvSpPr>
        <p:spPr>
          <a:xfrm>
            <a:off x="4434840" y="3355848"/>
            <a:ext cx="2468880" cy="530352"/>
          </a:xfrm>
          <a:prstGeom prst="rect">
            <a:avLst/>
          </a:prstGeom>
          <a:solidFill>
            <a:srgbClr val="111827"/>
          </a:solidFill>
          <a:ln w="6350">
            <a:solidFill>
              <a:srgbClr val="1E293B"/>
            </a:solidFill>
            <a:prstDash val="solid"/>
          </a:ln>
        </p:spPr>
        <p:txBody>
          <a:bodyPr/>
          <a:lstStyle/>
          <a:p>
            <a:endParaRPr lang="en-GB"/>
          </a:p>
        </p:txBody>
      </p:sp>
      <p:sp>
        <p:nvSpPr>
          <p:cNvPr id="49" name="Text 47"/>
          <p:cNvSpPr/>
          <p:nvPr/>
        </p:nvSpPr>
        <p:spPr>
          <a:xfrm>
            <a:off x="4507992" y="3392424"/>
            <a:ext cx="232257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Binary</a:t>
            </a:r>
            <a:endParaRPr lang="en-US" sz="950" dirty="0"/>
          </a:p>
        </p:txBody>
      </p:sp>
      <p:sp>
        <p:nvSpPr>
          <p:cNvPr id="50" name="Shape 48"/>
          <p:cNvSpPr/>
          <p:nvPr/>
        </p:nvSpPr>
        <p:spPr>
          <a:xfrm>
            <a:off x="6949440" y="3355848"/>
            <a:ext cx="2377440" cy="530352"/>
          </a:xfrm>
          <a:prstGeom prst="rect">
            <a:avLst/>
          </a:prstGeom>
          <a:solidFill>
            <a:srgbClr val="111827"/>
          </a:solidFill>
          <a:ln w="6350">
            <a:solidFill>
              <a:srgbClr val="1E293B"/>
            </a:solidFill>
            <a:prstDash val="solid"/>
          </a:ln>
        </p:spPr>
        <p:txBody>
          <a:bodyPr/>
          <a:lstStyle/>
          <a:p>
            <a:endParaRPr lang="en-GB"/>
          </a:p>
        </p:txBody>
      </p:sp>
      <p:sp>
        <p:nvSpPr>
          <p:cNvPr id="51" name="Text 49"/>
          <p:cNvSpPr/>
          <p:nvPr/>
        </p:nvSpPr>
        <p:spPr>
          <a:xfrm>
            <a:off x="7022592" y="3392424"/>
            <a:ext cx="223113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3-class (phishing/legit/suspicious)</a:t>
            </a:r>
            <a:endParaRPr lang="en-US" sz="950" dirty="0"/>
          </a:p>
        </p:txBody>
      </p:sp>
      <p:sp>
        <p:nvSpPr>
          <p:cNvPr id="52" name="Shape 50"/>
          <p:cNvSpPr/>
          <p:nvPr/>
        </p:nvSpPr>
        <p:spPr>
          <a:xfrm>
            <a:off x="228600" y="3886200"/>
            <a:ext cx="2011680" cy="530352"/>
          </a:xfrm>
          <a:prstGeom prst="rect">
            <a:avLst/>
          </a:prstGeom>
          <a:solidFill>
            <a:srgbClr val="1E293B"/>
          </a:solidFill>
          <a:ln w="6350">
            <a:solidFill>
              <a:srgbClr val="1E293B"/>
            </a:solidFill>
            <a:prstDash val="solid"/>
          </a:ln>
        </p:spPr>
        <p:txBody>
          <a:bodyPr/>
          <a:lstStyle/>
          <a:p>
            <a:endParaRPr lang="en-GB"/>
          </a:p>
        </p:txBody>
      </p:sp>
      <p:sp>
        <p:nvSpPr>
          <p:cNvPr id="53" name="Text 51"/>
          <p:cNvSpPr/>
          <p:nvPr/>
        </p:nvSpPr>
        <p:spPr>
          <a:xfrm>
            <a:off x="301752" y="3922776"/>
            <a:ext cx="1865376" cy="457200"/>
          </a:xfrm>
          <a:prstGeom prst="rect">
            <a:avLst/>
          </a:prstGeom>
          <a:noFill/>
          <a:ln/>
        </p:spPr>
        <p:txBody>
          <a:bodyPr wrap="square" lIns="0" tIns="0" rIns="0" bIns="0" rtlCol="0" anchor="ctr"/>
          <a:lstStyle/>
          <a:p>
            <a:pPr marL="0" indent="0">
              <a:buNone/>
            </a:pPr>
            <a:r>
              <a:rPr lang="en-US" sz="1000" b="1" dirty="0">
                <a:solidFill>
                  <a:srgbClr val="94A3B8"/>
                </a:solidFill>
                <a:latin typeface="Calibri" pitchFamily="34" charset="0"/>
                <a:ea typeface="Calibri" pitchFamily="34" charset="-122"/>
                <a:cs typeface="Calibri" pitchFamily="34" charset="-120"/>
              </a:rPr>
              <a:t>Key Strength</a:t>
            </a:r>
            <a:endParaRPr lang="en-US" sz="1000" dirty="0"/>
          </a:p>
        </p:txBody>
      </p:sp>
      <p:sp>
        <p:nvSpPr>
          <p:cNvPr id="54" name="Shape 52"/>
          <p:cNvSpPr/>
          <p:nvPr/>
        </p:nvSpPr>
        <p:spPr>
          <a:xfrm>
            <a:off x="2286000" y="3886200"/>
            <a:ext cx="2103120" cy="530352"/>
          </a:xfrm>
          <a:prstGeom prst="rect">
            <a:avLst/>
          </a:prstGeom>
          <a:solidFill>
            <a:srgbClr val="1A2333"/>
          </a:solidFill>
          <a:ln w="6350">
            <a:solidFill>
              <a:srgbClr val="1E293B"/>
            </a:solidFill>
            <a:prstDash val="solid"/>
          </a:ln>
        </p:spPr>
        <p:txBody>
          <a:bodyPr/>
          <a:lstStyle/>
          <a:p>
            <a:endParaRPr lang="en-GB"/>
          </a:p>
        </p:txBody>
      </p:sp>
      <p:sp>
        <p:nvSpPr>
          <p:cNvPr id="55" name="Text 53"/>
          <p:cNvSpPr/>
          <p:nvPr/>
        </p:nvSpPr>
        <p:spPr>
          <a:xfrm>
            <a:off x="2359152" y="3922776"/>
            <a:ext cx="195681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Fast training speed</a:t>
            </a:r>
            <a:endParaRPr lang="en-US" sz="950" dirty="0"/>
          </a:p>
        </p:txBody>
      </p:sp>
      <p:sp>
        <p:nvSpPr>
          <p:cNvPr id="56" name="Shape 54"/>
          <p:cNvSpPr/>
          <p:nvPr/>
        </p:nvSpPr>
        <p:spPr>
          <a:xfrm>
            <a:off x="4434840" y="3886200"/>
            <a:ext cx="2468880" cy="530352"/>
          </a:xfrm>
          <a:prstGeom prst="rect">
            <a:avLst/>
          </a:prstGeom>
          <a:solidFill>
            <a:srgbClr val="1A2333"/>
          </a:solidFill>
          <a:ln w="6350">
            <a:solidFill>
              <a:srgbClr val="1E293B"/>
            </a:solidFill>
            <a:prstDash val="solid"/>
          </a:ln>
        </p:spPr>
        <p:txBody>
          <a:bodyPr/>
          <a:lstStyle/>
          <a:p>
            <a:endParaRPr lang="en-GB"/>
          </a:p>
        </p:txBody>
      </p:sp>
      <p:sp>
        <p:nvSpPr>
          <p:cNvPr id="57" name="Text 55"/>
          <p:cNvSpPr/>
          <p:nvPr/>
        </p:nvSpPr>
        <p:spPr>
          <a:xfrm>
            <a:off x="4507992" y="3922776"/>
            <a:ext cx="232257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Rich multi-modal features</a:t>
            </a:r>
            <a:endParaRPr lang="en-US" sz="950" dirty="0"/>
          </a:p>
        </p:txBody>
      </p:sp>
      <p:sp>
        <p:nvSpPr>
          <p:cNvPr id="58" name="Shape 56"/>
          <p:cNvSpPr/>
          <p:nvPr/>
        </p:nvSpPr>
        <p:spPr>
          <a:xfrm>
            <a:off x="6949440" y="3886200"/>
            <a:ext cx="2377440" cy="530352"/>
          </a:xfrm>
          <a:prstGeom prst="rect">
            <a:avLst/>
          </a:prstGeom>
          <a:solidFill>
            <a:srgbClr val="1A2333"/>
          </a:solidFill>
          <a:ln w="6350">
            <a:solidFill>
              <a:srgbClr val="1E293B"/>
            </a:solidFill>
            <a:prstDash val="solid"/>
          </a:ln>
        </p:spPr>
        <p:txBody>
          <a:bodyPr/>
          <a:lstStyle/>
          <a:p>
            <a:endParaRPr lang="en-GB"/>
          </a:p>
        </p:txBody>
      </p:sp>
      <p:sp>
        <p:nvSpPr>
          <p:cNvPr id="59" name="Text 57"/>
          <p:cNvSpPr/>
          <p:nvPr/>
        </p:nvSpPr>
        <p:spPr>
          <a:xfrm>
            <a:off x="7022592" y="3922776"/>
            <a:ext cx="223113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Simple &amp; interpretable</a:t>
            </a:r>
            <a:endParaRPr lang="en-US" sz="950" dirty="0"/>
          </a:p>
        </p:txBody>
      </p:sp>
      <p:sp>
        <p:nvSpPr>
          <p:cNvPr id="60" name="Shape 58"/>
          <p:cNvSpPr/>
          <p:nvPr/>
        </p:nvSpPr>
        <p:spPr>
          <a:xfrm>
            <a:off x="228600" y="4416552"/>
            <a:ext cx="2011680" cy="530352"/>
          </a:xfrm>
          <a:prstGeom prst="rect">
            <a:avLst/>
          </a:prstGeom>
          <a:solidFill>
            <a:srgbClr val="1E293B"/>
          </a:solidFill>
          <a:ln w="6350">
            <a:solidFill>
              <a:srgbClr val="1E293B"/>
            </a:solidFill>
            <a:prstDash val="solid"/>
          </a:ln>
        </p:spPr>
        <p:txBody>
          <a:bodyPr/>
          <a:lstStyle/>
          <a:p>
            <a:endParaRPr lang="en-GB"/>
          </a:p>
        </p:txBody>
      </p:sp>
      <p:sp>
        <p:nvSpPr>
          <p:cNvPr id="61" name="Text 59"/>
          <p:cNvSpPr/>
          <p:nvPr/>
        </p:nvSpPr>
        <p:spPr>
          <a:xfrm>
            <a:off x="301752" y="4453128"/>
            <a:ext cx="1865376" cy="457200"/>
          </a:xfrm>
          <a:prstGeom prst="rect">
            <a:avLst/>
          </a:prstGeom>
          <a:noFill/>
          <a:ln/>
        </p:spPr>
        <p:txBody>
          <a:bodyPr wrap="square" lIns="0" tIns="0" rIns="0" bIns="0" rtlCol="0" anchor="ctr"/>
          <a:lstStyle/>
          <a:p>
            <a:pPr marL="0" indent="0">
              <a:buNone/>
            </a:pPr>
            <a:r>
              <a:rPr lang="en-US" sz="1000" b="1" dirty="0">
                <a:solidFill>
                  <a:srgbClr val="94A3B8"/>
                </a:solidFill>
                <a:latin typeface="Calibri" pitchFamily="34" charset="0"/>
                <a:ea typeface="Calibri" pitchFamily="34" charset="-122"/>
                <a:cs typeface="Calibri" pitchFamily="34" charset="-120"/>
              </a:rPr>
              <a:t>Key Weakness</a:t>
            </a:r>
            <a:endParaRPr lang="en-US" sz="1000" dirty="0"/>
          </a:p>
        </p:txBody>
      </p:sp>
      <p:sp>
        <p:nvSpPr>
          <p:cNvPr id="62" name="Shape 60"/>
          <p:cNvSpPr/>
          <p:nvPr/>
        </p:nvSpPr>
        <p:spPr>
          <a:xfrm>
            <a:off x="2286000" y="4416552"/>
            <a:ext cx="2103120" cy="530352"/>
          </a:xfrm>
          <a:prstGeom prst="rect">
            <a:avLst/>
          </a:prstGeom>
          <a:solidFill>
            <a:srgbClr val="111827"/>
          </a:solidFill>
          <a:ln w="6350">
            <a:solidFill>
              <a:srgbClr val="1E293B"/>
            </a:solidFill>
            <a:prstDash val="solid"/>
          </a:ln>
        </p:spPr>
        <p:txBody>
          <a:bodyPr/>
          <a:lstStyle/>
          <a:p>
            <a:endParaRPr lang="en-GB"/>
          </a:p>
        </p:txBody>
      </p:sp>
      <p:sp>
        <p:nvSpPr>
          <p:cNvPr id="63" name="Text 61"/>
          <p:cNvSpPr/>
          <p:nvPr/>
        </p:nvSpPr>
        <p:spPr>
          <a:xfrm>
            <a:off x="2359152" y="4453128"/>
            <a:ext cx="195681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Single layer NN architecture</a:t>
            </a:r>
            <a:endParaRPr lang="en-US" sz="950" dirty="0"/>
          </a:p>
        </p:txBody>
      </p:sp>
      <p:sp>
        <p:nvSpPr>
          <p:cNvPr id="64" name="Shape 62"/>
          <p:cNvSpPr/>
          <p:nvPr/>
        </p:nvSpPr>
        <p:spPr>
          <a:xfrm>
            <a:off x="4434840" y="4416552"/>
            <a:ext cx="2468880" cy="530352"/>
          </a:xfrm>
          <a:prstGeom prst="rect">
            <a:avLst/>
          </a:prstGeom>
          <a:solidFill>
            <a:srgbClr val="111827"/>
          </a:solidFill>
          <a:ln w="6350">
            <a:solidFill>
              <a:srgbClr val="1E293B"/>
            </a:solidFill>
            <a:prstDash val="solid"/>
          </a:ln>
        </p:spPr>
        <p:txBody>
          <a:bodyPr/>
          <a:lstStyle/>
          <a:p>
            <a:endParaRPr lang="en-GB"/>
          </a:p>
        </p:txBody>
      </p:sp>
      <p:sp>
        <p:nvSpPr>
          <p:cNvPr id="65" name="Text 63"/>
          <p:cNvSpPr/>
          <p:nvPr/>
        </p:nvSpPr>
        <p:spPr>
          <a:xfrm>
            <a:off x="4507992" y="4453128"/>
            <a:ext cx="232257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Complex pipeline</a:t>
            </a:r>
            <a:endParaRPr lang="en-US" sz="950" dirty="0"/>
          </a:p>
        </p:txBody>
      </p:sp>
      <p:sp>
        <p:nvSpPr>
          <p:cNvPr id="66" name="Shape 64"/>
          <p:cNvSpPr/>
          <p:nvPr/>
        </p:nvSpPr>
        <p:spPr>
          <a:xfrm>
            <a:off x="6949440" y="4416552"/>
            <a:ext cx="2377440" cy="530352"/>
          </a:xfrm>
          <a:prstGeom prst="rect">
            <a:avLst/>
          </a:prstGeom>
          <a:solidFill>
            <a:srgbClr val="111827"/>
          </a:solidFill>
          <a:ln w="6350">
            <a:solidFill>
              <a:srgbClr val="1E293B"/>
            </a:solidFill>
            <a:prstDash val="solid"/>
          </a:ln>
        </p:spPr>
        <p:txBody>
          <a:bodyPr/>
          <a:lstStyle/>
          <a:p>
            <a:endParaRPr lang="en-GB"/>
          </a:p>
        </p:txBody>
      </p:sp>
      <p:sp>
        <p:nvSpPr>
          <p:cNvPr id="67" name="Text 65"/>
          <p:cNvSpPr/>
          <p:nvPr/>
        </p:nvSpPr>
        <p:spPr>
          <a:xfrm>
            <a:off x="7022592" y="4453128"/>
            <a:ext cx="2231136" cy="45720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Overfitting risk in Decision Tree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D4FF"/>
          </a:solidFill>
          <a:ln w="12700">
            <a:solidFill>
              <a:srgbClr val="00D4FF"/>
            </a:solidFill>
            <a:prstDash val="solid"/>
          </a:ln>
        </p:spPr>
        <p:txBody>
          <a:bodyPr/>
          <a:lstStyle/>
          <a:p>
            <a:endParaRPr lang="en-GB"/>
          </a:p>
        </p:txBody>
      </p:sp>
      <p:sp>
        <p:nvSpPr>
          <p:cNvPr id="3" name="Text 1"/>
          <p:cNvSpPr/>
          <p:nvPr/>
        </p:nvSpPr>
        <p:spPr>
          <a:xfrm>
            <a:off x="274320" y="164592"/>
            <a:ext cx="3200400" cy="320040"/>
          </a:xfrm>
          <a:prstGeom prst="rect">
            <a:avLst/>
          </a:prstGeom>
          <a:solidFill>
            <a:srgbClr val="0C2A3A"/>
          </a:solidFill>
          <a:ln/>
        </p:spPr>
        <p:txBody>
          <a:bodyPr wrap="square" lIns="25400" tIns="25400" rIns="25400" bIns="25400" rtlCol="0" anchor="ctr"/>
          <a:lstStyle/>
          <a:p>
            <a:pPr marL="0" indent="0" algn="ctr">
              <a:buNone/>
            </a:pPr>
            <a:r>
              <a:rPr lang="en-US" sz="1100" b="1" dirty="0">
                <a:solidFill>
                  <a:srgbClr val="00D4FF"/>
                </a:solidFill>
                <a:latin typeface="Calibri" pitchFamily="34" charset="0"/>
                <a:ea typeface="Calibri" pitchFamily="34" charset="-122"/>
                <a:cs typeface="Calibri" pitchFamily="34" charset="-120"/>
              </a:rPr>
              <a:t>Our Implementation</a:t>
            </a:r>
            <a:endParaRPr lang="en-US" sz="1100" dirty="0"/>
          </a:p>
        </p:txBody>
      </p:sp>
      <p:sp>
        <p:nvSpPr>
          <p:cNvPr id="4" name="Text 2"/>
          <p:cNvSpPr/>
          <p:nvPr/>
        </p:nvSpPr>
        <p:spPr>
          <a:xfrm>
            <a:off x="282484" y="566928"/>
            <a:ext cx="8595360" cy="4114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Dataset &amp; Feature Engineering – UCI Repository Phishing DS:</a:t>
            </a:r>
            <a:endParaRPr lang="en-US" sz="2600" dirty="0"/>
          </a:p>
        </p:txBody>
      </p:sp>
      <p:sp>
        <p:nvSpPr>
          <p:cNvPr id="5" name="Shape 3"/>
          <p:cNvSpPr/>
          <p:nvPr/>
        </p:nvSpPr>
        <p:spPr>
          <a:xfrm>
            <a:off x="228600" y="1097280"/>
            <a:ext cx="2057400" cy="868680"/>
          </a:xfrm>
          <a:prstGeom prst="rect">
            <a:avLst/>
          </a:prstGeom>
          <a:solidFill>
            <a:srgbClr val="1A2333"/>
          </a:solidFill>
          <a:ln w="15240">
            <a:solidFill>
              <a:srgbClr val="00D4FF"/>
            </a:solidFill>
            <a:prstDash val="solid"/>
          </a:ln>
        </p:spPr>
        <p:txBody>
          <a:bodyPr/>
          <a:lstStyle/>
          <a:p>
            <a:endParaRPr lang="en-GB"/>
          </a:p>
        </p:txBody>
      </p:sp>
      <p:sp>
        <p:nvSpPr>
          <p:cNvPr id="6" name="Text 4"/>
          <p:cNvSpPr/>
          <p:nvPr/>
        </p:nvSpPr>
        <p:spPr>
          <a:xfrm>
            <a:off x="228600" y="1115568"/>
            <a:ext cx="2057400" cy="502920"/>
          </a:xfrm>
          <a:prstGeom prst="rect">
            <a:avLst/>
          </a:prstGeom>
          <a:noFill/>
          <a:ln/>
        </p:spPr>
        <p:txBody>
          <a:bodyPr wrap="square" lIns="0" tIns="0" rIns="0" bIns="0" rtlCol="0" anchor="ctr"/>
          <a:lstStyle/>
          <a:p>
            <a:pPr marL="0" indent="0" algn="ctr">
              <a:buNone/>
            </a:pPr>
            <a:r>
              <a:rPr lang="en-US" sz="2600" b="1" dirty="0">
                <a:solidFill>
                  <a:srgbClr val="00D4FF"/>
                </a:solidFill>
                <a:latin typeface="Calibri" pitchFamily="34" charset="0"/>
                <a:ea typeface="Calibri" pitchFamily="34" charset="-122"/>
                <a:cs typeface="Calibri" pitchFamily="34" charset="-120"/>
              </a:rPr>
              <a:t>11,055</a:t>
            </a:r>
            <a:endParaRPr lang="en-US" sz="2600" dirty="0"/>
          </a:p>
        </p:txBody>
      </p:sp>
      <p:sp>
        <p:nvSpPr>
          <p:cNvPr id="7" name="Text 5"/>
          <p:cNvSpPr/>
          <p:nvPr/>
        </p:nvSpPr>
        <p:spPr>
          <a:xfrm>
            <a:off x="228600" y="1600200"/>
            <a:ext cx="205740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Website Samples</a:t>
            </a:r>
            <a:endParaRPr lang="en-US" sz="950" dirty="0"/>
          </a:p>
        </p:txBody>
      </p:sp>
      <p:sp>
        <p:nvSpPr>
          <p:cNvPr id="8" name="Shape 6"/>
          <p:cNvSpPr/>
          <p:nvPr/>
        </p:nvSpPr>
        <p:spPr>
          <a:xfrm>
            <a:off x="2441448" y="1097280"/>
            <a:ext cx="2057400" cy="868680"/>
          </a:xfrm>
          <a:prstGeom prst="rect">
            <a:avLst/>
          </a:prstGeom>
          <a:solidFill>
            <a:srgbClr val="1A2333"/>
          </a:solidFill>
          <a:ln w="15240">
            <a:solidFill>
              <a:srgbClr val="00D4FF"/>
            </a:solidFill>
            <a:prstDash val="solid"/>
          </a:ln>
        </p:spPr>
        <p:txBody>
          <a:bodyPr/>
          <a:lstStyle/>
          <a:p>
            <a:endParaRPr lang="en-GB"/>
          </a:p>
        </p:txBody>
      </p:sp>
      <p:sp>
        <p:nvSpPr>
          <p:cNvPr id="9" name="Text 7"/>
          <p:cNvSpPr/>
          <p:nvPr/>
        </p:nvSpPr>
        <p:spPr>
          <a:xfrm>
            <a:off x="2441448" y="1115568"/>
            <a:ext cx="2057400" cy="502920"/>
          </a:xfrm>
          <a:prstGeom prst="rect">
            <a:avLst/>
          </a:prstGeom>
          <a:noFill/>
          <a:ln/>
        </p:spPr>
        <p:txBody>
          <a:bodyPr wrap="square" lIns="0" tIns="0" rIns="0" bIns="0" rtlCol="0" anchor="ctr"/>
          <a:lstStyle/>
          <a:p>
            <a:pPr marL="0" indent="0" algn="ctr">
              <a:buNone/>
            </a:pPr>
            <a:r>
              <a:rPr lang="en-US" sz="2600" b="1" dirty="0">
                <a:solidFill>
                  <a:srgbClr val="00D4FF"/>
                </a:solidFill>
                <a:latin typeface="Calibri" pitchFamily="34" charset="0"/>
                <a:ea typeface="Calibri" pitchFamily="34" charset="-122"/>
                <a:cs typeface="Calibri" pitchFamily="34" charset="-120"/>
              </a:rPr>
              <a:t>30</a:t>
            </a:r>
            <a:endParaRPr lang="en-US" sz="2600" dirty="0"/>
          </a:p>
        </p:txBody>
      </p:sp>
      <p:sp>
        <p:nvSpPr>
          <p:cNvPr id="10" name="Text 8"/>
          <p:cNvSpPr/>
          <p:nvPr/>
        </p:nvSpPr>
        <p:spPr>
          <a:xfrm>
            <a:off x="2441448" y="1600200"/>
            <a:ext cx="205740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Input Features</a:t>
            </a:r>
            <a:endParaRPr lang="en-US" sz="950" dirty="0"/>
          </a:p>
        </p:txBody>
      </p:sp>
      <p:sp>
        <p:nvSpPr>
          <p:cNvPr id="11" name="Shape 9"/>
          <p:cNvSpPr/>
          <p:nvPr/>
        </p:nvSpPr>
        <p:spPr>
          <a:xfrm>
            <a:off x="4654296" y="1097280"/>
            <a:ext cx="2057400" cy="868680"/>
          </a:xfrm>
          <a:prstGeom prst="rect">
            <a:avLst/>
          </a:prstGeom>
          <a:solidFill>
            <a:srgbClr val="1A2333"/>
          </a:solidFill>
          <a:ln w="15240">
            <a:solidFill>
              <a:srgbClr val="22C55E"/>
            </a:solidFill>
            <a:prstDash val="solid"/>
          </a:ln>
        </p:spPr>
        <p:txBody>
          <a:bodyPr/>
          <a:lstStyle/>
          <a:p>
            <a:endParaRPr lang="en-GB"/>
          </a:p>
        </p:txBody>
      </p:sp>
      <p:sp>
        <p:nvSpPr>
          <p:cNvPr id="12" name="Text 10"/>
          <p:cNvSpPr/>
          <p:nvPr/>
        </p:nvSpPr>
        <p:spPr>
          <a:xfrm>
            <a:off x="4654296" y="1115568"/>
            <a:ext cx="2057400" cy="502920"/>
          </a:xfrm>
          <a:prstGeom prst="rect">
            <a:avLst/>
          </a:prstGeom>
          <a:noFill/>
          <a:ln/>
        </p:spPr>
        <p:txBody>
          <a:bodyPr wrap="square" lIns="0" tIns="0" rIns="0" bIns="0" rtlCol="0" anchor="ctr"/>
          <a:lstStyle/>
          <a:p>
            <a:pPr marL="0" indent="0" algn="ctr">
              <a:buNone/>
            </a:pPr>
            <a:r>
              <a:rPr lang="en-US" sz="2600" b="1" dirty="0">
                <a:solidFill>
                  <a:srgbClr val="22C55E"/>
                </a:solidFill>
                <a:latin typeface="Calibri" pitchFamily="34" charset="0"/>
                <a:ea typeface="Calibri" pitchFamily="34" charset="-122"/>
                <a:cs typeface="Calibri" pitchFamily="34" charset="-120"/>
              </a:rPr>
              <a:t>6,157</a:t>
            </a:r>
            <a:endParaRPr lang="en-US" sz="2600" dirty="0"/>
          </a:p>
        </p:txBody>
      </p:sp>
      <p:sp>
        <p:nvSpPr>
          <p:cNvPr id="13" name="Text 11"/>
          <p:cNvSpPr/>
          <p:nvPr/>
        </p:nvSpPr>
        <p:spPr>
          <a:xfrm>
            <a:off x="4654296" y="1600200"/>
            <a:ext cx="205740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Legitimate (55.7%)</a:t>
            </a:r>
            <a:endParaRPr lang="en-US" sz="950" dirty="0"/>
          </a:p>
        </p:txBody>
      </p:sp>
      <p:sp>
        <p:nvSpPr>
          <p:cNvPr id="14" name="Shape 12"/>
          <p:cNvSpPr/>
          <p:nvPr/>
        </p:nvSpPr>
        <p:spPr>
          <a:xfrm>
            <a:off x="6867144" y="1097280"/>
            <a:ext cx="2057400" cy="868680"/>
          </a:xfrm>
          <a:prstGeom prst="rect">
            <a:avLst/>
          </a:prstGeom>
          <a:solidFill>
            <a:srgbClr val="1A2333"/>
          </a:solidFill>
          <a:ln w="15240">
            <a:solidFill>
              <a:srgbClr val="EF4444"/>
            </a:solidFill>
            <a:prstDash val="solid"/>
          </a:ln>
        </p:spPr>
        <p:txBody>
          <a:bodyPr/>
          <a:lstStyle/>
          <a:p>
            <a:endParaRPr lang="en-GB"/>
          </a:p>
        </p:txBody>
      </p:sp>
      <p:sp>
        <p:nvSpPr>
          <p:cNvPr id="15" name="Text 13"/>
          <p:cNvSpPr/>
          <p:nvPr/>
        </p:nvSpPr>
        <p:spPr>
          <a:xfrm>
            <a:off x="6867144" y="1115568"/>
            <a:ext cx="2057400" cy="502920"/>
          </a:xfrm>
          <a:prstGeom prst="rect">
            <a:avLst/>
          </a:prstGeom>
          <a:noFill/>
          <a:ln/>
        </p:spPr>
        <p:txBody>
          <a:bodyPr wrap="square" lIns="0" tIns="0" rIns="0" bIns="0" rtlCol="0" anchor="ctr"/>
          <a:lstStyle/>
          <a:p>
            <a:pPr marL="0" indent="0" algn="ctr">
              <a:buNone/>
            </a:pPr>
            <a:r>
              <a:rPr lang="en-US" sz="2600" b="1" dirty="0">
                <a:solidFill>
                  <a:srgbClr val="EF4444"/>
                </a:solidFill>
                <a:latin typeface="Calibri" pitchFamily="34" charset="0"/>
                <a:ea typeface="Calibri" pitchFamily="34" charset="-122"/>
                <a:cs typeface="Calibri" pitchFamily="34" charset="-120"/>
              </a:rPr>
              <a:t>4,898</a:t>
            </a:r>
            <a:endParaRPr lang="en-US" sz="2600" dirty="0"/>
          </a:p>
        </p:txBody>
      </p:sp>
      <p:sp>
        <p:nvSpPr>
          <p:cNvPr id="16" name="Text 14"/>
          <p:cNvSpPr/>
          <p:nvPr/>
        </p:nvSpPr>
        <p:spPr>
          <a:xfrm>
            <a:off x="6867144" y="1600200"/>
            <a:ext cx="205740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Phishing (44.3%)</a:t>
            </a:r>
            <a:endParaRPr lang="en-US" sz="950" dirty="0"/>
          </a:p>
        </p:txBody>
      </p:sp>
      <p:sp>
        <p:nvSpPr>
          <p:cNvPr id="17" name="Text 15"/>
          <p:cNvSpPr/>
          <p:nvPr/>
        </p:nvSpPr>
        <p:spPr>
          <a:xfrm>
            <a:off x="274320" y="2103120"/>
            <a:ext cx="4572000" cy="320040"/>
          </a:xfrm>
          <a:prstGeom prst="rect">
            <a:avLst/>
          </a:prstGeom>
          <a:noFill/>
          <a:ln/>
        </p:spPr>
        <p:txBody>
          <a:bodyPr wrap="square" lIns="0" tIns="0" rIns="0" bIns="0" rtlCol="0" anchor="ctr"/>
          <a:lstStyle/>
          <a:p>
            <a:pPr marL="0" indent="0">
              <a:buNone/>
            </a:pPr>
            <a:r>
              <a:rPr lang="en-US" sz="1300" b="1" dirty="0">
                <a:solidFill>
                  <a:srgbClr val="00D4FF"/>
                </a:solidFill>
                <a:latin typeface="Calibri" pitchFamily="34" charset="0"/>
                <a:ea typeface="Calibri" pitchFamily="34" charset="-122"/>
                <a:cs typeface="Calibri" pitchFamily="34" charset="-120"/>
              </a:rPr>
              <a:t>30 Features — 4 Categories</a:t>
            </a:r>
            <a:endParaRPr lang="en-US" sz="1300" dirty="0"/>
          </a:p>
        </p:txBody>
      </p:sp>
      <p:sp>
        <p:nvSpPr>
          <p:cNvPr id="18" name="Shape 16"/>
          <p:cNvSpPr/>
          <p:nvPr/>
        </p:nvSpPr>
        <p:spPr>
          <a:xfrm>
            <a:off x="228600" y="2514600"/>
            <a:ext cx="2057400" cy="2331720"/>
          </a:xfrm>
          <a:prstGeom prst="rect">
            <a:avLst/>
          </a:prstGeom>
          <a:solidFill>
            <a:srgbClr val="111827"/>
          </a:solidFill>
          <a:ln w="12700">
            <a:solidFill>
              <a:srgbClr val="00D4FF"/>
            </a:solidFill>
            <a:prstDash val="solid"/>
          </a:ln>
        </p:spPr>
        <p:txBody>
          <a:bodyPr/>
          <a:lstStyle/>
          <a:p>
            <a:endParaRPr lang="en-GB"/>
          </a:p>
        </p:txBody>
      </p:sp>
      <p:sp>
        <p:nvSpPr>
          <p:cNvPr id="19" name="Shape 17"/>
          <p:cNvSpPr/>
          <p:nvPr/>
        </p:nvSpPr>
        <p:spPr>
          <a:xfrm>
            <a:off x="228600" y="2514600"/>
            <a:ext cx="2057400" cy="347472"/>
          </a:xfrm>
          <a:prstGeom prst="rect">
            <a:avLst/>
          </a:prstGeom>
          <a:solidFill>
            <a:srgbClr val="00D4FF"/>
          </a:solidFill>
          <a:ln w="12700">
            <a:solidFill>
              <a:srgbClr val="00D4FF"/>
            </a:solidFill>
            <a:prstDash val="solid"/>
          </a:ln>
        </p:spPr>
        <p:txBody>
          <a:bodyPr/>
          <a:lstStyle/>
          <a:p>
            <a:endParaRPr lang="en-GB"/>
          </a:p>
        </p:txBody>
      </p:sp>
      <p:sp>
        <p:nvSpPr>
          <p:cNvPr id="20" name="Text 18"/>
          <p:cNvSpPr/>
          <p:nvPr/>
        </p:nvSpPr>
        <p:spPr>
          <a:xfrm>
            <a:off x="301752" y="2532888"/>
            <a:ext cx="1920240" cy="301752"/>
          </a:xfrm>
          <a:prstGeom prst="rect">
            <a:avLst/>
          </a:prstGeom>
          <a:noFill/>
          <a:ln/>
        </p:spPr>
        <p:txBody>
          <a:bodyPr wrap="square" lIns="0" tIns="0" rIns="0" bIns="0" rtlCol="0" anchor="ctr"/>
          <a:lstStyle/>
          <a:p>
            <a:pPr marL="0" indent="0">
              <a:buNone/>
            </a:pPr>
            <a:r>
              <a:rPr lang="en-US" sz="1100" b="1" dirty="0">
                <a:solidFill>
                  <a:srgbClr val="0A0E1A"/>
                </a:solidFill>
                <a:latin typeface="Calibri" pitchFamily="34" charset="0"/>
                <a:ea typeface="Calibri" pitchFamily="34" charset="-122"/>
                <a:cs typeface="Calibri" pitchFamily="34" charset="-120"/>
              </a:rPr>
              <a:t>URL-based</a:t>
            </a:r>
            <a:endParaRPr lang="en-US" sz="1100" dirty="0"/>
          </a:p>
        </p:txBody>
      </p:sp>
      <p:sp>
        <p:nvSpPr>
          <p:cNvPr id="21" name="Text 19"/>
          <p:cNvSpPr/>
          <p:nvPr/>
        </p:nvSpPr>
        <p:spPr>
          <a:xfrm>
            <a:off x="320040" y="292608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having_IP_Address</a:t>
            </a:r>
            <a:endParaRPr lang="en-US" sz="900" dirty="0"/>
          </a:p>
        </p:txBody>
      </p:sp>
      <p:sp>
        <p:nvSpPr>
          <p:cNvPr id="22" name="Text 20"/>
          <p:cNvSpPr/>
          <p:nvPr/>
        </p:nvSpPr>
        <p:spPr>
          <a:xfrm>
            <a:off x="320040" y="324612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URL_Length</a:t>
            </a:r>
            <a:endParaRPr lang="en-US" sz="900" dirty="0"/>
          </a:p>
        </p:txBody>
      </p:sp>
      <p:sp>
        <p:nvSpPr>
          <p:cNvPr id="23" name="Text 21"/>
          <p:cNvSpPr/>
          <p:nvPr/>
        </p:nvSpPr>
        <p:spPr>
          <a:xfrm>
            <a:off x="320040" y="356616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Shortining_Service</a:t>
            </a:r>
            <a:endParaRPr lang="en-US" sz="900" dirty="0"/>
          </a:p>
        </p:txBody>
      </p:sp>
      <p:sp>
        <p:nvSpPr>
          <p:cNvPr id="24" name="Text 22"/>
          <p:cNvSpPr/>
          <p:nvPr/>
        </p:nvSpPr>
        <p:spPr>
          <a:xfrm>
            <a:off x="320040" y="388620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having_At_Symbol</a:t>
            </a:r>
            <a:endParaRPr lang="en-US" sz="900" dirty="0"/>
          </a:p>
        </p:txBody>
      </p:sp>
      <p:sp>
        <p:nvSpPr>
          <p:cNvPr id="25" name="Text 23"/>
          <p:cNvSpPr/>
          <p:nvPr/>
        </p:nvSpPr>
        <p:spPr>
          <a:xfrm>
            <a:off x="320040" y="420624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double_slash_redirecting</a:t>
            </a:r>
            <a:endParaRPr lang="en-US" sz="900" dirty="0"/>
          </a:p>
        </p:txBody>
      </p:sp>
      <p:sp>
        <p:nvSpPr>
          <p:cNvPr id="26" name="Shape 24"/>
          <p:cNvSpPr/>
          <p:nvPr/>
        </p:nvSpPr>
        <p:spPr>
          <a:xfrm>
            <a:off x="2441448" y="2514600"/>
            <a:ext cx="2057400" cy="2331720"/>
          </a:xfrm>
          <a:prstGeom prst="rect">
            <a:avLst/>
          </a:prstGeom>
          <a:solidFill>
            <a:srgbClr val="111827"/>
          </a:solidFill>
          <a:ln w="12700">
            <a:solidFill>
              <a:srgbClr val="22C55E"/>
            </a:solidFill>
            <a:prstDash val="solid"/>
          </a:ln>
        </p:spPr>
        <p:txBody>
          <a:bodyPr/>
          <a:lstStyle/>
          <a:p>
            <a:endParaRPr lang="en-GB"/>
          </a:p>
        </p:txBody>
      </p:sp>
      <p:sp>
        <p:nvSpPr>
          <p:cNvPr id="27" name="Shape 25"/>
          <p:cNvSpPr/>
          <p:nvPr/>
        </p:nvSpPr>
        <p:spPr>
          <a:xfrm>
            <a:off x="2441448" y="2514600"/>
            <a:ext cx="2057400" cy="347472"/>
          </a:xfrm>
          <a:prstGeom prst="rect">
            <a:avLst/>
          </a:prstGeom>
          <a:solidFill>
            <a:srgbClr val="22C55E"/>
          </a:solidFill>
          <a:ln w="12700">
            <a:solidFill>
              <a:srgbClr val="22C55E"/>
            </a:solidFill>
            <a:prstDash val="solid"/>
          </a:ln>
        </p:spPr>
        <p:txBody>
          <a:bodyPr/>
          <a:lstStyle/>
          <a:p>
            <a:endParaRPr lang="en-GB"/>
          </a:p>
        </p:txBody>
      </p:sp>
      <p:sp>
        <p:nvSpPr>
          <p:cNvPr id="28" name="Text 26"/>
          <p:cNvSpPr/>
          <p:nvPr/>
        </p:nvSpPr>
        <p:spPr>
          <a:xfrm>
            <a:off x="2514600" y="2532888"/>
            <a:ext cx="1920240" cy="301752"/>
          </a:xfrm>
          <a:prstGeom prst="rect">
            <a:avLst/>
          </a:prstGeom>
          <a:noFill/>
          <a:ln/>
        </p:spPr>
        <p:txBody>
          <a:bodyPr wrap="square" lIns="0" tIns="0" rIns="0" bIns="0" rtlCol="0" anchor="ctr"/>
          <a:lstStyle/>
          <a:p>
            <a:pPr marL="0" indent="0">
              <a:buNone/>
            </a:pPr>
            <a:r>
              <a:rPr lang="en-US" sz="1100" b="1" dirty="0">
                <a:solidFill>
                  <a:srgbClr val="0A0E1A"/>
                </a:solidFill>
                <a:latin typeface="Calibri" pitchFamily="34" charset="0"/>
                <a:ea typeface="Calibri" pitchFamily="34" charset="-122"/>
                <a:cs typeface="Calibri" pitchFamily="34" charset="-120"/>
              </a:rPr>
              <a:t>Security</a:t>
            </a:r>
            <a:endParaRPr lang="en-US" sz="1100" dirty="0"/>
          </a:p>
        </p:txBody>
      </p:sp>
      <p:sp>
        <p:nvSpPr>
          <p:cNvPr id="29" name="Text 27"/>
          <p:cNvSpPr/>
          <p:nvPr/>
        </p:nvSpPr>
        <p:spPr>
          <a:xfrm>
            <a:off x="2532888" y="292608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SSLfinal_State</a:t>
            </a:r>
            <a:endParaRPr lang="en-US" sz="900" dirty="0"/>
          </a:p>
        </p:txBody>
      </p:sp>
      <p:sp>
        <p:nvSpPr>
          <p:cNvPr id="30" name="Text 28"/>
          <p:cNvSpPr/>
          <p:nvPr/>
        </p:nvSpPr>
        <p:spPr>
          <a:xfrm>
            <a:off x="2532888" y="324612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Prefix_Suffix</a:t>
            </a:r>
            <a:endParaRPr lang="en-US" sz="900" dirty="0"/>
          </a:p>
        </p:txBody>
      </p:sp>
      <p:sp>
        <p:nvSpPr>
          <p:cNvPr id="31" name="Text 29"/>
          <p:cNvSpPr/>
          <p:nvPr/>
        </p:nvSpPr>
        <p:spPr>
          <a:xfrm>
            <a:off x="2532888" y="356616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HTTPS_token</a:t>
            </a:r>
            <a:endParaRPr lang="en-US" sz="900" dirty="0"/>
          </a:p>
        </p:txBody>
      </p:sp>
      <p:sp>
        <p:nvSpPr>
          <p:cNvPr id="32" name="Text 30"/>
          <p:cNvSpPr/>
          <p:nvPr/>
        </p:nvSpPr>
        <p:spPr>
          <a:xfrm>
            <a:off x="2532888" y="388620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Domain_registeration_length</a:t>
            </a:r>
            <a:endParaRPr lang="en-US" sz="900" dirty="0"/>
          </a:p>
        </p:txBody>
      </p:sp>
      <p:sp>
        <p:nvSpPr>
          <p:cNvPr id="33" name="Text 31"/>
          <p:cNvSpPr/>
          <p:nvPr/>
        </p:nvSpPr>
        <p:spPr>
          <a:xfrm>
            <a:off x="2532888" y="420624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Favicon</a:t>
            </a:r>
            <a:endParaRPr lang="en-US" sz="900" dirty="0"/>
          </a:p>
        </p:txBody>
      </p:sp>
      <p:sp>
        <p:nvSpPr>
          <p:cNvPr id="34" name="Shape 32"/>
          <p:cNvSpPr/>
          <p:nvPr/>
        </p:nvSpPr>
        <p:spPr>
          <a:xfrm>
            <a:off x="4654296" y="2514600"/>
            <a:ext cx="2057400" cy="2331720"/>
          </a:xfrm>
          <a:prstGeom prst="rect">
            <a:avLst/>
          </a:prstGeom>
          <a:solidFill>
            <a:srgbClr val="111827"/>
          </a:solidFill>
          <a:ln w="12700">
            <a:solidFill>
              <a:srgbClr val="F59E0B"/>
            </a:solidFill>
            <a:prstDash val="solid"/>
          </a:ln>
        </p:spPr>
        <p:txBody>
          <a:bodyPr/>
          <a:lstStyle/>
          <a:p>
            <a:endParaRPr lang="en-GB"/>
          </a:p>
        </p:txBody>
      </p:sp>
      <p:sp>
        <p:nvSpPr>
          <p:cNvPr id="35" name="Shape 33"/>
          <p:cNvSpPr/>
          <p:nvPr/>
        </p:nvSpPr>
        <p:spPr>
          <a:xfrm>
            <a:off x="4654296" y="2514600"/>
            <a:ext cx="2057400" cy="347472"/>
          </a:xfrm>
          <a:prstGeom prst="rect">
            <a:avLst/>
          </a:prstGeom>
          <a:solidFill>
            <a:srgbClr val="F59E0B"/>
          </a:solidFill>
          <a:ln w="12700">
            <a:solidFill>
              <a:srgbClr val="F59E0B"/>
            </a:solidFill>
            <a:prstDash val="solid"/>
          </a:ln>
        </p:spPr>
        <p:txBody>
          <a:bodyPr/>
          <a:lstStyle/>
          <a:p>
            <a:endParaRPr lang="en-GB"/>
          </a:p>
        </p:txBody>
      </p:sp>
      <p:sp>
        <p:nvSpPr>
          <p:cNvPr id="36" name="Text 34"/>
          <p:cNvSpPr/>
          <p:nvPr/>
        </p:nvSpPr>
        <p:spPr>
          <a:xfrm>
            <a:off x="4727448" y="2532888"/>
            <a:ext cx="1920240" cy="301752"/>
          </a:xfrm>
          <a:prstGeom prst="rect">
            <a:avLst/>
          </a:prstGeom>
          <a:noFill/>
          <a:ln/>
        </p:spPr>
        <p:txBody>
          <a:bodyPr wrap="square" lIns="0" tIns="0" rIns="0" bIns="0" rtlCol="0" anchor="ctr"/>
          <a:lstStyle/>
          <a:p>
            <a:pPr marL="0" indent="0">
              <a:buNone/>
            </a:pPr>
            <a:r>
              <a:rPr lang="en-US" sz="1100" b="1" dirty="0">
                <a:solidFill>
                  <a:srgbClr val="0A0E1A"/>
                </a:solidFill>
                <a:latin typeface="Calibri" pitchFamily="34" charset="0"/>
                <a:ea typeface="Calibri" pitchFamily="34" charset="-122"/>
                <a:cs typeface="Calibri" pitchFamily="34" charset="-120"/>
              </a:rPr>
              <a:t>Content</a:t>
            </a:r>
            <a:endParaRPr lang="en-US" sz="1100" dirty="0"/>
          </a:p>
        </p:txBody>
      </p:sp>
      <p:sp>
        <p:nvSpPr>
          <p:cNvPr id="37" name="Text 35"/>
          <p:cNvSpPr/>
          <p:nvPr/>
        </p:nvSpPr>
        <p:spPr>
          <a:xfrm>
            <a:off x="4745736" y="292608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Request_URL</a:t>
            </a:r>
            <a:endParaRPr lang="en-US" sz="900" dirty="0"/>
          </a:p>
        </p:txBody>
      </p:sp>
      <p:sp>
        <p:nvSpPr>
          <p:cNvPr id="38" name="Text 36"/>
          <p:cNvSpPr/>
          <p:nvPr/>
        </p:nvSpPr>
        <p:spPr>
          <a:xfrm>
            <a:off x="4745736" y="324612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URL_of_Anchor</a:t>
            </a:r>
            <a:endParaRPr lang="en-US" sz="900" dirty="0"/>
          </a:p>
        </p:txBody>
      </p:sp>
      <p:sp>
        <p:nvSpPr>
          <p:cNvPr id="39" name="Text 37"/>
          <p:cNvSpPr/>
          <p:nvPr/>
        </p:nvSpPr>
        <p:spPr>
          <a:xfrm>
            <a:off x="4745736" y="356616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Links_in_tags</a:t>
            </a:r>
            <a:endParaRPr lang="en-US" sz="900" dirty="0"/>
          </a:p>
        </p:txBody>
      </p:sp>
      <p:sp>
        <p:nvSpPr>
          <p:cNvPr id="40" name="Text 38"/>
          <p:cNvSpPr/>
          <p:nvPr/>
        </p:nvSpPr>
        <p:spPr>
          <a:xfrm>
            <a:off x="4745736" y="388620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SFH</a:t>
            </a:r>
            <a:endParaRPr lang="en-US" sz="900" dirty="0"/>
          </a:p>
        </p:txBody>
      </p:sp>
      <p:sp>
        <p:nvSpPr>
          <p:cNvPr id="41" name="Text 39"/>
          <p:cNvSpPr/>
          <p:nvPr/>
        </p:nvSpPr>
        <p:spPr>
          <a:xfrm>
            <a:off x="4745736" y="420624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popUpWidnow</a:t>
            </a:r>
            <a:endParaRPr lang="en-US" sz="900" dirty="0"/>
          </a:p>
        </p:txBody>
      </p:sp>
      <p:sp>
        <p:nvSpPr>
          <p:cNvPr id="42" name="Text 40"/>
          <p:cNvSpPr/>
          <p:nvPr/>
        </p:nvSpPr>
        <p:spPr>
          <a:xfrm>
            <a:off x="4745736" y="452628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Iframe</a:t>
            </a:r>
            <a:endParaRPr lang="en-US" sz="900" dirty="0"/>
          </a:p>
        </p:txBody>
      </p:sp>
      <p:sp>
        <p:nvSpPr>
          <p:cNvPr id="43" name="Shape 41"/>
          <p:cNvSpPr/>
          <p:nvPr/>
        </p:nvSpPr>
        <p:spPr>
          <a:xfrm>
            <a:off x="6867144" y="2514600"/>
            <a:ext cx="2057400" cy="2331720"/>
          </a:xfrm>
          <a:prstGeom prst="rect">
            <a:avLst/>
          </a:prstGeom>
          <a:solidFill>
            <a:srgbClr val="111827"/>
          </a:solidFill>
          <a:ln w="12700">
            <a:solidFill>
              <a:srgbClr val="EF4444"/>
            </a:solidFill>
            <a:prstDash val="solid"/>
          </a:ln>
        </p:spPr>
        <p:txBody>
          <a:bodyPr/>
          <a:lstStyle/>
          <a:p>
            <a:endParaRPr lang="en-GB"/>
          </a:p>
        </p:txBody>
      </p:sp>
      <p:sp>
        <p:nvSpPr>
          <p:cNvPr id="44" name="Shape 42"/>
          <p:cNvSpPr/>
          <p:nvPr/>
        </p:nvSpPr>
        <p:spPr>
          <a:xfrm>
            <a:off x="6867144" y="2514600"/>
            <a:ext cx="2057400" cy="347472"/>
          </a:xfrm>
          <a:prstGeom prst="rect">
            <a:avLst/>
          </a:prstGeom>
          <a:solidFill>
            <a:srgbClr val="EF4444"/>
          </a:solidFill>
          <a:ln w="12700">
            <a:solidFill>
              <a:srgbClr val="EF4444"/>
            </a:solidFill>
            <a:prstDash val="solid"/>
          </a:ln>
        </p:spPr>
        <p:txBody>
          <a:bodyPr/>
          <a:lstStyle/>
          <a:p>
            <a:endParaRPr lang="en-GB"/>
          </a:p>
        </p:txBody>
      </p:sp>
      <p:sp>
        <p:nvSpPr>
          <p:cNvPr id="45" name="Text 43"/>
          <p:cNvSpPr/>
          <p:nvPr/>
        </p:nvSpPr>
        <p:spPr>
          <a:xfrm>
            <a:off x="6940296" y="2532888"/>
            <a:ext cx="1920240" cy="301752"/>
          </a:xfrm>
          <a:prstGeom prst="rect">
            <a:avLst/>
          </a:prstGeom>
          <a:noFill/>
          <a:ln/>
        </p:spPr>
        <p:txBody>
          <a:bodyPr wrap="square" lIns="0" tIns="0" rIns="0" bIns="0" rtlCol="0" anchor="ctr"/>
          <a:lstStyle/>
          <a:p>
            <a:pPr marL="0" indent="0">
              <a:buNone/>
            </a:pPr>
            <a:r>
              <a:rPr lang="en-US" sz="1100" b="1" dirty="0">
                <a:solidFill>
                  <a:srgbClr val="0A0E1A"/>
                </a:solidFill>
                <a:latin typeface="Calibri" pitchFamily="34" charset="0"/>
                <a:ea typeface="Calibri" pitchFamily="34" charset="-122"/>
                <a:cs typeface="Calibri" pitchFamily="34" charset="-120"/>
              </a:rPr>
              <a:t>Domain/Meta</a:t>
            </a:r>
            <a:endParaRPr lang="en-US" sz="1100" dirty="0"/>
          </a:p>
        </p:txBody>
      </p:sp>
      <p:sp>
        <p:nvSpPr>
          <p:cNvPr id="46" name="Text 44"/>
          <p:cNvSpPr/>
          <p:nvPr/>
        </p:nvSpPr>
        <p:spPr>
          <a:xfrm>
            <a:off x="6958584" y="292608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age_of_domain</a:t>
            </a:r>
            <a:endParaRPr lang="en-US" sz="900" dirty="0"/>
          </a:p>
        </p:txBody>
      </p:sp>
      <p:sp>
        <p:nvSpPr>
          <p:cNvPr id="47" name="Text 45"/>
          <p:cNvSpPr/>
          <p:nvPr/>
        </p:nvSpPr>
        <p:spPr>
          <a:xfrm>
            <a:off x="6958584" y="324612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DNSRecord</a:t>
            </a:r>
            <a:endParaRPr lang="en-US" sz="900" dirty="0"/>
          </a:p>
        </p:txBody>
      </p:sp>
      <p:sp>
        <p:nvSpPr>
          <p:cNvPr id="48" name="Text 46"/>
          <p:cNvSpPr/>
          <p:nvPr/>
        </p:nvSpPr>
        <p:spPr>
          <a:xfrm>
            <a:off x="6958584" y="356616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web_traffic</a:t>
            </a:r>
            <a:endParaRPr lang="en-US" sz="900" dirty="0"/>
          </a:p>
        </p:txBody>
      </p:sp>
      <p:sp>
        <p:nvSpPr>
          <p:cNvPr id="49" name="Text 47"/>
          <p:cNvSpPr/>
          <p:nvPr/>
        </p:nvSpPr>
        <p:spPr>
          <a:xfrm>
            <a:off x="6958584" y="388620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Page_Rank</a:t>
            </a:r>
            <a:endParaRPr lang="en-US" sz="900" dirty="0"/>
          </a:p>
        </p:txBody>
      </p:sp>
      <p:sp>
        <p:nvSpPr>
          <p:cNvPr id="50" name="Text 48"/>
          <p:cNvSpPr/>
          <p:nvPr/>
        </p:nvSpPr>
        <p:spPr>
          <a:xfrm>
            <a:off x="6958584" y="420624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Google_Index</a:t>
            </a:r>
            <a:endParaRPr lang="en-US" sz="900" dirty="0"/>
          </a:p>
        </p:txBody>
      </p:sp>
      <p:sp>
        <p:nvSpPr>
          <p:cNvPr id="51" name="Text 49"/>
          <p:cNvSpPr/>
          <p:nvPr/>
        </p:nvSpPr>
        <p:spPr>
          <a:xfrm>
            <a:off x="6958584" y="4526280"/>
            <a:ext cx="1874520" cy="301752"/>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Statistical_report</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D4FF"/>
          </a:solidFill>
          <a:ln w="12700">
            <a:solidFill>
              <a:srgbClr val="00D4FF"/>
            </a:solidFill>
            <a:prstDash val="solid"/>
          </a:ln>
        </p:spPr>
        <p:txBody>
          <a:bodyPr/>
          <a:lstStyle/>
          <a:p>
            <a:endParaRPr lang="en-GB"/>
          </a:p>
        </p:txBody>
      </p:sp>
      <p:sp>
        <p:nvSpPr>
          <p:cNvPr id="3" name="Text 1"/>
          <p:cNvSpPr/>
          <p:nvPr/>
        </p:nvSpPr>
        <p:spPr>
          <a:xfrm>
            <a:off x="274320" y="182880"/>
            <a:ext cx="8595360" cy="45720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Models Tested &amp; Pipeline</a:t>
            </a:r>
            <a:endParaRPr lang="en-US" sz="2600" dirty="0"/>
          </a:p>
        </p:txBody>
      </p:sp>
      <p:sp>
        <p:nvSpPr>
          <p:cNvPr id="4" name="Shape 2"/>
          <p:cNvSpPr/>
          <p:nvPr/>
        </p:nvSpPr>
        <p:spPr>
          <a:xfrm>
            <a:off x="228600" y="822960"/>
            <a:ext cx="1097280" cy="658368"/>
          </a:xfrm>
          <a:prstGeom prst="rect">
            <a:avLst/>
          </a:prstGeom>
          <a:solidFill>
            <a:srgbClr val="1A2333"/>
          </a:solidFill>
          <a:ln w="12700">
            <a:solidFill>
              <a:srgbClr val="0891B2"/>
            </a:solidFill>
            <a:prstDash val="solid"/>
          </a:ln>
        </p:spPr>
        <p:txBody>
          <a:bodyPr/>
          <a:lstStyle/>
          <a:p>
            <a:endParaRPr lang="en-GB"/>
          </a:p>
        </p:txBody>
      </p:sp>
      <p:sp>
        <p:nvSpPr>
          <p:cNvPr id="5" name="Text 3"/>
          <p:cNvSpPr/>
          <p:nvPr/>
        </p:nvSpPr>
        <p:spPr>
          <a:xfrm>
            <a:off x="228600" y="822960"/>
            <a:ext cx="1097280" cy="658368"/>
          </a:xfrm>
          <a:prstGeom prst="rect">
            <a:avLst/>
          </a:prstGeom>
          <a:noFill/>
          <a:ln/>
        </p:spPr>
        <p:txBody>
          <a:bodyPr wrap="square" lIns="25400" tIns="25400" rIns="25400" bIns="25400" rtlCol="0" anchor="ctr"/>
          <a:lstStyle/>
          <a:p>
            <a:pPr marL="0" indent="0" algn="ctr">
              <a:buNone/>
            </a:pPr>
            <a:r>
              <a:rPr lang="en-US" sz="850" dirty="0">
                <a:solidFill>
                  <a:srgbClr val="0891B2"/>
                </a:solidFill>
                <a:latin typeface="Calibri" pitchFamily="34" charset="0"/>
                <a:ea typeface="Calibri" pitchFamily="34" charset="-122"/>
                <a:cs typeface="Calibri" pitchFamily="34" charset="-120"/>
              </a:rPr>
              <a:t>Load</a:t>
            </a:r>
            <a:endParaRPr lang="en-US" sz="850" dirty="0"/>
          </a:p>
          <a:p>
            <a:pPr marL="0" indent="0" algn="ctr">
              <a:buNone/>
            </a:pPr>
            <a:r>
              <a:rPr lang="en-US" sz="850" dirty="0">
                <a:solidFill>
                  <a:srgbClr val="0891B2"/>
                </a:solidFill>
                <a:latin typeface="Calibri" pitchFamily="34" charset="0"/>
                <a:ea typeface="Calibri" pitchFamily="34" charset="-122"/>
                <a:cs typeface="Calibri" pitchFamily="34" charset="-120"/>
              </a:rPr>
              <a:t>ARFF</a:t>
            </a:r>
            <a:endParaRPr lang="en-US" sz="850" dirty="0"/>
          </a:p>
          <a:p>
            <a:pPr marL="0" indent="0" algn="ctr">
              <a:buNone/>
            </a:pPr>
            <a:r>
              <a:rPr lang="en-US" sz="850" dirty="0">
                <a:solidFill>
                  <a:srgbClr val="0891B2"/>
                </a:solidFill>
                <a:latin typeface="Calibri" pitchFamily="34" charset="0"/>
                <a:ea typeface="Calibri" pitchFamily="34" charset="-122"/>
                <a:cs typeface="Calibri" pitchFamily="34" charset="-120"/>
              </a:rPr>
              <a:t>Dataset</a:t>
            </a:r>
            <a:endParaRPr lang="en-US" sz="850" dirty="0"/>
          </a:p>
        </p:txBody>
      </p:sp>
      <p:sp>
        <p:nvSpPr>
          <p:cNvPr id="6" name="Shape 4"/>
          <p:cNvSpPr/>
          <p:nvPr/>
        </p:nvSpPr>
        <p:spPr>
          <a:xfrm>
            <a:off x="1325880" y="1152144"/>
            <a:ext cx="164592" cy="0"/>
          </a:xfrm>
          <a:prstGeom prst="line">
            <a:avLst/>
          </a:prstGeom>
          <a:noFill/>
          <a:ln w="19050">
            <a:solidFill>
              <a:srgbClr val="00D4FF"/>
            </a:solidFill>
            <a:prstDash val="solid"/>
          </a:ln>
        </p:spPr>
        <p:txBody>
          <a:bodyPr/>
          <a:lstStyle/>
          <a:p>
            <a:endParaRPr lang="en-GB"/>
          </a:p>
        </p:txBody>
      </p:sp>
      <p:sp>
        <p:nvSpPr>
          <p:cNvPr id="7" name="Shape 5"/>
          <p:cNvSpPr/>
          <p:nvPr/>
        </p:nvSpPr>
        <p:spPr>
          <a:xfrm>
            <a:off x="1490472" y="822960"/>
            <a:ext cx="1097280" cy="658368"/>
          </a:xfrm>
          <a:prstGeom prst="rect">
            <a:avLst/>
          </a:prstGeom>
          <a:solidFill>
            <a:srgbClr val="1A2333"/>
          </a:solidFill>
          <a:ln w="12700">
            <a:solidFill>
              <a:srgbClr val="0891B2"/>
            </a:solidFill>
            <a:prstDash val="solid"/>
          </a:ln>
        </p:spPr>
        <p:txBody>
          <a:bodyPr/>
          <a:lstStyle/>
          <a:p>
            <a:endParaRPr lang="en-GB"/>
          </a:p>
        </p:txBody>
      </p:sp>
      <p:sp>
        <p:nvSpPr>
          <p:cNvPr id="8" name="Text 6"/>
          <p:cNvSpPr/>
          <p:nvPr/>
        </p:nvSpPr>
        <p:spPr>
          <a:xfrm>
            <a:off x="1490472" y="822960"/>
            <a:ext cx="1097280" cy="658368"/>
          </a:xfrm>
          <a:prstGeom prst="rect">
            <a:avLst/>
          </a:prstGeom>
          <a:noFill/>
          <a:ln/>
        </p:spPr>
        <p:txBody>
          <a:bodyPr wrap="square" lIns="25400" tIns="25400" rIns="25400" bIns="25400" rtlCol="0" anchor="ctr"/>
          <a:lstStyle/>
          <a:p>
            <a:pPr marL="0" indent="0" algn="ctr">
              <a:buNone/>
            </a:pPr>
            <a:r>
              <a:rPr lang="en-US" sz="850" dirty="0">
                <a:solidFill>
                  <a:srgbClr val="0891B2"/>
                </a:solidFill>
                <a:latin typeface="Calibri" pitchFamily="34" charset="0"/>
                <a:ea typeface="Calibri" pitchFamily="34" charset="-122"/>
                <a:cs typeface="Calibri" pitchFamily="34" charset="-120"/>
              </a:rPr>
              <a:t>Byte</a:t>
            </a:r>
            <a:endParaRPr lang="en-US" sz="850" dirty="0"/>
          </a:p>
          <a:p>
            <a:pPr marL="0" indent="0" algn="ctr">
              <a:buNone/>
            </a:pPr>
            <a:r>
              <a:rPr lang="en-US" sz="850" dirty="0">
                <a:solidFill>
                  <a:srgbClr val="0891B2"/>
                </a:solidFill>
                <a:latin typeface="Calibri" pitchFamily="34" charset="0"/>
                <a:ea typeface="Calibri" pitchFamily="34" charset="-122"/>
                <a:cs typeface="Calibri" pitchFamily="34" charset="-120"/>
              </a:rPr>
              <a:t>Decode</a:t>
            </a:r>
            <a:endParaRPr lang="en-US" sz="850" dirty="0"/>
          </a:p>
          <a:p>
            <a:pPr marL="0" indent="0" algn="ctr">
              <a:buNone/>
            </a:pPr>
            <a:r>
              <a:rPr lang="en-US" sz="850" dirty="0">
                <a:solidFill>
                  <a:srgbClr val="0891B2"/>
                </a:solidFill>
                <a:latin typeface="Calibri" pitchFamily="34" charset="0"/>
                <a:ea typeface="Calibri" pitchFamily="34" charset="-122"/>
                <a:cs typeface="Calibri" pitchFamily="34" charset="-120"/>
              </a:rPr>
              <a:t>→ int</a:t>
            </a:r>
            <a:endParaRPr lang="en-US" sz="850" dirty="0"/>
          </a:p>
        </p:txBody>
      </p:sp>
      <p:sp>
        <p:nvSpPr>
          <p:cNvPr id="9" name="Shape 7"/>
          <p:cNvSpPr/>
          <p:nvPr/>
        </p:nvSpPr>
        <p:spPr>
          <a:xfrm>
            <a:off x="2587752" y="1152144"/>
            <a:ext cx="164592" cy="0"/>
          </a:xfrm>
          <a:prstGeom prst="line">
            <a:avLst/>
          </a:prstGeom>
          <a:noFill/>
          <a:ln w="19050">
            <a:solidFill>
              <a:srgbClr val="00D4FF"/>
            </a:solidFill>
            <a:prstDash val="solid"/>
          </a:ln>
        </p:spPr>
        <p:txBody>
          <a:bodyPr/>
          <a:lstStyle/>
          <a:p>
            <a:endParaRPr lang="en-GB"/>
          </a:p>
        </p:txBody>
      </p:sp>
      <p:sp>
        <p:nvSpPr>
          <p:cNvPr id="10" name="Shape 8"/>
          <p:cNvSpPr/>
          <p:nvPr/>
        </p:nvSpPr>
        <p:spPr>
          <a:xfrm>
            <a:off x="2752344" y="822960"/>
            <a:ext cx="1097280" cy="658368"/>
          </a:xfrm>
          <a:prstGeom prst="rect">
            <a:avLst/>
          </a:prstGeom>
          <a:solidFill>
            <a:srgbClr val="1A2333"/>
          </a:solidFill>
          <a:ln w="12700">
            <a:solidFill>
              <a:srgbClr val="0891B2"/>
            </a:solidFill>
            <a:prstDash val="solid"/>
          </a:ln>
        </p:spPr>
        <p:txBody>
          <a:bodyPr/>
          <a:lstStyle/>
          <a:p>
            <a:endParaRPr lang="en-GB"/>
          </a:p>
        </p:txBody>
      </p:sp>
      <p:sp>
        <p:nvSpPr>
          <p:cNvPr id="11" name="Text 9"/>
          <p:cNvSpPr/>
          <p:nvPr/>
        </p:nvSpPr>
        <p:spPr>
          <a:xfrm>
            <a:off x="2752344" y="822960"/>
            <a:ext cx="1097280" cy="658368"/>
          </a:xfrm>
          <a:prstGeom prst="rect">
            <a:avLst/>
          </a:prstGeom>
          <a:noFill/>
          <a:ln/>
        </p:spPr>
        <p:txBody>
          <a:bodyPr wrap="square" lIns="25400" tIns="25400" rIns="25400" bIns="25400" rtlCol="0" anchor="ctr"/>
          <a:lstStyle/>
          <a:p>
            <a:pPr marL="0" indent="0" algn="ctr">
              <a:buNone/>
            </a:pPr>
            <a:r>
              <a:rPr lang="en-US" sz="850" dirty="0">
                <a:solidFill>
                  <a:srgbClr val="0891B2"/>
                </a:solidFill>
                <a:latin typeface="Calibri" pitchFamily="34" charset="0"/>
                <a:ea typeface="Calibri" pitchFamily="34" charset="-122"/>
                <a:cs typeface="Calibri" pitchFamily="34" charset="-120"/>
              </a:rPr>
              <a:t>Label</a:t>
            </a:r>
            <a:endParaRPr lang="en-US" sz="850" dirty="0"/>
          </a:p>
          <a:p>
            <a:pPr marL="0" indent="0" algn="ctr">
              <a:buNone/>
            </a:pPr>
            <a:r>
              <a:rPr lang="en-US" sz="850" dirty="0">
                <a:solidFill>
                  <a:srgbClr val="0891B2"/>
                </a:solidFill>
                <a:latin typeface="Calibri" pitchFamily="34" charset="0"/>
                <a:ea typeface="Calibri" pitchFamily="34" charset="-122"/>
                <a:cs typeface="Calibri" pitchFamily="34" charset="-120"/>
              </a:rPr>
              <a:t>Convert</a:t>
            </a:r>
            <a:endParaRPr lang="en-US" sz="850" dirty="0"/>
          </a:p>
        </p:txBody>
      </p:sp>
      <p:sp>
        <p:nvSpPr>
          <p:cNvPr id="12" name="Shape 10"/>
          <p:cNvSpPr/>
          <p:nvPr/>
        </p:nvSpPr>
        <p:spPr>
          <a:xfrm>
            <a:off x="3849624" y="1152144"/>
            <a:ext cx="164592" cy="0"/>
          </a:xfrm>
          <a:prstGeom prst="line">
            <a:avLst/>
          </a:prstGeom>
          <a:noFill/>
          <a:ln w="19050">
            <a:solidFill>
              <a:srgbClr val="00D4FF"/>
            </a:solidFill>
            <a:prstDash val="solid"/>
          </a:ln>
        </p:spPr>
        <p:txBody>
          <a:bodyPr/>
          <a:lstStyle/>
          <a:p>
            <a:endParaRPr lang="en-GB"/>
          </a:p>
        </p:txBody>
      </p:sp>
      <p:sp>
        <p:nvSpPr>
          <p:cNvPr id="13" name="Shape 11"/>
          <p:cNvSpPr/>
          <p:nvPr/>
        </p:nvSpPr>
        <p:spPr>
          <a:xfrm>
            <a:off x="4014216" y="822960"/>
            <a:ext cx="1097280" cy="658368"/>
          </a:xfrm>
          <a:prstGeom prst="rect">
            <a:avLst/>
          </a:prstGeom>
          <a:solidFill>
            <a:srgbClr val="1A2333"/>
          </a:solidFill>
          <a:ln w="12700">
            <a:solidFill>
              <a:srgbClr val="0891B2"/>
            </a:solidFill>
            <a:prstDash val="solid"/>
          </a:ln>
        </p:spPr>
        <p:txBody>
          <a:bodyPr/>
          <a:lstStyle/>
          <a:p>
            <a:endParaRPr lang="en-GB"/>
          </a:p>
        </p:txBody>
      </p:sp>
      <p:sp>
        <p:nvSpPr>
          <p:cNvPr id="14" name="Text 12"/>
          <p:cNvSpPr/>
          <p:nvPr/>
        </p:nvSpPr>
        <p:spPr>
          <a:xfrm>
            <a:off x="4014216" y="822960"/>
            <a:ext cx="1097280" cy="658368"/>
          </a:xfrm>
          <a:prstGeom prst="rect">
            <a:avLst/>
          </a:prstGeom>
          <a:noFill/>
          <a:ln/>
        </p:spPr>
        <p:txBody>
          <a:bodyPr wrap="square" lIns="25400" tIns="25400" rIns="25400" bIns="25400" rtlCol="0" anchor="ctr"/>
          <a:lstStyle/>
          <a:p>
            <a:pPr marL="0" indent="0" algn="ctr">
              <a:buNone/>
            </a:pPr>
            <a:r>
              <a:rPr lang="en-US" sz="850" dirty="0">
                <a:solidFill>
                  <a:srgbClr val="0891B2"/>
                </a:solidFill>
                <a:latin typeface="Calibri" pitchFamily="34" charset="0"/>
                <a:ea typeface="Calibri" pitchFamily="34" charset="-122"/>
                <a:cs typeface="Calibri" pitchFamily="34" charset="-120"/>
              </a:rPr>
              <a:t>80/20</a:t>
            </a:r>
            <a:endParaRPr lang="en-US" sz="850" dirty="0"/>
          </a:p>
          <a:p>
            <a:pPr marL="0" indent="0" algn="ctr">
              <a:buNone/>
            </a:pPr>
            <a:r>
              <a:rPr lang="en-US" sz="850" dirty="0">
                <a:solidFill>
                  <a:srgbClr val="0891B2"/>
                </a:solidFill>
                <a:latin typeface="Calibri" pitchFamily="34" charset="0"/>
                <a:ea typeface="Calibri" pitchFamily="34" charset="-122"/>
                <a:cs typeface="Calibri" pitchFamily="34" charset="-120"/>
              </a:rPr>
              <a:t>Train/Test</a:t>
            </a:r>
            <a:endParaRPr lang="en-US" sz="850" dirty="0"/>
          </a:p>
          <a:p>
            <a:pPr marL="0" indent="0" algn="ctr">
              <a:buNone/>
            </a:pPr>
            <a:r>
              <a:rPr lang="en-US" sz="850" dirty="0">
                <a:solidFill>
                  <a:srgbClr val="0891B2"/>
                </a:solidFill>
                <a:latin typeface="Calibri" pitchFamily="34" charset="0"/>
                <a:ea typeface="Calibri" pitchFamily="34" charset="-122"/>
                <a:cs typeface="Calibri" pitchFamily="34" charset="-120"/>
              </a:rPr>
              <a:t>Split</a:t>
            </a:r>
            <a:endParaRPr lang="en-US" sz="850" dirty="0"/>
          </a:p>
        </p:txBody>
      </p:sp>
      <p:sp>
        <p:nvSpPr>
          <p:cNvPr id="15" name="Shape 13"/>
          <p:cNvSpPr/>
          <p:nvPr/>
        </p:nvSpPr>
        <p:spPr>
          <a:xfrm>
            <a:off x="5111496" y="1152144"/>
            <a:ext cx="164592" cy="0"/>
          </a:xfrm>
          <a:prstGeom prst="line">
            <a:avLst/>
          </a:prstGeom>
          <a:noFill/>
          <a:ln w="19050">
            <a:solidFill>
              <a:srgbClr val="00D4FF"/>
            </a:solidFill>
            <a:prstDash val="solid"/>
          </a:ln>
        </p:spPr>
        <p:txBody>
          <a:bodyPr/>
          <a:lstStyle/>
          <a:p>
            <a:endParaRPr lang="en-GB"/>
          </a:p>
        </p:txBody>
      </p:sp>
      <p:sp>
        <p:nvSpPr>
          <p:cNvPr id="16" name="Shape 14"/>
          <p:cNvSpPr/>
          <p:nvPr/>
        </p:nvSpPr>
        <p:spPr>
          <a:xfrm>
            <a:off x="5276088" y="822960"/>
            <a:ext cx="1097280" cy="658368"/>
          </a:xfrm>
          <a:prstGeom prst="rect">
            <a:avLst/>
          </a:prstGeom>
          <a:solidFill>
            <a:srgbClr val="1A2333"/>
          </a:solidFill>
          <a:ln w="12700">
            <a:solidFill>
              <a:srgbClr val="00D4FF"/>
            </a:solidFill>
            <a:prstDash val="solid"/>
          </a:ln>
        </p:spPr>
        <p:txBody>
          <a:bodyPr/>
          <a:lstStyle/>
          <a:p>
            <a:endParaRPr lang="en-GB"/>
          </a:p>
        </p:txBody>
      </p:sp>
      <p:sp>
        <p:nvSpPr>
          <p:cNvPr id="17" name="Text 15"/>
          <p:cNvSpPr/>
          <p:nvPr/>
        </p:nvSpPr>
        <p:spPr>
          <a:xfrm>
            <a:off x="5276088" y="822960"/>
            <a:ext cx="1097280" cy="658368"/>
          </a:xfrm>
          <a:prstGeom prst="rect">
            <a:avLst/>
          </a:prstGeom>
          <a:noFill/>
          <a:ln/>
        </p:spPr>
        <p:txBody>
          <a:bodyPr wrap="square" lIns="25400" tIns="25400" rIns="25400" bIns="25400" rtlCol="0" anchor="ctr"/>
          <a:lstStyle/>
          <a:p>
            <a:pPr marL="0" indent="0" algn="ctr">
              <a:buNone/>
            </a:pPr>
            <a:r>
              <a:rPr lang="en-US" sz="850" b="1" dirty="0">
                <a:solidFill>
                  <a:srgbClr val="00D4FF"/>
                </a:solidFill>
                <a:latin typeface="Calibri" pitchFamily="34" charset="0"/>
                <a:ea typeface="Calibri" pitchFamily="34" charset="-122"/>
                <a:cs typeface="Calibri" pitchFamily="34" charset="-120"/>
              </a:rPr>
              <a:t>Train 6</a:t>
            </a:r>
            <a:endParaRPr lang="en-US" sz="850" dirty="0"/>
          </a:p>
          <a:p>
            <a:pPr marL="0" indent="0" algn="ctr">
              <a:buNone/>
            </a:pPr>
            <a:r>
              <a:rPr lang="en-US" sz="850" b="1" dirty="0">
                <a:solidFill>
                  <a:srgbClr val="00D4FF"/>
                </a:solidFill>
                <a:latin typeface="Calibri" pitchFamily="34" charset="0"/>
                <a:ea typeface="Calibri" pitchFamily="34" charset="-122"/>
                <a:cs typeface="Calibri" pitchFamily="34" charset="-120"/>
              </a:rPr>
              <a:t>Models</a:t>
            </a:r>
            <a:endParaRPr lang="en-US" sz="850" dirty="0"/>
          </a:p>
        </p:txBody>
      </p:sp>
      <p:sp>
        <p:nvSpPr>
          <p:cNvPr id="18" name="Shape 16"/>
          <p:cNvSpPr/>
          <p:nvPr/>
        </p:nvSpPr>
        <p:spPr>
          <a:xfrm>
            <a:off x="6373368" y="1152144"/>
            <a:ext cx="164592" cy="0"/>
          </a:xfrm>
          <a:prstGeom prst="line">
            <a:avLst/>
          </a:prstGeom>
          <a:noFill/>
          <a:ln w="19050">
            <a:solidFill>
              <a:srgbClr val="00D4FF"/>
            </a:solidFill>
            <a:prstDash val="solid"/>
          </a:ln>
        </p:spPr>
        <p:txBody>
          <a:bodyPr/>
          <a:lstStyle/>
          <a:p>
            <a:endParaRPr lang="en-GB"/>
          </a:p>
        </p:txBody>
      </p:sp>
      <p:sp>
        <p:nvSpPr>
          <p:cNvPr id="19" name="Shape 17"/>
          <p:cNvSpPr/>
          <p:nvPr/>
        </p:nvSpPr>
        <p:spPr>
          <a:xfrm>
            <a:off x="6537960" y="822960"/>
            <a:ext cx="1097280" cy="658368"/>
          </a:xfrm>
          <a:prstGeom prst="rect">
            <a:avLst/>
          </a:prstGeom>
          <a:solidFill>
            <a:srgbClr val="1A2333"/>
          </a:solidFill>
          <a:ln w="12700">
            <a:solidFill>
              <a:srgbClr val="22C55E"/>
            </a:solidFill>
            <a:prstDash val="solid"/>
          </a:ln>
        </p:spPr>
        <p:txBody>
          <a:bodyPr/>
          <a:lstStyle/>
          <a:p>
            <a:endParaRPr lang="en-GB"/>
          </a:p>
        </p:txBody>
      </p:sp>
      <p:sp>
        <p:nvSpPr>
          <p:cNvPr id="20" name="Text 18"/>
          <p:cNvSpPr/>
          <p:nvPr/>
        </p:nvSpPr>
        <p:spPr>
          <a:xfrm>
            <a:off x="6537960" y="822960"/>
            <a:ext cx="1097280" cy="658368"/>
          </a:xfrm>
          <a:prstGeom prst="rect">
            <a:avLst/>
          </a:prstGeom>
          <a:noFill/>
          <a:ln/>
        </p:spPr>
        <p:txBody>
          <a:bodyPr wrap="square" lIns="25400" tIns="25400" rIns="25400" bIns="25400" rtlCol="0" anchor="ctr"/>
          <a:lstStyle/>
          <a:p>
            <a:pPr marL="0" indent="0" algn="ctr">
              <a:buNone/>
            </a:pPr>
            <a:r>
              <a:rPr lang="en-US" sz="850" dirty="0">
                <a:solidFill>
                  <a:srgbClr val="22C55E"/>
                </a:solidFill>
                <a:latin typeface="Calibri" pitchFamily="34" charset="0"/>
                <a:ea typeface="Calibri" pitchFamily="34" charset="-122"/>
                <a:cs typeface="Calibri" pitchFamily="34" charset="-120"/>
              </a:rPr>
              <a:t>Evaluate</a:t>
            </a:r>
            <a:endParaRPr lang="en-US" sz="850" dirty="0"/>
          </a:p>
          <a:p>
            <a:pPr marL="0" indent="0" algn="ctr">
              <a:buNone/>
            </a:pPr>
            <a:r>
              <a:rPr lang="en-US" sz="850" dirty="0">
                <a:solidFill>
                  <a:srgbClr val="22C55E"/>
                </a:solidFill>
                <a:latin typeface="Calibri" pitchFamily="34" charset="0"/>
                <a:ea typeface="Calibri" pitchFamily="34" charset="-122"/>
                <a:cs typeface="Calibri" pitchFamily="34" charset="-120"/>
              </a:rPr>
              <a:t>Metrics</a:t>
            </a:r>
            <a:endParaRPr lang="en-US" sz="850" dirty="0"/>
          </a:p>
        </p:txBody>
      </p:sp>
      <p:sp>
        <p:nvSpPr>
          <p:cNvPr id="21" name="Shape 19"/>
          <p:cNvSpPr/>
          <p:nvPr/>
        </p:nvSpPr>
        <p:spPr>
          <a:xfrm>
            <a:off x="7635240" y="1152144"/>
            <a:ext cx="164592" cy="0"/>
          </a:xfrm>
          <a:prstGeom prst="line">
            <a:avLst/>
          </a:prstGeom>
          <a:noFill/>
          <a:ln w="19050">
            <a:solidFill>
              <a:srgbClr val="00D4FF"/>
            </a:solidFill>
            <a:prstDash val="solid"/>
          </a:ln>
        </p:spPr>
        <p:txBody>
          <a:bodyPr/>
          <a:lstStyle/>
          <a:p>
            <a:endParaRPr lang="en-GB"/>
          </a:p>
        </p:txBody>
      </p:sp>
      <p:sp>
        <p:nvSpPr>
          <p:cNvPr id="22" name="Shape 20"/>
          <p:cNvSpPr/>
          <p:nvPr/>
        </p:nvSpPr>
        <p:spPr>
          <a:xfrm>
            <a:off x="7799832" y="822960"/>
            <a:ext cx="1097280" cy="658368"/>
          </a:xfrm>
          <a:prstGeom prst="rect">
            <a:avLst/>
          </a:prstGeom>
          <a:solidFill>
            <a:srgbClr val="1A2333"/>
          </a:solidFill>
          <a:ln w="12700">
            <a:solidFill>
              <a:srgbClr val="F59E0B"/>
            </a:solidFill>
            <a:prstDash val="solid"/>
          </a:ln>
        </p:spPr>
        <p:txBody>
          <a:bodyPr/>
          <a:lstStyle/>
          <a:p>
            <a:endParaRPr lang="en-GB"/>
          </a:p>
        </p:txBody>
      </p:sp>
      <p:sp>
        <p:nvSpPr>
          <p:cNvPr id="23" name="Text 21"/>
          <p:cNvSpPr/>
          <p:nvPr/>
        </p:nvSpPr>
        <p:spPr>
          <a:xfrm>
            <a:off x="7799832" y="822960"/>
            <a:ext cx="1097280" cy="658368"/>
          </a:xfrm>
          <a:prstGeom prst="rect">
            <a:avLst/>
          </a:prstGeom>
          <a:noFill/>
          <a:ln/>
        </p:spPr>
        <p:txBody>
          <a:bodyPr wrap="square" lIns="25400" tIns="25400" rIns="25400" bIns="25400" rtlCol="0" anchor="ctr"/>
          <a:lstStyle/>
          <a:p>
            <a:pPr marL="0" indent="0" algn="ctr">
              <a:buNone/>
            </a:pPr>
            <a:r>
              <a:rPr lang="en-US" sz="850" dirty="0">
                <a:solidFill>
                  <a:srgbClr val="F59E0B"/>
                </a:solidFill>
                <a:latin typeface="Calibri" pitchFamily="34" charset="0"/>
                <a:ea typeface="Calibri" pitchFamily="34" charset="-122"/>
                <a:cs typeface="Calibri" pitchFamily="34" charset="-120"/>
              </a:rPr>
              <a:t>Cross</a:t>
            </a:r>
            <a:endParaRPr lang="en-US" sz="850" dirty="0"/>
          </a:p>
          <a:p>
            <a:pPr marL="0" indent="0" algn="ctr">
              <a:buNone/>
            </a:pPr>
            <a:r>
              <a:rPr lang="en-US" sz="850" dirty="0">
                <a:solidFill>
                  <a:srgbClr val="F59E0B"/>
                </a:solidFill>
                <a:latin typeface="Calibri" pitchFamily="34" charset="0"/>
                <a:ea typeface="Calibri" pitchFamily="34" charset="-122"/>
                <a:cs typeface="Calibri" pitchFamily="34" charset="-120"/>
              </a:rPr>
              <a:t>Validation</a:t>
            </a:r>
            <a:endParaRPr lang="en-US" sz="850" dirty="0"/>
          </a:p>
        </p:txBody>
      </p:sp>
      <p:sp>
        <p:nvSpPr>
          <p:cNvPr id="24" name="Shape 22"/>
          <p:cNvSpPr/>
          <p:nvPr/>
        </p:nvSpPr>
        <p:spPr>
          <a:xfrm>
            <a:off x="228600" y="1691640"/>
            <a:ext cx="2788920" cy="1417320"/>
          </a:xfrm>
          <a:prstGeom prst="rect">
            <a:avLst/>
          </a:prstGeom>
          <a:solidFill>
            <a:srgbClr val="111827"/>
          </a:solidFill>
          <a:ln w="10160">
            <a:solidFill>
              <a:srgbClr val="F59E0B"/>
            </a:solidFill>
            <a:prstDash val="solid"/>
          </a:ln>
        </p:spPr>
        <p:txBody>
          <a:bodyPr/>
          <a:lstStyle/>
          <a:p>
            <a:endParaRPr lang="en-GB"/>
          </a:p>
        </p:txBody>
      </p:sp>
      <p:sp>
        <p:nvSpPr>
          <p:cNvPr id="25" name="Text 23"/>
          <p:cNvSpPr/>
          <p:nvPr/>
        </p:nvSpPr>
        <p:spPr>
          <a:xfrm>
            <a:off x="338328" y="1783080"/>
            <a:ext cx="2286000" cy="347472"/>
          </a:xfrm>
          <a:prstGeom prst="rect">
            <a:avLst/>
          </a:prstGeom>
          <a:noFill/>
          <a:ln/>
        </p:spPr>
        <p:txBody>
          <a:bodyPr wrap="square" lIns="0" tIns="0" rIns="0" bIns="0"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Decision Tree</a:t>
            </a:r>
            <a:endParaRPr lang="en-US" sz="1300" dirty="0"/>
          </a:p>
        </p:txBody>
      </p:sp>
      <p:sp>
        <p:nvSpPr>
          <p:cNvPr id="26" name="Text 24"/>
          <p:cNvSpPr/>
          <p:nvPr/>
        </p:nvSpPr>
        <p:spPr>
          <a:xfrm>
            <a:off x="338328" y="2167128"/>
            <a:ext cx="2560320" cy="86868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Tree-based; handles discrete features well; prone to overfitting</a:t>
            </a:r>
            <a:endParaRPr lang="en-US" sz="950" dirty="0"/>
          </a:p>
        </p:txBody>
      </p:sp>
      <p:sp>
        <p:nvSpPr>
          <p:cNvPr id="27" name="Shape 25"/>
          <p:cNvSpPr/>
          <p:nvPr/>
        </p:nvSpPr>
        <p:spPr>
          <a:xfrm>
            <a:off x="3172968" y="1691640"/>
            <a:ext cx="2788920" cy="1417320"/>
          </a:xfrm>
          <a:prstGeom prst="rect">
            <a:avLst/>
          </a:prstGeom>
          <a:solidFill>
            <a:srgbClr val="111827"/>
          </a:solidFill>
          <a:ln w="25400">
            <a:solidFill>
              <a:srgbClr val="22C55E"/>
            </a:solidFill>
            <a:prstDash val="solid"/>
          </a:ln>
        </p:spPr>
        <p:txBody>
          <a:bodyPr/>
          <a:lstStyle/>
          <a:p>
            <a:endParaRPr lang="en-GB"/>
          </a:p>
        </p:txBody>
      </p:sp>
      <p:sp>
        <p:nvSpPr>
          <p:cNvPr id="28" name="Text 26"/>
          <p:cNvSpPr/>
          <p:nvPr/>
        </p:nvSpPr>
        <p:spPr>
          <a:xfrm>
            <a:off x="5276088" y="1764792"/>
            <a:ext cx="594360" cy="256032"/>
          </a:xfrm>
          <a:prstGeom prst="rect">
            <a:avLst/>
          </a:prstGeom>
          <a:noFill/>
          <a:ln/>
        </p:spPr>
        <p:txBody>
          <a:bodyPr wrap="square" lIns="0" tIns="0" rIns="0" bIns="0" rtlCol="0" anchor="ctr"/>
          <a:lstStyle/>
          <a:p>
            <a:pPr marL="0" indent="0" algn="ctr">
              <a:buNone/>
            </a:pPr>
            <a:r>
              <a:rPr lang="en-US" sz="850" b="1" dirty="0">
                <a:solidFill>
                  <a:srgbClr val="22C55E"/>
                </a:solidFill>
                <a:latin typeface="Calibri" pitchFamily="34" charset="0"/>
                <a:ea typeface="Calibri" pitchFamily="34" charset="-122"/>
                <a:cs typeface="Calibri" pitchFamily="34" charset="-120"/>
              </a:rPr>
              <a:t>★ BEST</a:t>
            </a:r>
            <a:endParaRPr lang="en-US" sz="850" dirty="0"/>
          </a:p>
        </p:txBody>
      </p:sp>
      <p:sp>
        <p:nvSpPr>
          <p:cNvPr id="29" name="Text 27"/>
          <p:cNvSpPr/>
          <p:nvPr/>
        </p:nvSpPr>
        <p:spPr>
          <a:xfrm>
            <a:off x="3282696" y="1783080"/>
            <a:ext cx="2286000" cy="347472"/>
          </a:xfrm>
          <a:prstGeom prst="rect">
            <a:avLst/>
          </a:prstGeom>
          <a:noFill/>
          <a:ln/>
        </p:spPr>
        <p:txBody>
          <a:bodyPr wrap="square" lIns="0" tIns="0" rIns="0" bIns="0" rtlCol="0" anchor="ctr"/>
          <a:lstStyle/>
          <a:p>
            <a:pPr marL="0" indent="0">
              <a:buNone/>
            </a:pPr>
            <a:r>
              <a:rPr lang="en-US" sz="1300" b="1" dirty="0">
                <a:solidFill>
                  <a:srgbClr val="22C55E"/>
                </a:solidFill>
                <a:latin typeface="Calibri" pitchFamily="34" charset="0"/>
                <a:ea typeface="Calibri" pitchFamily="34" charset="-122"/>
                <a:cs typeface="Calibri" pitchFamily="34" charset="-120"/>
              </a:rPr>
              <a:t>Random Forest</a:t>
            </a:r>
            <a:endParaRPr lang="en-US" sz="1300" dirty="0"/>
          </a:p>
        </p:txBody>
      </p:sp>
      <p:sp>
        <p:nvSpPr>
          <p:cNvPr id="30" name="Text 28"/>
          <p:cNvSpPr/>
          <p:nvPr/>
        </p:nvSpPr>
        <p:spPr>
          <a:xfrm>
            <a:off x="3282696" y="2167128"/>
            <a:ext cx="2560320" cy="86868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Ensemble of 200 trees; highest performance; most stable</a:t>
            </a:r>
            <a:endParaRPr lang="en-US" sz="950" dirty="0"/>
          </a:p>
        </p:txBody>
      </p:sp>
      <p:sp>
        <p:nvSpPr>
          <p:cNvPr id="31" name="Shape 29"/>
          <p:cNvSpPr/>
          <p:nvPr/>
        </p:nvSpPr>
        <p:spPr>
          <a:xfrm>
            <a:off x="6117336" y="1691640"/>
            <a:ext cx="2788920" cy="1417320"/>
          </a:xfrm>
          <a:prstGeom prst="rect">
            <a:avLst/>
          </a:prstGeom>
          <a:solidFill>
            <a:srgbClr val="111827"/>
          </a:solidFill>
          <a:ln w="10160">
            <a:solidFill>
              <a:srgbClr val="00D4FF"/>
            </a:solidFill>
            <a:prstDash val="solid"/>
          </a:ln>
        </p:spPr>
        <p:txBody>
          <a:bodyPr/>
          <a:lstStyle/>
          <a:p>
            <a:endParaRPr lang="en-GB"/>
          </a:p>
        </p:txBody>
      </p:sp>
      <p:sp>
        <p:nvSpPr>
          <p:cNvPr id="32" name="Text 30"/>
          <p:cNvSpPr/>
          <p:nvPr/>
        </p:nvSpPr>
        <p:spPr>
          <a:xfrm>
            <a:off x="6227064" y="1783080"/>
            <a:ext cx="2286000" cy="347472"/>
          </a:xfrm>
          <a:prstGeom prst="rect">
            <a:avLst/>
          </a:prstGeom>
          <a:noFill/>
          <a:ln/>
        </p:spPr>
        <p:txBody>
          <a:bodyPr wrap="square" lIns="0" tIns="0" rIns="0" bIns="0" rtlCol="0" anchor="ctr"/>
          <a:lstStyle/>
          <a:p>
            <a:pPr marL="0" indent="0">
              <a:buNone/>
            </a:pPr>
            <a:r>
              <a:rPr lang="en-US" sz="1300" b="1" dirty="0">
                <a:solidFill>
                  <a:srgbClr val="00D4FF"/>
                </a:solidFill>
                <a:latin typeface="Calibri" pitchFamily="34" charset="0"/>
                <a:ea typeface="Calibri" pitchFamily="34" charset="-122"/>
                <a:cs typeface="Calibri" pitchFamily="34" charset="-120"/>
              </a:rPr>
              <a:t>SVM</a:t>
            </a:r>
            <a:endParaRPr lang="en-US" sz="1300" dirty="0"/>
          </a:p>
        </p:txBody>
      </p:sp>
      <p:sp>
        <p:nvSpPr>
          <p:cNvPr id="33" name="Text 31"/>
          <p:cNvSpPr/>
          <p:nvPr/>
        </p:nvSpPr>
        <p:spPr>
          <a:xfrm>
            <a:off x="6227064" y="2167128"/>
            <a:ext cx="2560320" cy="86868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Pipeline: StandardScaler + SVC; finds optimal class boundary</a:t>
            </a:r>
            <a:endParaRPr lang="en-US" sz="950" dirty="0"/>
          </a:p>
        </p:txBody>
      </p:sp>
      <p:sp>
        <p:nvSpPr>
          <p:cNvPr id="34" name="Shape 32"/>
          <p:cNvSpPr/>
          <p:nvPr/>
        </p:nvSpPr>
        <p:spPr>
          <a:xfrm>
            <a:off x="228600" y="3291840"/>
            <a:ext cx="2788920" cy="1417320"/>
          </a:xfrm>
          <a:prstGeom prst="rect">
            <a:avLst/>
          </a:prstGeom>
          <a:solidFill>
            <a:srgbClr val="111827"/>
          </a:solidFill>
          <a:ln w="10160">
            <a:solidFill>
              <a:srgbClr val="94A3B8"/>
            </a:solidFill>
            <a:prstDash val="solid"/>
          </a:ln>
        </p:spPr>
        <p:txBody>
          <a:bodyPr/>
          <a:lstStyle/>
          <a:p>
            <a:endParaRPr lang="en-GB"/>
          </a:p>
        </p:txBody>
      </p:sp>
      <p:sp>
        <p:nvSpPr>
          <p:cNvPr id="35" name="Text 33"/>
          <p:cNvSpPr/>
          <p:nvPr/>
        </p:nvSpPr>
        <p:spPr>
          <a:xfrm>
            <a:off x="338328" y="3383280"/>
            <a:ext cx="2286000" cy="347472"/>
          </a:xfrm>
          <a:prstGeom prst="rect">
            <a:avLst/>
          </a:prstGeom>
          <a:noFill/>
          <a:ln/>
        </p:spPr>
        <p:txBody>
          <a:bodyPr wrap="square" lIns="0" tIns="0" rIns="0" bIns="0" rtlCol="0" anchor="ctr"/>
          <a:lstStyle/>
          <a:p>
            <a:pPr marL="0" indent="0">
              <a:buNone/>
            </a:pPr>
            <a:r>
              <a:rPr lang="en-US" sz="1300" b="1" dirty="0">
                <a:solidFill>
                  <a:srgbClr val="94A3B8"/>
                </a:solidFill>
                <a:latin typeface="Calibri" pitchFamily="34" charset="0"/>
                <a:ea typeface="Calibri" pitchFamily="34" charset="-122"/>
                <a:cs typeface="Calibri" pitchFamily="34" charset="-120"/>
              </a:rPr>
              <a:t>Logistic Regression</a:t>
            </a:r>
            <a:endParaRPr lang="en-US" sz="1300" dirty="0"/>
          </a:p>
        </p:txBody>
      </p:sp>
      <p:sp>
        <p:nvSpPr>
          <p:cNvPr id="36" name="Text 34"/>
          <p:cNvSpPr/>
          <p:nvPr/>
        </p:nvSpPr>
        <p:spPr>
          <a:xfrm>
            <a:off x="338328" y="3767328"/>
            <a:ext cx="2560320" cy="86868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Pipeline: StandardScaler + LR; max_iter=2000; linear baseline</a:t>
            </a:r>
            <a:endParaRPr lang="en-US" sz="950" dirty="0"/>
          </a:p>
        </p:txBody>
      </p:sp>
      <p:sp>
        <p:nvSpPr>
          <p:cNvPr id="37" name="Shape 35"/>
          <p:cNvSpPr/>
          <p:nvPr/>
        </p:nvSpPr>
        <p:spPr>
          <a:xfrm>
            <a:off x="3172968" y="3291840"/>
            <a:ext cx="2788920" cy="1417320"/>
          </a:xfrm>
          <a:prstGeom prst="rect">
            <a:avLst/>
          </a:prstGeom>
          <a:solidFill>
            <a:srgbClr val="111827"/>
          </a:solidFill>
          <a:ln w="10160">
            <a:solidFill>
              <a:srgbClr val="EF4444"/>
            </a:solidFill>
            <a:prstDash val="solid"/>
          </a:ln>
        </p:spPr>
        <p:txBody>
          <a:bodyPr/>
          <a:lstStyle/>
          <a:p>
            <a:endParaRPr lang="en-GB"/>
          </a:p>
        </p:txBody>
      </p:sp>
      <p:sp>
        <p:nvSpPr>
          <p:cNvPr id="38" name="Text 36"/>
          <p:cNvSpPr/>
          <p:nvPr/>
        </p:nvSpPr>
        <p:spPr>
          <a:xfrm>
            <a:off x="3282696" y="3383280"/>
            <a:ext cx="2286000" cy="347472"/>
          </a:xfrm>
          <a:prstGeom prst="rect">
            <a:avLst/>
          </a:prstGeom>
          <a:noFill/>
          <a:ln/>
        </p:spPr>
        <p:txBody>
          <a:bodyPr wrap="square" lIns="0" tIns="0" rIns="0" bIns="0" rtlCol="0" anchor="ctr"/>
          <a:lstStyle/>
          <a:p>
            <a:pPr marL="0" indent="0">
              <a:buNone/>
            </a:pPr>
            <a:r>
              <a:rPr lang="en-US" sz="1300" b="1" dirty="0">
                <a:solidFill>
                  <a:srgbClr val="EF4444"/>
                </a:solidFill>
                <a:latin typeface="Calibri" pitchFamily="34" charset="0"/>
                <a:ea typeface="Calibri" pitchFamily="34" charset="-122"/>
                <a:cs typeface="Calibri" pitchFamily="34" charset="-120"/>
              </a:rPr>
              <a:t>Naïve Bayes</a:t>
            </a:r>
            <a:endParaRPr lang="en-US" sz="1300" dirty="0"/>
          </a:p>
        </p:txBody>
      </p:sp>
      <p:sp>
        <p:nvSpPr>
          <p:cNvPr id="39" name="Text 37"/>
          <p:cNvSpPr/>
          <p:nvPr/>
        </p:nvSpPr>
        <p:spPr>
          <a:xfrm>
            <a:off x="3282696" y="3767328"/>
            <a:ext cx="2560320" cy="86868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GaussianNB; assumes feature independence; poor for correlated features</a:t>
            </a:r>
            <a:endParaRPr lang="en-US" sz="950" dirty="0"/>
          </a:p>
        </p:txBody>
      </p:sp>
      <p:sp>
        <p:nvSpPr>
          <p:cNvPr id="40" name="Shape 38"/>
          <p:cNvSpPr/>
          <p:nvPr/>
        </p:nvSpPr>
        <p:spPr>
          <a:xfrm>
            <a:off x="6117336" y="3291840"/>
            <a:ext cx="2788920" cy="1417320"/>
          </a:xfrm>
          <a:prstGeom prst="rect">
            <a:avLst/>
          </a:prstGeom>
          <a:solidFill>
            <a:srgbClr val="111827"/>
          </a:solidFill>
          <a:ln w="10160">
            <a:solidFill>
              <a:srgbClr val="F59E0B"/>
            </a:solidFill>
            <a:prstDash val="solid"/>
          </a:ln>
        </p:spPr>
        <p:txBody>
          <a:bodyPr/>
          <a:lstStyle/>
          <a:p>
            <a:endParaRPr lang="en-GB"/>
          </a:p>
        </p:txBody>
      </p:sp>
      <p:sp>
        <p:nvSpPr>
          <p:cNvPr id="41" name="Text 39"/>
          <p:cNvSpPr/>
          <p:nvPr/>
        </p:nvSpPr>
        <p:spPr>
          <a:xfrm>
            <a:off x="6227064" y="3383280"/>
            <a:ext cx="2286000" cy="347472"/>
          </a:xfrm>
          <a:prstGeom prst="rect">
            <a:avLst/>
          </a:prstGeom>
          <a:noFill/>
          <a:ln/>
        </p:spPr>
        <p:txBody>
          <a:bodyPr wrap="square" lIns="0" tIns="0" rIns="0" bIns="0"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KNN (k=5)</a:t>
            </a:r>
            <a:endParaRPr lang="en-US" sz="1300" dirty="0"/>
          </a:p>
        </p:txBody>
      </p:sp>
      <p:sp>
        <p:nvSpPr>
          <p:cNvPr id="42" name="Text 40"/>
          <p:cNvSpPr/>
          <p:nvPr/>
        </p:nvSpPr>
        <p:spPr>
          <a:xfrm>
            <a:off x="6227064" y="3767328"/>
            <a:ext cx="2560320" cy="86868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Pipeline: StandardScaler + KNN; k=5 neighbors; distance-based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2C55E"/>
          </a:solidFill>
          <a:ln w="12700">
            <a:solidFill>
              <a:srgbClr val="22C55E"/>
            </a:solidFill>
            <a:prstDash val="solid"/>
          </a:ln>
        </p:spPr>
        <p:txBody>
          <a:bodyPr/>
          <a:lstStyle/>
          <a:p>
            <a:endParaRPr lang="en-GB"/>
          </a:p>
        </p:txBody>
      </p:sp>
      <p:sp>
        <p:nvSpPr>
          <p:cNvPr id="3" name="Text 1"/>
          <p:cNvSpPr/>
          <p:nvPr/>
        </p:nvSpPr>
        <p:spPr>
          <a:xfrm>
            <a:off x="274320" y="182880"/>
            <a:ext cx="8595360" cy="45720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Results — Model Performance Comparison</a:t>
            </a:r>
            <a:endParaRPr lang="en-US" sz="2600" dirty="0"/>
          </a:p>
        </p:txBody>
      </p:sp>
      <p:graphicFrame>
        <p:nvGraphicFramePr>
          <p:cNvPr id="4" name="Chart 0"/>
          <p:cNvGraphicFramePr/>
          <p:nvPr/>
        </p:nvGraphicFramePr>
        <p:xfrm>
          <a:off x="274320" y="777240"/>
          <a:ext cx="502920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5486400" y="777240"/>
            <a:ext cx="1737360" cy="347472"/>
          </a:xfrm>
          <a:prstGeom prst="rect">
            <a:avLst/>
          </a:prstGeom>
          <a:solidFill>
            <a:srgbClr val="0891B2"/>
          </a:solidFill>
          <a:ln w="6350">
            <a:solidFill>
              <a:srgbClr val="0A0E1A"/>
            </a:solidFill>
            <a:prstDash val="solid"/>
          </a:ln>
        </p:spPr>
        <p:txBody>
          <a:bodyPr/>
          <a:lstStyle/>
          <a:p>
            <a:endParaRPr lang="en-GB"/>
          </a:p>
        </p:txBody>
      </p:sp>
      <p:sp>
        <p:nvSpPr>
          <p:cNvPr id="6" name="Text 3"/>
          <p:cNvSpPr/>
          <p:nvPr/>
        </p:nvSpPr>
        <p:spPr>
          <a:xfrm>
            <a:off x="5522976" y="777240"/>
            <a:ext cx="1664208"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Model</a:t>
            </a:r>
            <a:endParaRPr lang="en-US" sz="850" dirty="0"/>
          </a:p>
        </p:txBody>
      </p:sp>
      <p:sp>
        <p:nvSpPr>
          <p:cNvPr id="7" name="Shape 4"/>
          <p:cNvSpPr/>
          <p:nvPr/>
        </p:nvSpPr>
        <p:spPr>
          <a:xfrm>
            <a:off x="7223760" y="777240"/>
            <a:ext cx="658368" cy="347472"/>
          </a:xfrm>
          <a:prstGeom prst="rect">
            <a:avLst/>
          </a:prstGeom>
          <a:solidFill>
            <a:srgbClr val="0891B2"/>
          </a:solidFill>
          <a:ln w="6350">
            <a:solidFill>
              <a:srgbClr val="0A0E1A"/>
            </a:solidFill>
            <a:prstDash val="solid"/>
          </a:ln>
        </p:spPr>
        <p:txBody>
          <a:bodyPr/>
          <a:lstStyle/>
          <a:p>
            <a:endParaRPr lang="en-GB"/>
          </a:p>
        </p:txBody>
      </p:sp>
      <p:sp>
        <p:nvSpPr>
          <p:cNvPr id="8" name="Text 5"/>
          <p:cNvSpPr/>
          <p:nvPr/>
        </p:nvSpPr>
        <p:spPr>
          <a:xfrm>
            <a:off x="7260336" y="777240"/>
            <a:ext cx="585216"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p>
        </p:txBody>
      </p:sp>
      <p:sp>
        <p:nvSpPr>
          <p:cNvPr id="9" name="Shape 6"/>
          <p:cNvSpPr/>
          <p:nvPr/>
        </p:nvSpPr>
        <p:spPr>
          <a:xfrm>
            <a:off x="7882128" y="777240"/>
            <a:ext cx="658368" cy="347472"/>
          </a:xfrm>
          <a:prstGeom prst="rect">
            <a:avLst/>
          </a:prstGeom>
          <a:solidFill>
            <a:srgbClr val="0891B2"/>
          </a:solidFill>
          <a:ln w="6350">
            <a:solidFill>
              <a:srgbClr val="0A0E1A"/>
            </a:solidFill>
            <a:prstDash val="solid"/>
          </a:ln>
        </p:spPr>
        <p:txBody>
          <a:bodyPr/>
          <a:lstStyle/>
          <a:p>
            <a:endParaRPr lang="en-GB"/>
          </a:p>
        </p:txBody>
      </p:sp>
      <p:sp>
        <p:nvSpPr>
          <p:cNvPr id="10" name="Text 7"/>
          <p:cNvSpPr/>
          <p:nvPr/>
        </p:nvSpPr>
        <p:spPr>
          <a:xfrm>
            <a:off x="7918704" y="777240"/>
            <a:ext cx="585216"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Precision</a:t>
            </a:r>
            <a:endParaRPr lang="en-US" sz="850" dirty="0"/>
          </a:p>
        </p:txBody>
      </p:sp>
      <p:sp>
        <p:nvSpPr>
          <p:cNvPr id="11" name="Shape 8"/>
          <p:cNvSpPr/>
          <p:nvPr/>
        </p:nvSpPr>
        <p:spPr>
          <a:xfrm>
            <a:off x="8540496" y="777240"/>
            <a:ext cx="658368" cy="347472"/>
          </a:xfrm>
          <a:prstGeom prst="rect">
            <a:avLst/>
          </a:prstGeom>
          <a:solidFill>
            <a:srgbClr val="0891B2"/>
          </a:solidFill>
          <a:ln w="6350">
            <a:solidFill>
              <a:srgbClr val="0A0E1A"/>
            </a:solidFill>
            <a:prstDash val="solid"/>
          </a:ln>
        </p:spPr>
        <p:txBody>
          <a:bodyPr/>
          <a:lstStyle/>
          <a:p>
            <a:endParaRPr lang="en-GB"/>
          </a:p>
        </p:txBody>
      </p:sp>
      <p:sp>
        <p:nvSpPr>
          <p:cNvPr id="12" name="Text 9"/>
          <p:cNvSpPr/>
          <p:nvPr/>
        </p:nvSpPr>
        <p:spPr>
          <a:xfrm>
            <a:off x="8577072" y="777240"/>
            <a:ext cx="585216"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Recall</a:t>
            </a:r>
            <a:endParaRPr lang="en-US" sz="850" dirty="0"/>
          </a:p>
        </p:txBody>
      </p:sp>
      <p:sp>
        <p:nvSpPr>
          <p:cNvPr id="13" name="Shape 10"/>
          <p:cNvSpPr/>
          <p:nvPr/>
        </p:nvSpPr>
        <p:spPr>
          <a:xfrm>
            <a:off x="9198864" y="777240"/>
            <a:ext cx="658368" cy="347472"/>
          </a:xfrm>
          <a:prstGeom prst="rect">
            <a:avLst/>
          </a:prstGeom>
          <a:solidFill>
            <a:srgbClr val="0891B2"/>
          </a:solidFill>
          <a:ln w="6350">
            <a:solidFill>
              <a:srgbClr val="0A0E1A"/>
            </a:solidFill>
            <a:prstDash val="solid"/>
          </a:ln>
        </p:spPr>
        <p:txBody>
          <a:bodyPr/>
          <a:lstStyle/>
          <a:p>
            <a:endParaRPr lang="en-GB"/>
          </a:p>
        </p:txBody>
      </p:sp>
      <p:sp>
        <p:nvSpPr>
          <p:cNvPr id="14" name="Text 11"/>
          <p:cNvSpPr/>
          <p:nvPr/>
        </p:nvSpPr>
        <p:spPr>
          <a:xfrm>
            <a:off x="9235440" y="777240"/>
            <a:ext cx="585216"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F1-Score</a:t>
            </a:r>
            <a:endParaRPr lang="en-US" sz="850" dirty="0"/>
          </a:p>
        </p:txBody>
      </p:sp>
      <p:sp>
        <p:nvSpPr>
          <p:cNvPr id="15" name="Shape 12"/>
          <p:cNvSpPr/>
          <p:nvPr/>
        </p:nvSpPr>
        <p:spPr>
          <a:xfrm>
            <a:off x="9857232" y="777240"/>
            <a:ext cx="685800" cy="347472"/>
          </a:xfrm>
          <a:prstGeom prst="rect">
            <a:avLst/>
          </a:prstGeom>
          <a:solidFill>
            <a:srgbClr val="0891B2"/>
          </a:solidFill>
          <a:ln w="6350">
            <a:solidFill>
              <a:srgbClr val="0A0E1A"/>
            </a:solidFill>
            <a:prstDash val="solid"/>
          </a:ln>
        </p:spPr>
        <p:txBody>
          <a:bodyPr/>
          <a:lstStyle/>
          <a:p>
            <a:endParaRPr lang="en-GB"/>
          </a:p>
        </p:txBody>
      </p:sp>
      <p:sp>
        <p:nvSpPr>
          <p:cNvPr id="16" name="Text 13"/>
          <p:cNvSpPr/>
          <p:nvPr/>
        </p:nvSpPr>
        <p:spPr>
          <a:xfrm>
            <a:off x="9893808" y="777240"/>
            <a:ext cx="612648"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ROC-AUC</a:t>
            </a:r>
            <a:endParaRPr lang="en-US" sz="850" dirty="0"/>
          </a:p>
        </p:txBody>
      </p:sp>
      <p:sp>
        <p:nvSpPr>
          <p:cNvPr id="17" name="Shape 14"/>
          <p:cNvSpPr/>
          <p:nvPr/>
        </p:nvSpPr>
        <p:spPr>
          <a:xfrm>
            <a:off x="5486400" y="1124712"/>
            <a:ext cx="1737360" cy="402336"/>
          </a:xfrm>
          <a:prstGeom prst="rect">
            <a:avLst/>
          </a:prstGeom>
          <a:solidFill>
            <a:srgbClr val="0C2A1A"/>
          </a:solidFill>
          <a:ln w="6350">
            <a:solidFill>
              <a:srgbClr val="1E293B"/>
            </a:solidFill>
            <a:prstDash val="solid"/>
          </a:ln>
        </p:spPr>
        <p:txBody>
          <a:bodyPr/>
          <a:lstStyle/>
          <a:p>
            <a:endParaRPr lang="en-GB"/>
          </a:p>
        </p:txBody>
      </p:sp>
      <p:sp>
        <p:nvSpPr>
          <p:cNvPr id="18" name="Text 15"/>
          <p:cNvSpPr/>
          <p:nvPr/>
        </p:nvSpPr>
        <p:spPr>
          <a:xfrm>
            <a:off x="5522976" y="1161288"/>
            <a:ext cx="1664208" cy="32918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Random Forest ★</a:t>
            </a:r>
            <a:endParaRPr lang="en-US" sz="850" dirty="0"/>
          </a:p>
        </p:txBody>
      </p:sp>
      <p:sp>
        <p:nvSpPr>
          <p:cNvPr id="19" name="Shape 16"/>
          <p:cNvSpPr/>
          <p:nvPr/>
        </p:nvSpPr>
        <p:spPr>
          <a:xfrm>
            <a:off x="7223760" y="1124712"/>
            <a:ext cx="658368" cy="402336"/>
          </a:xfrm>
          <a:prstGeom prst="rect">
            <a:avLst/>
          </a:prstGeom>
          <a:solidFill>
            <a:srgbClr val="0C2A1A"/>
          </a:solidFill>
          <a:ln w="6350">
            <a:solidFill>
              <a:srgbClr val="1E293B"/>
            </a:solidFill>
            <a:prstDash val="solid"/>
          </a:ln>
        </p:spPr>
        <p:txBody>
          <a:bodyPr/>
          <a:lstStyle/>
          <a:p>
            <a:endParaRPr lang="en-GB"/>
          </a:p>
        </p:txBody>
      </p:sp>
      <p:sp>
        <p:nvSpPr>
          <p:cNvPr id="20" name="Text 17"/>
          <p:cNvSpPr/>
          <p:nvPr/>
        </p:nvSpPr>
        <p:spPr>
          <a:xfrm>
            <a:off x="7260336" y="1161288"/>
            <a:ext cx="585216" cy="32918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97.69%</a:t>
            </a:r>
            <a:endParaRPr lang="en-US" sz="850" dirty="0"/>
          </a:p>
        </p:txBody>
      </p:sp>
      <p:sp>
        <p:nvSpPr>
          <p:cNvPr id="21" name="Shape 18"/>
          <p:cNvSpPr/>
          <p:nvPr/>
        </p:nvSpPr>
        <p:spPr>
          <a:xfrm>
            <a:off x="7882128" y="1124712"/>
            <a:ext cx="658368" cy="402336"/>
          </a:xfrm>
          <a:prstGeom prst="rect">
            <a:avLst/>
          </a:prstGeom>
          <a:solidFill>
            <a:srgbClr val="0C2A1A"/>
          </a:solidFill>
          <a:ln w="6350">
            <a:solidFill>
              <a:srgbClr val="1E293B"/>
            </a:solidFill>
            <a:prstDash val="solid"/>
          </a:ln>
        </p:spPr>
        <p:txBody>
          <a:bodyPr/>
          <a:lstStyle/>
          <a:p>
            <a:endParaRPr lang="en-GB"/>
          </a:p>
        </p:txBody>
      </p:sp>
      <p:sp>
        <p:nvSpPr>
          <p:cNvPr id="22" name="Text 19"/>
          <p:cNvSpPr/>
          <p:nvPr/>
        </p:nvSpPr>
        <p:spPr>
          <a:xfrm>
            <a:off x="7918704" y="1161288"/>
            <a:ext cx="585216" cy="32918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98.04%</a:t>
            </a:r>
            <a:endParaRPr lang="en-US" sz="850" dirty="0"/>
          </a:p>
        </p:txBody>
      </p:sp>
      <p:sp>
        <p:nvSpPr>
          <p:cNvPr id="23" name="Shape 20"/>
          <p:cNvSpPr/>
          <p:nvPr/>
        </p:nvSpPr>
        <p:spPr>
          <a:xfrm>
            <a:off x="8540496" y="1124712"/>
            <a:ext cx="658368" cy="402336"/>
          </a:xfrm>
          <a:prstGeom prst="rect">
            <a:avLst/>
          </a:prstGeom>
          <a:solidFill>
            <a:srgbClr val="0C2A1A"/>
          </a:solidFill>
          <a:ln w="6350">
            <a:solidFill>
              <a:srgbClr val="1E293B"/>
            </a:solidFill>
            <a:prstDash val="solid"/>
          </a:ln>
        </p:spPr>
        <p:txBody>
          <a:bodyPr/>
          <a:lstStyle/>
          <a:p>
            <a:endParaRPr lang="en-GB"/>
          </a:p>
        </p:txBody>
      </p:sp>
      <p:sp>
        <p:nvSpPr>
          <p:cNvPr id="24" name="Text 21"/>
          <p:cNvSpPr/>
          <p:nvPr/>
        </p:nvSpPr>
        <p:spPr>
          <a:xfrm>
            <a:off x="8577072" y="1161288"/>
            <a:ext cx="585216" cy="32918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96.73%</a:t>
            </a:r>
            <a:endParaRPr lang="en-US" sz="850" dirty="0"/>
          </a:p>
        </p:txBody>
      </p:sp>
      <p:sp>
        <p:nvSpPr>
          <p:cNvPr id="25" name="Shape 22"/>
          <p:cNvSpPr/>
          <p:nvPr/>
        </p:nvSpPr>
        <p:spPr>
          <a:xfrm>
            <a:off x="9198864" y="1124712"/>
            <a:ext cx="658368" cy="402336"/>
          </a:xfrm>
          <a:prstGeom prst="rect">
            <a:avLst/>
          </a:prstGeom>
          <a:solidFill>
            <a:srgbClr val="0C2A1A"/>
          </a:solidFill>
          <a:ln w="6350">
            <a:solidFill>
              <a:srgbClr val="1E293B"/>
            </a:solidFill>
            <a:prstDash val="solid"/>
          </a:ln>
        </p:spPr>
        <p:txBody>
          <a:bodyPr/>
          <a:lstStyle/>
          <a:p>
            <a:endParaRPr lang="en-GB"/>
          </a:p>
        </p:txBody>
      </p:sp>
      <p:sp>
        <p:nvSpPr>
          <p:cNvPr id="26" name="Text 23"/>
          <p:cNvSpPr/>
          <p:nvPr/>
        </p:nvSpPr>
        <p:spPr>
          <a:xfrm>
            <a:off x="9235440" y="1161288"/>
            <a:ext cx="585216" cy="32918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97.38%</a:t>
            </a:r>
            <a:endParaRPr lang="en-US" sz="850" dirty="0"/>
          </a:p>
        </p:txBody>
      </p:sp>
      <p:sp>
        <p:nvSpPr>
          <p:cNvPr id="27" name="Shape 24"/>
          <p:cNvSpPr/>
          <p:nvPr/>
        </p:nvSpPr>
        <p:spPr>
          <a:xfrm>
            <a:off x="9857232" y="1124712"/>
            <a:ext cx="685800" cy="402336"/>
          </a:xfrm>
          <a:prstGeom prst="rect">
            <a:avLst/>
          </a:prstGeom>
          <a:solidFill>
            <a:srgbClr val="0C2A1A"/>
          </a:solidFill>
          <a:ln w="6350">
            <a:solidFill>
              <a:srgbClr val="1E293B"/>
            </a:solidFill>
            <a:prstDash val="solid"/>
          </a:ln>
        </p:spPr>
        <p:txBody>
          <a:bodyPr/>
          <a:lstStyle/>
          <a:p>
            <a:endParaRPr lang="en-GB"/>
          </a:p>
        </p:txBody>
      </p:sp>
      <p:sp>
        <p:nvSpPr>
          <p:cNvPr id="28" name="Text 25"/>
          <p:cNvSpPr/>
          <p:nvPr/>
        </p:nvSpPr>
        <p:spPr>
          <a:xfrm>
            <a:off x="9893808" y="1161288"/>
            <a:ext cx="612648" cy="32918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99.64%</a:t>
            </a:r>
            <a:endParaRPr lang="en-US" sz="850" dirty="0"/>
          </a:p>
        </p:txBody>
      </p:sp>
      <p:sp>
        <p:nvSpPr>
          <p:cNvPr id="29" name="Shape 26"/>
          <p:cNvSpPr/>
          <p:nvPr/>
        </p:nvSpPr>
        <p:spPr>
          <a:xfrm>
            <a:off x="5486400" y="1545336"/>
            <a:ext cx="1737360" cy="402336"/>
          </a:xfrm>
          <a:prstGeom prst="rect">
            <a:avLst/>
          </a:prstGeom>
          <a:solidFill>
            <a:srgbClr val="1A2333"/>
          </a:solidFill>
          <a:ln w="6350">
            <a:solidFill>
              <a:srgbClr val="1E293B"/>
            </a:solidFill>
            <a:prstDash val="solid"/>
          </a:ln>
        </p:spPr>
        <p:txBody>
          <a:bodyPr/>
          <a:lstStyle/>
          <a:p>
            <a:endParaRPr lang="en-GB"/>
          </a:p>
        </p:txBody>
      </p:sp>
      <p:sp>
        <p:nvSpPr>
          <p:cNvPr id="30" name="Text 27"/>
          <p:cNvSpPr/>
          <p:nvPr/>
        </p:nvSpPr>
        <p:spPr>
          <a:xfrm>
            <a:off x="5522976" y="1581912"/>
            <a:ext cx="1664208" cy="329184"/>
          </a:xfrm>
          <a:prstGeom prst="rect">
            <a:avLst/>
          </a:prstGeom>
          <a:noFill/>
          <a:ln/>
        </p:spPr>
        <p:txBody>
          <a:bodyPr wrap="square" lIns="0" tIns="0" rIns="0" bIns="0" rtlCol="0" anchor="ctr"/>
          <a:lstStyle/>
          <a:p>
            <a:pPr marL="0" indent="0">
              <a:buNone/>
            </a:pPr>
            <a:r>
              <a:rPr lang="en-US" sz="800" dirty="0">
                <a:solidFill>
                  <a:srgbClr val="94A3B8"/>
                </a:solidFill>
                <a:latin typeface="Calibri" pitchFamily="34" charset="0"/>
                <a:ea typeface="Calibri" pitchFamily="34" charset="-122"/>
                <a:cs typeface="Calibri" pitchFamily="34" charset="-120"/>
              </a:rPr>
              <a:t>Decision Tree</a:t>
            </a:r>
            <a:endParaRPr lang="en-US" sz="800" dirty="0"/>
          </a:p>
        </p:txBody>
      </p:sp>
      <p:sp>
        <p:nvSpPr>
          <p:cNvPr id="31" name="Shape 28"/>
          <p:cNvSpPr/>
          <p:nvPr/>
        </p:nvSpPr>
        <p:spPr>
          <a:xfrm>
            <a:off x="7223760" y="1545336"/>
            <a:ext cx="658368" cy="402336"/>
          </a:xfrm>
          <a:prstGeom prst="rect">
            <a:avLst/>
          </a:prstGeom>
          <a:solidFill>
            <a:srgbClr val="1A2333"/>
          </a:solidFill>
          <a:ln w="6350">
            <a:solidFill>
              <a:srgbClr val="1E293B"/>
            </a:solidFill>
            <a:prstDash val="solid"/>
          </a:ln>
        </p:spPr>
        <p:txBody>
          <a:bodyPr/>
          <a:lstStyle/>
          <a:p>
            <a:endParaRPr lang="en-GB"/>
          </a:p>
        </p:txBody>
      </p:sp>
      <p:sp>
        <p:nvSpPr>
          <p:cNvPr id="32" name="Text 29"/>
          <p:cNvSpPr/>
          <p:nvPr/>
        </p:nvSpPr>
        <p:spPr>
          <a:xfrm>
            <a:off x="7260336" y="1581912"/>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96.97%</a:t>
            </a:r>
            <a:endParaRPr lang="en-US" sz="800" dirty="0"/>
          </a:p>
        </p:txBody>
      </p:sp>
      <p:sp>
        <p:nvSpPr>
          <p:cNvPr id="33" name="Shape 30"/>
          <p:cNvSpPr/>
          <p:nvPr/>
        </p:nvSpPr>
        <p:spPr>
          <a:xfrm>
            <a:off x="7882128" y="1545336"/>
            <a:ext cx="658368" cy="402336"/>
          </a:xfrm>
          <a:prstGeom prst="rect">
            <a:avLst/>
          </a:prstGeom>
          <a:solidFill>
            <a:srgbClr val="1A2333"/>
          </a:solidFill>
          <a:ln w="6350">
            <a:solidFill>
              <a:srgbClr val="1E293B"/>
            </a:solidFill>
            <a:prstDash val="solid"/>
          </a:ln>
        </p:spPr>
        <p:txBody>
          <a:bodyPr/>
          <a:lstStyle/>
          <a:p>
            <a:endParaRPr lang="en-GB"/>
          </a:p>
        </p:txBody>
      </p:sp>
      <p:sp>
        <p:nvSpPr>
          <p:cNvPr id="34" name="Text 31"/>
          <p:cNvSpPr/>
          <p:nvPr/>
        </p:nvSpPr>
        <p:spPr>
          <a:xfrm>
            <a:off x="7918704" y="1581912"/>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97.60%</a:t>
            </a:r>
            <a:endParaRPr lang="en-US" sz="800" dirty="0"/>
          </a:p>
        </p:txBody>
      </p:sp>
      <p:sp>
        <p:nvSpPr>
          <p:cNvPr id="35" name="Shape 32"/>
          <p:cNvSpPr/>
          <p:nvPr/>
        </p:nvSpPr>
        <p:spPr>
          <a:xfrm>
            <a:off x="8540496" y="1545336"/>
            <a:ext cx="658368" cy="402336"/>
          </a:xfrm>
          <a:prstGeom prst="rect">
            <a:avLst/>
          </a:prstGeom>
          <a:solidFill>
            <a:srgbClr val="1A2333"/>
          </a:solidFill>
          <a:ln w="6350">
            <a:solidFill>
              <a:srgbClr val="1E293B"/>
            </a:solidFill>
            <a:prstDash val="solid"/>
          </a:ln>
        </p:spPr>
        <p:txBody>
          <a:bodyPr/>
          <a:lstStyle/>
          <a:p>
            <a:endParaRPr lang="en-GB"/>
          </a:p>
        </p:txBody>
      </p:sp>
      <p:sp>
        <p:nvSpPr>
          <p:cNvPr id="36" name="Text 33"/>
          <p:cNvSpPr/>
          <p:nvPr/>
        </p:nvSpPr>
        <p:spPr>
          <a:xfrm>
            <a:off x="8577072" y="1581912"/>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95.51%</a:t>
            </a:r>
            <a:endParaRPr lang="en-US" sz="800" dirty="0"/>
          </a:p>
        </p:txBody>
      </p:sp>
      <p:sp>
        <p:nvSpPr>
          <p:cNvPr id="37" name="Shape 34"/>
          <p:cNvSpPr/>
          <p:nvPr/>
        </p:nvSpPr>
        <p:spPr>
          <a:xfrm>
            <a:off x="9198864" y="1545336"/>
            <a:ext cx="658368" cy="402336"/>
          </a:xfrm>
          <a:prstGeom prst="rect">
            <a:avLst/>
          </a:prstGeom>
          <a:solidFill>
            <a:srgbClr val="1A2333"/>
          </a:solidFill>
          <a:ln w="6350">
            <a:solidFill>
              <a:srgbClr val="1E293B"/>
            </a:solidFill>
            <a:prstDash val="solid"/>
          </a:ln>
        </p:spPr>
        <p:txBody>
          <a:bodyPr/>
          <a:lstStyle/>
          <a:p>
            <a:endParaRPr lang="en-GB"/>
          </a:p>
        </p:txBody>
      </p:sp>
      <p:sp>
        <p:nvSpPr>
          <p:cNvPr id="38" name="Text 35"/>
          <p:cNvSpPr/>
          <p:nvPr/>
        </p:nvSpPr>
        <p:spPr>
          <a:xfrm>
            <a:off x="9235440" y="1581912"/>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96.54%</a:t>
            </a:r>
            <a:endParaRPr lang="en-US" sz="800" dirty="0"/>
          </a:p>
        </p:txBody>
      </p:sp>
      <p:sp>
        <p:nvSpPr>
          <p:cNvPr id="39" name="Shape 36"/>
          <p:cNvSpPr/>
          <p:nvPr/>
        </p:nvSpPr>
        <p:spPr>
          <a:xfrm>
            <a:off x="9857232" y="1545336"/>
            <a:ext cx="685800" cy="402336"/>
          </a:xfrm>
          <a:prstGeom prst="rect">
            <a:avLst/>
          </a:prstGeom>
          <a:solidFill>
            <a:srgbClr val="1A2333"/>
          </a:solidFill>
          <a:ln w="6350">
            <a:solidFill>
              <a:srgbClr val="1E293B"/>
            </a:solidFill>
            <a:prstDash val="solid"/>
          </a:ln>
        </p:spPr>
        <p:txBody>
          <a:bodyPr/>
          <a:lstStyle/>
          <a:p>
            <a:endParaRPr lang="en-GB"/>
          </a:p>
        </p:txBody>
      </p:sp>
      <p:sp>
        <p:nvSpPr>
          <p:cNvPr id="40" name="Text 37"/>
          <p:cNvSpPr/>
          <p:nvPr/>
        </p:nvSpPr>
        <p:spPr>
          <a:xfrm>
            <a:off x="9893808" y="1581912"/>
            <a:ext cx="612648"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97.64%</a:t>
            </a:r>
            <a:endParaRPr lang="en-US" sz="800" dirty="0"/>
          </a:p>
        </p:txBody>
      </p:sp>
      <p:sp>
        <p:nvSpPr>
          <p:cNvPr id="41" name="Shape 38"/>
          <p:cNvSpPr/>
          <p:nvPr/>
        </p:nvSpPr>
        <p:spPr>
          <a:xfrm>
            <a:off x="5486400" y="1965960"/>
            <a:ext cx="1737360" cy="402336"/>
          </a:xfrm>
          <a:prstGeom prst="rect">
            <a:avLst/>
          </a:prstGeom>
          <a:solidFill>
            <a:srgbClr val="111827"/>
          </a:solidFill>
          <a:ln w="6350">
            <a:solidFill>
              <a:srgbClr val="1E293B"/>
            </a:solidFill>
            <a:prstDash val="solid"/>
          </a:ln>
        </p:spPr>
        <p:txBody>
          <a:bodyPr/>
          <a:lstStyle/>
          <a:p>
            <a:endParaRPr lang="en-GB"/>
          </a:p>
        </p:txBody>
      </p:sp>
      <p:sp>
        <p:nvSpPr>
          <p:cNvPr id="42" name="Text 39"/>
          <p:cNvSpPr/>
          <p:nvPr/>
        </p:nvSpPr>
        <p:spPr>
          <a:xfrm>
            <a:off x="5522976" y="2002536"/>
            <a:ext cx="1664208" cy="329184"/>
          </a:xfrm>
          <a:prstGeom prst="rect">
            <a:avLst/>
          </a:prstGeom>
          <a:noFill/>
          <a:ln/>
        </p:spPr>
        <p:txBody>
          <a:bodyPr wrap="square" lIns="0" tIns="0" rIns="0" bIns="0" rtlCol="0" anchor="ctr"/>
          <a:lstStyle/>
          <a:p>
            <a:pPr marL="0" indent="0">
              <a:buNone/>
            </a:pPr>
            <a:r>
              <a:rPr lang="en-US" sz="800" dirty="0">
                <a:solidFill>
                  <a:srgbClr val="94A3B8"/>
                </a:solidFill>
                <a:latin typeface="Calibri" pitchFamily="34" charset="0"/>
                <a:ea typeface="Calibri" pitchFamily="34" charset="-122"/>
                <a:cs typeface="Calibri" pitchFamily="34" charset="-120"/>
              </a:rPr>
              <a:t>SVM</a:t>
            </a:r>
            <a:endParaRPr lang="en-US" sz="800" dirty="0"/>
          </a:p>
        </p:txBody>
      </p:sp>
      <p:sp>
        <p:nvSpPr>
          <p:cNvPr id="43" name="Shape 40"/>
          <p:cNvSpPr/>
          <p:nvPr/>
        </p:nvSpPr>
        <p:spPr>
          <a:xfrm>
            <a:off x="7223760" y="1965960"/>
            <a:ext cx="658368" cy="402336"/>
          </a:xfrm>
          <a:prstGeom prst="rect">
            <a:avLst/>
          </a:prstGeom>
          <a:solidFill>
            <a:srgbClr val="111827"/>
          </a:solidFill>
          <a:ln w="6350">
            <a:solidFill>
              <a:srgbClr val="1E293B"/>
            </a:solidFill>
            <a:prstDash val="solid"/>
          </a:ln>
        </p:spPr>
        <p:txBody>
          <a:bodyPr/>
          <a:lstStyle/>
          <a:p>
            <a:endParaRPr lang="en-GB"/>
          </a:p>
        </p:txBody>
      </p:sp>
      <p:sp>
        <p:nvSpPr>
          <p:cNvPr id="44" name="Text 41"/>
          <p:cNvSpPr/>
          <p:nvPr/>
        </p:nvSpPr>
        <p:spPr>
          <a:xfrm>
            <a:off x="7260336" y="2002536"/>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95.61%</a:t>
            </a:r>
            <a:endParaRPr lang="en-US" sz="800" dirty="0"/>
          </a:p>
        </p:txBody>
      </p:sp>
      <p:sp>
        <p:nvSpPr>
          <p:cNvPr id="45" name="Shape 42"/>
          <p:cNvSpPr/>
          <p:nvPr/>
        </p:nvSpPr>
        <p:spPr>
          <a:xfrm>
            <a:off x="7882128" y="1965960"/>
            <a:ext cx="658368" cy="402336"/>
          </a:xfrm>
          <a:prstGeom prst="rect">
            <a:avLst/>
          </a:prstGeom>
          <a:solidFill>
            <a:srgbClr val="111827"/>
          </a:solidFill>
          <a:ln w="6350">
            <a:solidFill>
              <a:srgbClr val="1E293B"/>
            </a:solidFill>
            <a:prstDash val="solid"/>
          </a:ln>
        </p:spPr>
        <p:txBody>
          <a:bodyPr/>
          <a:lstStyle/>
          <a:p>
            <a:endParaRPr lang="en-GB"/>
          </a:p>
        </p:txBody>
      </p:sp>
      <p:sp>
        <p:nvSpPr>
          <p:cNvPr id="46" name="Text 43"/>
          <p:cNvSpPr/>
          <p:nvPr/>
        </p:nvSpPr>
        <p:spPr>
          <a:xfrm>
            <a:off x="7918704" y="2002536"/>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96.33%</a:t>
            </a:r>
            <a:endParaRPr lang="en-US" sz="800" dirty="0"/>
          </a:p>
        </p:txBody>
      </p:sp>
      <p:sp>
        <p:nvSpPr>
          <p:cNvPr id="47" name="Shape 44"/>
          <p:cNvSpPr/>
          <p:nvPr/>
        </p:nvSpPr>
        <p:spPr>
          <a:xfrm>
            <a:off x="8540496" y="1965960"/>
            <a:ext cx="658368" cy="402336"/>
          </a:xfrm>
          <a:prstGeom prst="rect">
            <a:avLst/>
          </a:prstGeom>
          <a:solidFill>
            <a:srgbClr val="111827"/>
          </a:solidFill>
          <a:ln w="6350">
            <a:solidFill>
              <a:srgbClr val="1E293B"/>
            </a:solidFill>
            <a:prstDash val="solid"/>
          </a:ln>
        </p:spPr>
        <p:txBody>
          <a:bodyPr/>
          <a:lstStyle/>
          <a:p>
            <a:endParaRPr lang="en-GB"/>
          </a:p>
        </p:txBody>
      </p:sp>
      <p:sp>
        <p:nvSpPr>
          <p:cNvPr id="48" name="Text 45"/>
          <p:cNvSpPr/>
          <p:nvPr/>
        </p:nvSpPr>
        <p:spPr>
          <a:xfrm>
            <a:off x="8577072" y="2002536"/>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93.67%</a:t>
            </a:r>
            <a:endParaRPr lang="en-US" sz="800" dirty="0"/>
          </a:p>
        </p:txBody>
      </p:sp>
      <p:sp>
        <p:nvSpPr>
          <p:cNvPr id="49" name="Shape 46"/>
          <p:cNvSpPr/>
          <p:nvPr/>
        </p:nvSpPr>
        <p:spPr>
          <a:xfrm>
            <a:off x="9198864" y="1965960"/>
            <a:ext cx="658368" cy="402336"/>
          </a:xfrm>
          <a:prstGeom prst="rect">
            <a:avLst/>
          </a:prstGeom>
          <a:solidFill>
            <a:srgbClr val="111827"/>
          </a:solidFill>
          <a:ln w="6350">
            <a:solidFill>
              <a:srgbClr val="1E293B"/>
            </a:solidFill>
            <a:prstDash val="solid"/>
          </a:ln>
        </p:spPr>
        <p:txBody>
          <a:bodyPr/>
          <a:lstStyle/>
          <a:p>
            <a:endParaRPr lang="en-GB"/>
          </a:p>
        </p:txBody>
      </p:sp>
      <p:sp>
        <p:nvSpPr>
          <p:cNvPr id="50" name="Text 47"/>
          <p:cNvSpPr/>
          <p:nvPr/>
        </p:nvSpPr>
        <p:spPr>
          <a:xfrm>
            <a:off x="9235440" y="2002536"/>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94.98%</a:t>
            </a:r>
            <a:endParaRPr lang="en-US" sz="800" dirty="0"/>
          </a:p>
        </p:txBody>
      </p:sp>
      <p:sp>
        <p:nvSpPr>
          <p:cNvPr id="51" name="Shape 48"/>
          <p:cNvSpPr/>
          <p:nvPr/>
        </p:nvSpPr>
        <p:spPr>
          <a:xfrm>
            <a:off x="9857232" y="1965960"/>
            <a:ext cx="685800" cy="402336"/>
          </a:xfrm>
          <a:prstGeom prst="rect">
            <a:avLst/>
          </a:prstGeom>
          <a:solidFill>
            <a:srgbClr val="111827"/>
          </a:solidFill>
          <a:ln w="6350">
            <a:solidFill>
              <a:srgbClr val="1E293B"/>
            </a:solidFill>
            <a:prstDash val="solid"/>
          </a:ln>
        </p:spPr>
        <p:txBody>
          <a:bodyPr/>
          <a:lstStyle/>
          <a:p>
            <a:endParaRPr lang="en-GB"/>
          </a:p>
        </p:txBody>
      </p:sp>
      <p:sp>
        <p:nvSpPr>
          <p:cNvPr id="52" name="Text 49"/>
          <p:cNvSpPr/>
          <p:nvPr/>
        </p:nvSpPr>
        <p:spPr>
          <a:xfrm>
            <a:off x="9893808" y="2002536"/>
            <a:ext cx="612648"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98.90%</a:t>
            </a:r>
            <a:endParaRPr lang="en-US" sz="800" dirty="0"/>
          </a:p>
        </p:txBody>
      </p:sp>
      <p:sp>
        <p:nvSpPr>
          <p:cNvPr id="53" name="Shape 50"/>
          <p:cNvSpPr/>
          <p:nvPr/>
        </p:nvSpPr>
        <p:spPr>
          <a:xfrm>
            <a:off x="5486400" y="2386584"/>
            <a:ext cx="1737360" cy="402336"/>
          </a:xfrm>
          <a:prstGeom prst="rect">
            <a:avLst/>
          </a:prstGeom>
          <a:solidFill>
            <a:srgbClr val="1A2333"/>
          </a:solidFill>
          <a:ln w="6350">
            <a:solidFill>
              <a:srgbClr val="1E293B"/>
            </a:solidFill>
            <a:prstDash val="solid"/>
          </a:ln>
        </p:spPr>
        <p:txBody>
          <a:bodyPr/>
          <a:lstStyle/>
          <a:p>
            <a:endParaRPr lang="en-GB"/>
          </a:p>
        </p:txBody>
      </p:sp>
      <p:sp>
        <p:nvSpPr>
          <p:cNvPr id="54" name="Text 51"/>
          <p:cNvSpPr/>
          <p:nvPr/>
        </p:nvSpPr>
        <p:spPr>
          <a:xfrm>
            <a:off x="5522976" y="2423160"/>
            <a:ext cx="1664208" cy="329184"/>
          </a:xfrm>
          <a:prstGeom prst="rect">
            <a:avLst/>
          </a:prstGeom>
          <a:noFill/>
          <a:ln/>
        </p:spPr>
        <p:txBody>
          <a:bodyPr wrap="square" lIns="0" tIns="0" rIns="0" bIns="0" rtlCol="0" anchor="ctr"/>
          <a:lstStyle/>
          <a:p>
            <a:pPr marL="0" indent="0">
              <a:buNone/>
            </a:pPr>
            <a:r>
              <a:rPr lang="en-US" sz="800" dirty="0">
                <a:solidFill>
                  <a:srgbClr val="94A3B8"/>
                </a:solidFill>
                <a:latin typeface="Calibri" pitchFamily="34" charset="0"/>
                <a:ea typeface="Calibri" pitchFamily="34" charset="-122"/>
                <a:cs typeface="Calibri" pitchFamily="34" charset="-120"/>
              </a:rPr>
              <a:t>KNN</a:t>
            </a:r>
            <a:endParaRPr lang="en-US" sz="800" dirty="0"/>
          </a:p>
        </p:txBody>
      </p:sp>
      <p:sp>
        <p:nvSpPr>
          <p:cNvPr id="55" name="Shape 52"/>
          <p:cNvSpPr/>
          <p:nvPr/>
        </p:nvSpPr>
        <p:spPr>
          <a:xfrm>
            <a:off x="7223760" y="2386584"/>
            <a:ext cx="658368" cy="402336"/>
          </a:xfrm>
          <a:prstGeom prst="rect">
            <a:avLst/>
          </a:prstGeom>
          <a:solidFill>
            <a:srgbClr val="1A2333"/>
          </a:solidFill>
          <a:ln w="6350">
            <a:solidFill>
              <a:srgbClr val="1E293B"/>
            </a:solidFill>
            <a:prstDash val="solid"/>
          </a:ln>
        </p:spPr>
        <p:txBody>
          <a:bodyPr/>
          <a:lstStyle/>
          <a:p>
            <a:endParaRPr lang="en-GB"/>
          </a:p>
        </p:txBody>
      </p:sp>
      <p:sp>
        <p:nvSpPr>
          <p:cNvPr id="56" name="Text 53"/>
          <p:cNvSpPr/>
          <p:nvPr/>
        </p:nvSpPr>
        <p:spPr>
          <a:xfrm>
            <a:off x="7260336" y="2423160"/>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94.71%</a:t>
            </a:r>
            <a:endParaRPr lang="en-US" sz="800" dirty="0"/>
          </a:p>
        </p:txBody>
      </p:sp>
      <p:sp>
        <p:nvSpPr>
          <p:cNvPr id="57" name="Shape 54"/>
          <p:cNvSpPr/>
          <p:nvPr/>
        </p:nvSpPr>
        <p:spPr>
          <a:xfrm>
            <a:off x="7882128" y="2386584"/>
            <a:ext cx="658368" cy="402336"/>
          </a:xfrm>
          <a:prstGeom prst="rect">
            <a:avLst/>
          </a:prstGeom>
          <a:solidFill>
            <a:srgbClr val="1A2333"/>
          </a:solidFill>
          <a:ln w="6350">
            <a:solidFill>
              <a:srgbClr val="1E293B"/>
            </a:solidFill>
            <a:prstDash val="solid"/>
          </a:ln>
        </p:spPr>
        <p:txBody>
          <a:bodyPr/>
          <a:lstStyle/>
          <a:p>
            <a:endParaRPr lang="en-GB"/>
          </a:p>
        </p:txBody>
      </p:sp>
      <p:sp>
        <p:nvSpPr>
          <p:cNvPr id="58" name="Text 55"/>
          <p:cNvSpPr/>
          <p:nvPr/>
        </p:nvSpPr>
        <p:spPr>
          <a:xfrm>
            <a:off x="7918704" y="2423160"/>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94.99%</a:t>
            </a:r>
            <a:endParaRPr lang="en-US" sz="800" dirty="0"/>
          </a:p>
        </p:txBody>
      </p:sp>
      <p:sp>
        <p:nvSpPr>
          <p:cNvPr id="59" name="Shape 56"/>
          <p:cNvSpPr/>
          <p:nvPr/>
        </p:nvSpPr>
        <p:spPr>
          <a:xfrm>
            <a:off x="8540496" y="2386584"/>
            <a:ext cx="658368" cy="402336"/>
          </a:xfrm>
          <a:prstGeom prst="rect">
            <a:avLst/>
          </a:prstGeom>
          <a:solidFill>
            <a:srgbClr val="1A2333"/>
          </a:solidFill>
          <a:ln w="6350">
            <a:solidFill>
              <a:srgbClr val="1E293B"/>
            </a:solidFill>
            <a:prstDash val="solid"/>
          </a:ln>
        </p:spPr>
        <p:txBody>
          <a:bodyPr/>
          <a:lstStyle/>
          <a:p>
            <a:endParaRPr lang="en-GB"/>
          </a:p>
        </p:txBody>
      </p:sp>
      <p:sp>
        <p:nvSpPr>
          <p:cNvPr id="60" name="Text 57"/>
          <p:cNvSpPr/>
          <p:nvPr/>
        </p:nvSpPr>
        <p:spPr>
          <a:xfrm>
            <a:off x="8577072" y="2423160"/>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92.96%</a:t>
            </a:r>
            <a:endParaRPr lang="en-US" sz="800" dirty="0"/>
          </a:p>
        </p:txBody>
      </p:sp>
      <p:sp>
        <p:nvSpPr>
          <p:cNvPr id="61" name="Shape 58"/>
          <p:cNvSpPr/>
          <p:nvPr/>
        </p:nvSpPr>
        <p:spPr>
          <a:xfrm>
            <a:off x="9198864" y="2386584"/>
            <a:ext cx="658368" cy="402336"/>
          </a:xfrm>
          <a:prstGeom prst="rect">
            <a:avLst/>
          </a:prstGeom>
          <a:solidFill>
            <a:srgbClr val="1A2333"/>
          </a:solidFill>
          <a:ln w="6350">
            <a:solidFill>
              <a:srgbClr val="1E293B"/>
            </a:solidFill>
            <a:prstDash val="solid"/>
          </a:ln>
        </p:spPr>
        <p:txBody>
          <a:bodyPr/>
          <a:lstStyle/>
          <a:p>
            <a:endParaRPr lang="en-GB"/>
          </a:p>
        </p:txBody>
      </p:sp>
      <p:sp>
        <p:nvSpPr>
          <p:cNvPr id="62" name="Text 59"/>
          <p:cNvSpPr/>
          <p:nvPr/>
        </p:nvSpPr>
        <p:spPr>
          <a:xfrm>
            <a:off x="9235440" y="2423160"/>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93.97%</a:t>
            </a:r>
            <a:endParaRPr lang="en-US" sz="800" dirty="0"/>
          </a:p>
        </p:txBody>
      </p:sp>
      <p:sp>
        <p:nvSpPr>
          <p:cNvPr id="63" name="Shape 60"/>
          <p:cNvSpPr/>
          <p:nvPr/>
        </p:nvSpPr>
        <p:spPr>
          <a:xfrm>
            <a:off x="9857232" y="2386584"/>
            <a:ext cx="685800" cy="402336"/>
          </a:xfrm>
          <a:prstGeom prst="rect">
            <a:avLst/>
          </a:prstGeom>
          <a:solidFill>
            <a:srgbClr val="1A2333"/>
          </a:solidFill>
          <a:ln w="6350">
            <a:solidFill>
              <a:srgbClr val="1E293B"/>
            </a:solidFill>
            <a:prstDash val="solid"/>
          </a:ln>
        </p:spPr>
        <p:txBody>
          <a:bodyPr/>
          <a:lstStyle/>
          <a:p>
            <a:endParaRPr lang="en-GB"/>
          </a:p>
        </p:txBody>
      </p:sp>
      <p:sp>
        <p:nvSpPr>
          <p:cNvPr id="64" name="Text 61"/>
          <p:cNvSpPr/>
          <p:nvPr/>
        </p:nvSpPr>
        <p:spPr>
          <a:xfrm>
            <a:off x="9893808" y="2423160"/>
            <a:ext cx="612648"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98.56%</a:t>
            </a:r>
            <a:endParaRPr lang="en-US" sz="800" dirty="0"/>
          </a:p>
        </p:txBody>
      </p:sp>
      <p:sp>
        <p:nvSpPr>
          <p:cNvPr id="65" name="Shape 62"/>
          <p:cNvSpPr/>
          <p:nvPr/>
        </p:nvSpPr>
        <p:spPr>
          <a:xfrm>
            <a:off x="5486400" y="2807208"/>
            <a:ext cx="1737360" cy="402336"/>
          </a:xfrm>
          <a:prstGeom prst="rect">
            <a:avLst/>
          </a:prstGeom>
          <a:solidFill>
            <a:srgbClr val="111827"/>
          </a:solidFill>
          <a:ln w="6350">
            <a:solidFill>
              <a:srgbClr val="1E293B"/>
            </a:solidFill>
            <a:prstDash val="solid"/>
          </a:ln>
        </p:spPr>
        <p:txBody>
          <a:bodyPr/>
          <a:lstStyle/>
          <a:p>
            <a:endParaRPr lang="en-GB"/>
          </a:p>
        </p:txBody>
      </p:sp>
      <p:sp>
        <p:nvSpPr>
          <p:cNvPr id="66" name="Text 63"/>
          <p:cNvSpPr/>
          <p:nvPr/>
        </p:nvSpPr>
        <p:spPr>
          <a:xfrm>
            <a:off x="5522976" y="2843784"/>
            <a:ext cx="1664208" cy="329184"/>
          </a:xfrm>
          <a:prstGeom prst="rect">
            <a:avLst/>
          </a:prstGeom>
          <a:noFill/>
          <a:ln/>
        </p:spPr>
        <p:txBody>
          <a:bodyPr wrap="square" lIns="0" tIns="0" rIns="0" bIns="0" rtlCol="0" anchor="ctr"/>
          <a:lstStyle/>
          <a:p>
            <a:pPr marL="0" indent="0">
              <a:buNone/>
            </a:pPr>
            <a:r>
              <a:rPr lang="en-US" sz="800" dirty="0">
                <a:solidFill>
                  <a:srgbClr val="94A3B8"/>
                </a:solidFill>
                <a:latin typeface="Calibri" pitchFamily="34" charset="0"/>
                <a:ea typeface="Calibri" pitchFamily="34" charset="-122"/>
                <a:cs typeface="Calibri" pitchFamily="34" charset="-120"/>
              </a:rPr>
              <a:t>Logistic Reg.</a:t>
            </a:r>
            <a:endParaRPr lang="en-US" sz="800" dirty="0"/>
          </a:p>
        </p:txBody>
      </p:sp>
      <p:sp>
        <p:nvSpPr>
          <p:cNvPr id="67" name="Shape 64"/>
          <p:cNvSpPr/>
          <p:nvPr/>
        </p:nvSpPr>
        <p:spPr>
          <a:xfrm>
            <a:off x="7223760" y="2807208"/>
            <a:ext cx="658368" cy="402336"/>
          </a:xfrm>
          <a:prstGeom prst="rect">
            <a:avLst/>
          </a:prstGeom>
          <a:solidFill>
            <a:srgbClr val="111827"/>
          </a:solidFill>
          <a:ln w="6350">
            <a:solidFill>
              <a:srgbClr val="1E293B"/>
            </a:solidFill>
            <a:prstDash val="solid"/>
          </a:ln>
        </p:spPr>
        <p:txBody>
          <a:bodyPr/>
          <a:lstStyle/>
          <a:p>
            <a:endParaRPr lang="en-GB"/>
          </a:p>
        </p:txBody>
      </p:sp>
      <p:sp>
        <p:nvSpPr>
          <p:cNvPr id="68" name="Text 65"/>
          <p:cNvSpPr/>
          <p:nvPr/>
        </p:nvSpPr>
        <p:spPr>
          <a:xfrm>
            <a:off x="7260336" y="2843784"/>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92.81%</a:t>
            </a:r>
            <a:endParaRPr lang="en-US" sz="800" dirty="0"/>
          </a:p>
        </p:txBody>
      </p:sp>
      <p:sp>
        <p:nvSpPr>
          <p:cNvPr id="69" name="Shape 66"/>
          <p:cNvSpPr/>
          <p:nvPr/>
        </p:nvSpPr>
        <p:spPr>
          <a:xfrm>
            <a:off x="7882128" y="2807208"/>
            <a:ext cx="658368" cy="402336"/>
          </a:xfrm>
          <a:prstGeom prst="rect">
            <a:avLst/>
          </a:prstGeom>
          <a:solidFill>
            <a:srgbClr val="111827"/>
          </a:solidFill>
          <a:ln w="6350">
            <a:solidFill>
              <a:srgbClr val="1E293B"/>
            </a:solidFill>
            <a:prstDash val="solid"/>
          </a:ln>
        </p:spPr>
        <p:txBody>
          <a:bodyPr/>
          <a:lstStyle/>
          <a:p>
            <a:endParaRPr lang="en-GB"/>
          </a:p>
        </p:txBody>
      </p:sp>
      <p:sp>
        <p:nvSpPr>
          <p:cNvPr id="70" name="Text 67"/>
          <p:cNvSpPr/>
          <p:nvPr/>
        </p:nvSpPr>
        <p:spPr>
          <a:xfrm>
            <a:off x="7918704" y="2843784"/>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93.44%</a:t>
            </a:r>
            <a:endParaRPr lang="en-US" sz="800" dirty="0"/>
          </a:p>
        </p:txBody>
      </p:sp>
      <p:sp>
        <p:nvSpPr>
          <p:cNvPr id="71" name="Shape 68"/>
          <p:cNvSpPr/>
          <p:nvPr/>
        </p:nvSpPr>
        <p:spPr>
          <a:xfrm>
            <a:off x="8540496" y="2807208"/>
            <a:ext cx="658368" cy="402336"/>
          </a:xfrm>
          <a:prstGeom prst="rect">
            <a:avLst/>
          </a:prstGeom>
          <a:solidFill>
            <a:srgbClr val="111827"/>
          </a:solidFill>
          <a:ln w="6350">
            <a:solidFill>
              <a:srgbClr val="1E293B"/>
            </a:solidFill>
            <a:prstDash val="solid"/>
          </a:ln>
        </p:spPr>
        <p:txBody>
          <a:bodyPr/>
          <a:lstStyle/>
          <a:p>
            <a:endParaRPr lang="en-GB"/>
          </a:p>
        </p:txBody>
      </p:sp>
      <p:sp>
        <p:nvSpPr>
          <p:cNvPr id="72" name="Text 69"/>
          <p:cNvSpPr/>
          <p:nvPr/>
        </p:nvSpPr>
        <p:spPr>
          <a:xfrm>
            <a:off x="8577072" y="2843784"/>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90.10%</a:t>
            </a:r>
            <a:endParaRPr lang="en-US" sz="800" dirty="0"/>
          </a:p>
        </p:txBody>
      </p:sp>
      <p:sp>
        <p:nvSpPr>
          <p:cNvPr id="73" name="Shape 70"/>
          <p:cNvSpPr/>
          <p:nvPr/>
        </p:nvSpPr>
        <p:spPr>
          <a:xfrm>
            <a:off x="9198864" y="2807208"/>
            <a:ext cx="658368" cy="402336"/>
          </a:xfrm>
          <a:prstGeom prst="rect">
            <a:avLst/>
          </a:prstGeom>
          <a:solidFill>
            <a:srgbClr val="111827"/>
          </a:solidFill>
          <a:ln w="6350">
            <a:solidFill>
              <a:srgbClr val="1E293B"/>
            </a:solidFill>
            <a:prstDash val="solid"/>
          </a:ln>
        </p:spPr>
        <p:txBody>
          <a:bodyPr/>
          <a:lstStyle/>
          <a:p>
            <a:endParaRPr lang="en-GB"/>
          </a:p>
        </p:txBody>
      </p:sp>
      <p:sp>
        <p:nvSpPr>
          <p:cNvPr id="74" name="Text 71"/>
          <p:cNvSpPr/>
          <p:nvPr/>
        </p:nvSpPr>
        <p:spPr>
          <a:xfrm>
            <a:off x="9235440" y="2843784"/>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91.74%</a:t>
            </a:r>
            <a:endParaRPr lang="en-US" sz="800" dirty="0"/>
          </a:p>
        </p:txBody>
      </p:sp>
      <p:sp>
        <p:nvSpPr>
          <p:cNvPr id="75" name="Shape 72"/>
          <p:cNvSpPr/>
          <p:nvPr/>
        </p:nvSpPr>
        <p:spPr>
          <a:xfrm>
            <a:off x="9857232" y="2807208"/>
            <a:ext cx="685800" cy="402336"/>
          </a:xfrm>
          <a:prstGeom prst="rect">
            <a:avLst/>
          </a:prstGeom>
          <a:solidFill>
            <a:srgbClr val="111827"/>
          </a:solidFill>
          <a:ln w="6350">
            <a:solidFill>
              <a:srgbClr val="1E293B"/>
            </a:solidFill>
            <a:prstDash val="solid"/>
          </a:ln>
        </p:spPr>
        <p:txBody>
          <a:bodyPr/>
          <a:lstStyle/>
          <a:p>
            <a:endParaRPr lang="en-GB"/>
          </a:p>
        </p:txBody>
      </p:sp>
      <p:sp>
        <p:nvSpPr>
          <p:cNvPr id="76" name="Text 73"/>
          <p:cNvSpPr/>
          <p:nvPr/>
        </p:nvSpPr>
        <p:spPr>
          <a:xfrm>
            <a:off x="9893808" y="2843784"/>
            <a:ext cx="612648"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97.85%</a:t>
            </a:r>
            <a:endParaRPr lang="en-US" sz="800" dirty="0"/>
          </a:p>
        </p:txBody>
      </p:sp>
      <p:sp>
        <p:nvSpPr>
          <p:cNvPr id="77" name="Shape 74"/>
          <p:cNvSpPr/>
          <p:nvPr/>
        </p:nvSpPr>
        <p:spPr>
          <a:xfrm>
            <a:off x="5486400" y="3227832"/>
            <a:ext cx="1737360" cy="402336"/>
          </a:xfrm>
          <a:prstGeom prst="rect">
            <a:avLst/>
          </a:prstGeom>
          <a:solidFill>
            <a:srgbClr val="1A2333"/>
          </a:solidFill>
          <a:ln w="6350">
            <a:solidFill>
              <a:srgbClr val="1E293B"/>
            </a:solidFill>
            <a:prstDash val="solid"/>
          </a:ln>
        </p:spPr>
        <p:txBody>
          <a:bodyPr/>
          <a:lstStyle/>
          <a:p>
            <a:endParaRPr lang="en-GB"/>
          </a:p>
        </p:txBody>
      </p:sp>
      <p:sp>
        <p:nvSpPr>
          <p:cNvPr id="78" name="Text 75"/>
          <p:cNvSpPr/>
          <p:nvPr/>
        </p:nvSpPr>
        <p:spPr>
          <a:xfrm>
            <a:off x="5522976" y="3264408"/>
            <a:ext cx="1664208" cy="329184"/>
          </a:xfrm>
          <a:prstGeom prst="rect">
            <a:avLst/>
          </a:prstGeom>
          <a:noFill/>
          <a:ln/>
        </p:spPr>
        <p:txBody>
          <a:bodyPr wrap="square" lIns="0" tIns="0" rIns="0" bIns="0" rtlCol="0" anchor="ctr"/>
          <a:lstStyle/>
          <a:p>
            <a:pPr marL="0" indent="0">
              <a:buNone/>
            </a:pPr>
            <a:r>
              <a:rPr lang="en-US" sz="800" dirty="0">
                <a:solidFill>
                  <a:srgbClr val="94A3B8"/>
                </a:solidFill>
                <a:latin typeface="Calibri" pitchFamily="34" charset="0"/>
                <a:ea typeface="Calibri" pitchFamily="34" charset="-122"/>
                <a:cs typeface="Calibri" pitchFamily="34" charset="-120"/>
              </a:rPr>
              <a:t>Naïve Bayes</a:t>
            </a:r>
            <a:endParaRPr lang="en-US" sz="800" dirty="0"/>
          </a:p>
        </p:txBody>
      </p:sp>
      <p:sp>
        <p:nvSpPr>
          <p:cNvPr id="79" name="Shape 76"/>
          <p:cNvSpPr/>
          <p:nvPr/>
        </p:nvSpPr>
        <p:spPr>
          <a:xfrm>
            <a:off x="7223760" y="3227832"/>
            <a:ext cx="658368" cy="402336"/>
          </a:xfrm>
          <a:prstGeom prst="rect">
            <a:avLst/>
          </a:prstGeom>
          <a:solidFill>
            <a:srgbClr val="1A2333"/>
          </a:solidFill>
          <a:ln w="6350">
            <a:solidFill>
              <a:srgbClr val="1E293B"/>
            </a:solidFill>
            <a:prstDash val="solid"/>
          </a:ln>
        </p:spPr>
        <p:txBody>
          <a:bodyPr/>
          <a:lstStyle/>
          <a:p>
            <a:endParaRPr lang="en-GB"/>
          </a:p>
        </p:txBody>
      </p:sp>
      <p:sp>
        <p:nvSpPr>
          <p:cNvPr id="80" name="Text 77"/>
          <p:cNvSpPr/>
          <p:nvPr/>
        </p:nvSpPr>
        <p:spPr>
          <a:xfrm>
            <a:off x="7260336" y="3264408"/>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61.60%</a:t>
            </a:r>
            <a:endParaRPr lang="en-US" sz="800" dirty="0"/>
          </a:p>
        </p:txBody>
      </p:sp>
      <p:sp>
        <p:nvSpPr>
          <p:cNvPr id="81" name="Shape 78"/>
          <p:cNvSpPr/>
          <p:nvPr/>
        </p:nvSpPr>
        <p:spPr>
          <a:xfrm>
            <a:off x="7882128" y="3227832"/>
            <a:ext cx="658368" cy="402336"/>
          </a:xfrm>
          <a:prstGeom prst="rect">
            <a:avLst/>
          </a:prstGeom>
          <a:solidFill>
            <a:srgbClr val="1A2333"/>
          </a:solidFill>
          <a:ln w="6350">
            <a:solidFill>
              <a:srgbClr val="1E293B"/>
            </a:solidFill>
            <a:prstDash val="solid"/>
          </a:ln>
        </p:spPr>
        <p:txBody>
          <a:bodyPr/>
          <a:lstStyle/>
          <a:p>
            <a:endParaRPr lang="en-GB"/>
          </a:p>
        </p:txBody>
      </p:sp>
      <p:sp>
        <p:nvSpPr>
          <p:cNvPr id="82" name="Text 79"/>
          <p:cNvSpPr/>
          <p:nvPr/>
        </p:nvSpPr>
        <p:spPr>
          <a:xfrm>
            <a:off x="7918704" y="3264408"/>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53.59%</a:t>
            </a:r>
            <a:endParaRPr lang="en-US" sz="800" dirty="0"/>
          </a:p>
        </p:txBody>
      </p:sp>
      <p:sp>
        <p:nvSpPr>
          <p:cNvPr id="83" name="Shape 80"/>
          <p:cNvSpPr/>
          <p:nvPr/>
        </p:nvSpPr>
        <p:spPr>
          <a:xfrm>
            <a:off x="8540496" y="3227832"/>
            <a:ext cx="658368" cy="402336"/>
          </a:xfrm>
          <a:prstGeom prst="rect">
            <a:avLst/>
          </a:prstGeom>
          <a:solidFill>
            <a:srgbClr val="1A2333"/>
          </a:solidFill>
          <a:ln w="6350">
            <a:solidFill>
              <a:srgbClr val="1E293B"/>
            </a:solidFill>
            <a:prstDash val="solid"/>
          </a:ln>
        </p:spPr>
        <p:txBody>
          <a:bodyPr/>
          <a:lstStyle/>
          <a:p>
            <a:endParaRPr lang="en-GB"/>
          </a:p>
        </p:txBody>
      </p:sp>
      <p:sp>
        <p:nvSpPr>
          <p:cNvPr id="84" name="Text 81"/>
          <p:cNvSpPr/>
          <p:nvPr/>
        </p:nvSpPr>
        <p:spPr>
          <a:xfrm>
            <a:off x="8577072" y="3264408"/>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99.90%</a:t>
            </a:r>
            <a:endParaRPr lang="en-US" sz="800" dirty="0"/>
          </a:p>
        </p:txBody>
      </p:sp>
      <p:sp>
        <p:nvSpPr>
          <p:cNvPr id="85" name="Shape 82"/>
          <p:cNvSpPr/>
          <p:nvPr/>
        </p:nvSpPr>
        <p:spPr>
          <a:xfrm>
            <a:off x="9198864" y="3227832"/>
            <a:ext cx="658368" cy="402336"/>
          </a:xfrm>
          <a:prstGeom prst="rect">
            <a:avLst/>
          </a:prstGeom>
          <a:solidFill>
            <a:srgbClr val="1A2333"/>
          </a:solidFill>
          <a:ln w="6350">
            <a:solidFill>
              <a:srgbClr val="1E293B"/>
            </a:solidFill>
            <a:prstDash val="solid"/>
          </a:ln>
        </p:spPr>
        <p:txBody>
          <a:bodyPr/>
          <a:lstStyle/>
          <a:p>
            <a:endParaRPr lang="en-GB"/>
          </a:p>
        </p:txBody>
      </p:sp>
      <p:sp>
        <p:nvSpPr>
          <p:cNvPr id="86" name="Text 83"/>
          <p:cNvSpPr/>
          <p:nvPr/>
        </p:nvSpPr>
        <p:spPr>
          <a:xfrm>
            <a:off x="9235440" y="3264408"/>
            <a:ext cx="585216"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69.75%</a:t>
            </a:r>
            <a:endParaRPr lang="en-US" sz="800" dirty="0"/>
          </a:p>
        </p:txBody>
      </p:sp>
      <p:sp>
        <p:nvSpPr>
          <p:cNvPr id="87" name="Shape 84"/>
          <p:cNvSpPr/>
          <p:nvPr/>
        </p:nvSpPr>
        <p:spPr>
          <a:xfrm>
            <a:off x="9857232" y="3227832"/>
            <a:ext cx="685800" cy="402336"/>
          </a:xfrm>
          <a:prstGeom prst="rect">
            <a:avLst/>
          </a:prstGeom>
          <a:solidFill>
            <a:srgbClr val="1A2333"/>
          </a:solidFill>
          <a:ln w="6350">
            <a:solidFill>
              <a:srgbClr val="1E293B"/>
            </a:solidFill>
            <a:prstDash val="solid"/>
          </a:ln>
        </p:spPr>
        <p:txBody>
          <a:bodyPr/>
          <a:lstStyle/>
          <a:p>
            <a:endParaRPr lang="en-GB"/>
          </a:p>
        </p:txBody>
      </p:sp>
      <p:sp>
        <p:nvSpPr>
          <p:cNvPr id="88" name="Text 85"/>
          <p:cNvSpPr/>
          <p:nvPr/>
        </p:nvSpPr>
        <p:spPr>
          <a:xfrm>
            <a:off x="9893808" y="3264408"/>
            <a:ext cx="612648" cy="329184"/>
          </a:xfrm>
          <a:prstGeom prst="rect">
            <a:avLst/>
          </a:prstGeom>
          <a:noFill/>
          <a:ln/>
        </p:spPr>
        <p:txBody>
          <a:bodyPr wrap="square" lIns="0" tIns="0" rIns="0" bIns="0" rtlCol="0" anchor="ctr"/>
          <a:lstStyle/>
          <a:p>
            <a:pPr marL="0" indent="0">
              <a:buNone/>
            </a:pPr>
            <a:r>
              <a:rPr lang="en-US" sz="800" dirty="0">
                <a:solidFill>
                  <a:srgbClr val="FFFFFF"/>
                </a:solidFill>
                <a:latin typeface="Calibri" pitchFamily="34" charset="0"/>
                <a:ea typeface="Calibri" pitchFamily="34" charset="-122"/>
                <a:cs typeface="Calibri" pitchFamily="34" charset="-120"/>
              </a:rPr>
              <a:t>96.77%</a:t>
            </a:r>
            <a:endParaRPr lang="en-US" sz="800" dirty="0"/>
          </a:p>
        </p:txBody>
      </p:sp>
      <p:sp>
        <p:nvSpPr>
          <p:cNvPr id="89" name="Shape 86"/>
          <p:cNvSpPr/>
          <p:nvPr/>
        </p:nvSpPr>
        <p:spPr>
          <a:xfrm>
            <a:off x="274320" y="3749040"/>
            <a:ext cx="8503920" cy="548640"/>
          </a:xfrm>
          <a:prstGeom prst="rect">
            <a:avLst/>
          </a:prstGeom>
          <a:solidFill>
            <a:srgbClr val="0C2A1A"/>
          </a:solidFill>
          <a:ln w="10160">
            <a:solidFill>
              <a:srgbClr val="22C55E"/>
            </a:solidFill>
            <a:prstDash val="solid"/>
          </a:ln>
        </p:spPr>
        <p:txBody>
          <a:bodyPr/>
          <a:lstStyle/>
          <a:p>
            <a:endParaRPr lang="en-GB"/>
          </a:p>
        </p:txBody>
      </p:sp>
      <p:sp>
        <p:nvSpPr>
          <p:cNvPr id="90" name="Text 87"/>
          <p:cNvSpPr/>
          <p:nvPr/>
        </p:nvSpPr>
        <p:spPr>
          <a:xfrm>
            <a:off x="411480" y="3767328"/>
            <a:ext cx="832104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  Naïve Bayes: 99.9% recall but only 53.6% precision → extreme false positive rate. Class imbalance handled via class_weight='balanced' in Random Forest (no recall drop).</a:t>
            </a:r>
            <a:endParaRPr lang="en-US" sz="1000" dirty="0"/>
          </a:p>
        </p:txBody>
      </p:sp>
      <p:sp>
        <p:nvSpPr>
          <p:cNvPr id="91" name="Text 88"/>
          <p:cNvSpPr/>
          <p:nvPr/>
        </p:nvSpPr>
        <p:spPr>
          <a:xfrm>
            <a:off x="274320" y="4434840"/>
            <a:ext cx="8595360" cy="320040"/>
          </a:xfrm>
          <a:prstGeom prst="rect">
            <a:avLst/>
          </a:prstGeom>
          <a:noFill/>
          <a:ln/>
        </p:spPr>
        <p:txBody>
          <a:bodyPr wrap="square" lIns="0" tIns="0" rIns="0" bIns="0" rtlCol="0" anchor="ctr"/>
          <a:lstStyle/>
          <a:p>
            <a:pPr marL="0" indent="0" algn="ctr">
              <a:buNone/>
            </a:pPr>
            <a:r>
              <a:rPr lang="en-US" sz="950" dirty="0">
                <a:solidFill>
                  <a:srgbClr val="94A3B8"/>
                </a:solidFill>
                <a:latin typeface="Calibri" pitchFamily="34" charset="0"/>
                <a:ea typeface="Calibri" pitchFamily="34" charset="-122"/>
                <a:cs typeface="Calibri" pitchFamily="34" charset="-120"/>
              </a:rPr>
              <a:t>Train/Test: 80/20 stratified split  |  11,055 samples total  |  UCI Phishing Websites Dataset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D4FF"/>
          </a:solidFill>
          <a:ln w="12700">
            <a:solidFill>
              <a:srgbClr val="00D4FF"/>
            </a:solidFill>
            <a:prstDash val="solid"/>
          </a:ln>
        </p:spPr>
        <p:txBody>
          <a:bodyPr/>
          <a:lstStyle/>
          <a:p>
            <a:endParaRPr lang="en-GB"/>
          </a:p>
        </p:txBody>
      </p:sp>
      <p:sp>
        <p:nvSpPr>
          <p:cNvPr id="3" name="Text 1"/>
          <p:cNvSpPr/>
          <p:nvPr/>
        </p:nvSpPr>
        <p:spPr>
          <a:xfrm>
            <a:off x="274320" y="182880"/>
            <a:ext cx="8595360" cy="45720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Cross-Validation &amp; Feature Importance</a:t>
            </a:r>
            <a:endParaRPr lang="en-US" sz="2600" dirty="0"/>
          </a:p>
        </p:txBody>
      </p:sp>
      <p:sp>
        <p:nvSpPr>
          <p:cNvPr id="4" name="Text 2"/>
          <p:cNvSpPr/>
          <p:nvPr/>
        </p:nvSpPr>
        <p:spPr>
          <a:xfrm>
            <a:off x="274320" y="749808"/>
            <a:ext cx="4389120" cy="274320"/>
          </a:xfrm>
          <a:prstGeom prst="rect">
            <a:avLst/>
          </a:prstGeom>
          <a:noFill/>
          <a:ln/>
        </p:spPr>
        <p:txBody>
          <a:bodyPr wrap="square" lIns="0" tIns="0" rIns="0" bIns="0" rtlCol="0" anchor="ctr"/>
          <a:lstStyle/>
          <a:p>
            <a:pPr marL="0" indent="0">
              <a:buNone/>
            </a:pPr>
            <a:r>
              <a:rPr lang="en-US" sz="1100" b="1" dirty="0">
                <a:solidFill>
                  <a:srgbClr val="00D4FF"/>
                </a:solidFill>
                <a:latin typeface="Calibri" pitchFamily="34" charset="0"/>
                <a:ea typeface="Calibri" pitchFamily="34" charset="-122"/>
                <a:cs typeface="Calibri" pitchFamily="34" charset="-120"/>
              </a:rPr>
              <a:t>5-Fold Stratified Cross-Validation (Mean F1)</a:t>
            </a:r>
            <a:endParaRPr lang="en-US" sz="1100" dirty="0"/>
          </a:p>
        </p:txBody>
      </p:sp>
      <p:graphicFrame>
        <p:nvGraphicFramePr>
          <p:cNvPr id="5" name="Chart 0"/>
          <p:cNvGraphicFramePr/>
          <p:nvPr/>
        </p:nvGraphicFramePr>
        <p:xfrm>
          <a:off x="274320" y="1051560"/>
          <a:ext cx="438912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846320" y="749808"/>
            <a:ext cx="4114800" cy="274320"/>
          </a:xfrm>
          <a:prstGeom prst="rect">
            <a:avLst/>
          </a:prstGeom>
          <a:noFill/>
          <a:ln/>
        </p:spPr>
        <p:txBody>
          <a:bodyPr wrap="square" lIns="0" tIns="0" rIns="0" bIns="0" rtlCol="0" anchor="ctr"/>
          <a:lstStyle/>
          <a:p>
            <a:pPr marL="0" indent="0">
              <a:buNone/>
            </a:pPr>
            <a:r>
              <a:rPr lang="en-US" sz="1100" b="1" dirty="0">
                <a:solidFill>
                  <a:srgbClr val="22C55E"/>
                </a:solidFill>
                <a:latin typeface="Calibri" pitchFamily="34" charset="0"/>
                <a:ea typeface="Calibri" pitchFamily="34" charset="-122"/>
                <a:cs typeface="Calibri" pitchFamily="34" charset="-120"/>
              </a:rPr>
              <a:t>Top 10 Important Features (Random Forest)</a:t>
            </a:r>
            <a:endParaRPr lang="en-US" sz="1100" dirty="0"/>
          </a:p>
        </p:txBody>
      </p:sp>
      <p:graphicFrame>
        <p:nvGraphicFramePr>
          <p:cNvPr id="7" name="Chart 1"/>
          <p:cNvGraphicFramePr/>
          <p:nvPr/>
        </p:nvGraphicFramePr>
        <p:xfrm>
          <a:off x="4846320" y="1051560"/>
          <a:ext cx="41148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8" name="Shape 4"/>
          <p:cNvSpPr/>
          <p:nvPr/>
        </p:nvSpPr>
        <p:spPr>
          <a:xfrm>
            <a:off x="274320" y="3931920"/>
            <a:ext cx="8503920" cy="777240"/>
          </a:xfrm>
          <a:prstGeom prst="rect">
            <a:avLst/>
          </a:prstGeom>
          <a:solidFill>
            <a:srgbClr val="1A2333"/>
          </a:solidFill>
          <a:ln w="10160">
            <a:solidFill>
              <a:srgbClr val="00D4FF"/>
            </a:solidFill>
            <a:prstDash val="solid"/>
          </a:ln>
        </p:spPr>
        <p:txBody>
          <a:bodyPr/>
          <a:lstStyle/>
          <a:p>
            <a:endParaRPr lang="en-GB"/>
          </a:p>
        </p:txBody>
      </p:sp>
      <p:sp>
        <p:nvSpPr>
          <p:cNvPr id="9" name="Text 5"/>
          <p:cNvSpPr/>
          <p:nvPr/>
        </p:nvSpPr>
        <p:spPr>
          <a:xfrm>
            <a:off x="411480" y="3959352"/>
            <a:ext cx="8321040" cy="713232"/>
          </a:xfrm>
          <a:prstGeom prst="rect">
            <a:avLst/>
          </a:prstGeom>
          <a:noFill/>
          <a:ln/>
        </p:spPr>
        <p:txBody>
          <a:bodyPr wrap="square" lIns="0" tIns="0" rIns="0" bIns="0" rtlCol="0" anchor="ctr"/>
          <a:lstStyle/>
          <a:p>
            <a:pPr marL="0" indent="0">
              <a:buNone/>
            </a:pPr>
            <a:r>
              <a:rPr lang="en-US" sz="1050" b="1" dirty="0">
                <a:solidFill>
                  <a:srgbClr val="00D4FF"/>
                </a:solidFill>
                <a:latin typeface="Calibri" pitchFamily="34" charset="0"/>
                <a:ea typeface="Calibri" pitchFamily="34" charset="-122"/>
                <a:cs typeface="Calibri" pitchFamily="34" charset="-120"/>
              </a:rPr>
              <a:t>CV Insight: </a:t>
            </a:r>
            <a:r>
              <a:rPr lang="en-US" sz="1050" dirty="0">
                <a:solidFill>
                  <a:srgbClr val="FFFFFF"/>
                </a:solidFill>
                <a:latin typeface="Calibri" pitchFamily="34" charset="0"/>
                <a:ea typeface="Calibri" pitchFamily="34" charset="-122"/>
                <a:cs typeface="Calibri" pitchFamily="34" charset="-120"/>
              </a:rPr>
              <a:t>Random Forest achieves Mean F1 = 0.966 with Std = 0.003 (lowest variance). Decision Tree shows higher std (0.0065) — more sensitive to data splits. Naïve Bayes performs poorly due to feature independence assumption being violated in phishing data.</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59E0B"/>
          </a:solidFill>
          <a:ln w="12700">
            <a:solidFill>
              <a:srgbClr val="F59E0B"/>
            </a:solidFill>
            <a:prstDash val="solid"/>
          </a:ln>
        </p:spPr>
        <p:txBody>
          <a:bodyPr/>
          <a:lstStyle/>
          <a:p>
            <a:endParaRPr lang="en-GB"/>
          </a:p>
        </p:txBody>
      </p:sp>
      <p:sp>
        <p:nvSpPr>
          <p:cNvPr id="3" name="Text 1"/>
          <p:cNvSpPr/>
          <p:nvPr/>
        </p:nvSpPr>
        <p:spPr>
          <a:xfrm>
            <a:off x="274320" y="182880"/>
            <a:ext cx="8595360" cy="45720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Key Findings &amp; Conclusions</a:t>
            </a:r>
            <a:endParaRPr lang="en-US" sz="2600" dirty="0"/>
          </a:p>
        </p:txBody>
      </p:sp>
      <p:sp>
        <p:nvSpPr>
          <p:cNvPr id="4" name="Shape 2"/>
          <p:cNvSpPr/>
          <p:nvPr/>
        </p:nvSpPr>
        <p:spPr>
          <a:xfrm>
            <a:off x="274320" y="822960"/>
            <a:ext cx="4206240" cy="1234440"/>
          </a:xfrm>
          <a:prstGeom prst="rect">
            <a:avLst/>
          </a:prstGeom>
          <a:solidFill>
            <a:srgbClr val="111827"/>
          </a:solidFill>
          <a:ln w="10160">
            <a:solidFill>
              <a:srgbClr val="22C55E"/>
            </a:solidFill>
            <a:prstDash val="solid"/>
          </a:ln>
        </p:spPr>
        <p:txBody>
          <a:bodyPr/>
          <a:lstStyle/>
          <a:p>
            <a:endParaRPr lang="en-GB"/>
          </a:p>
        </p:txBody>
      </p:sp>
      <p:sp>
        <p:nvSpPr>
          <p:cNvPr id="5" name="Shape 3"/>
          <p:cNvSpPr/>
          <p:nvPr/>
        </p:nvSpPr>
        <p:spPr>
          <a:xfrm>
            <a:off x="274320" y="822960"/>
            <a:ext cx="54864" cy="1234440"/>
          </a:xfrm>
          <a:prstGeom prst="rect">
            <a:avLst/>
          </a:prstGeom>
          <a:solidFill>
            <a:srgbClr val="22C55E"/>
          </a:solidFill>
          <a:ln w="12700">
            <a:solidFill>
              <a:srgbClr val="22C55E"/>
            </a:solidFill>
            <a:prstDash val="solid"/>
          </a:ln>
        </p:spPr>
        <p:txBody>
          <a:bodyPr/>
          <a:lstStyle/>
          <a:p>
            <a:endParaRPr lang="en-GB"/>
          </a:p>
        </p:txBody>
      </p:sp>
      <p:pic>
        <p:nvPicPr>
          <p:cNvPr id="6" name="Image 0" descr="preencoded.png"/>
          <p:cNvPicPr>
            <a:picLocks noChangeAspect="1"/>
          </p:cNvPicPr>
          <p:nvPr/>
        </p:nvPicPr>
        <p:blipFill>
          <a:blip r:embed="rId3"/>
          <a:stretch>
            <a:fillRect/>
          </a:stretch>
        </p:blipFill>
        <p:spPr>
          <a:xfrm>
            <a:off x="411480" y="914400"/>
            <a:ext cx="347472" cy="347472"/>
          </a:xfrm>
          <a:prstGeom prst="rect">
            <a:avLst/>
          </a:prstGeom>
        </p:spPr>
      </p:pic>
      <p:sp>
        <p:nvSpPr>
          <p:cNvPr id="7" name="Text 4"/>
          <p:cNvSpPr/>
          <p:nvPr/>
        </p:nvSpPr>
        <p:spPr>
          <a:xfrm>
            <a:off x="822960" y="914400"/>
            <a:ext cx="3566160" cy="347472"/>
          </a:xfrm>
          <a:prstGeom prst="rect">
            <a:avLst/>
          </a:prstGeom>
          <a:noFill/>
          <a:ln/>
        </p:spPr>
        <p:txBody>
          <a:bodyPr wrap="square" lIns="0" tIns="0" rIns="0" bIns="0" rtlCol="0" anchor="ctr"/>
          <a:lstStyle/>
          <a:p>
            <a:pPr marL="0" indent="0">
              <a:buNone/>
            </a:pPr>
            <a:r>
              <a:rPr lang="en-US" sz="1200" b="1" dirty="0">
                <a:solidFill>
                  <a:srgbClr val="22C55E"/>
                </a:solidFill>
                <a:latin typeface="Calibri" pitchFamily="34" charset="0"/>
                <a:ea typeface="Calibri" pitchFamily="34" charset="-122"/>
                <a:cs typeface="Calibri" pitchFamily="34" charset="-120"/>
              </a:rPr>
              <a:t>Random Forest is the Winner</a:t>
            </a:r>
            <a:endParaRPr lang="en-US" sz="1200" dirty="0"/>
          </a:p>
        </p:txBody>
      </p:sp>
      <p:sp>
        <p:nvSpPr>
          <p:cNvPr id="8" name="Text 5"/>
          <p:cNvSpPr/>
          <p:nvPr/>
        </p:nvSpPr>
        <p:spPr>
          <a:xfrm>
            <a:off x="411480" y="1325880"/>
            <a:ext cx="3977640" cy="68580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Achieved 97.69% accuracy, F1=97.38%, ROC-AUC=99.64% ,most accurate and most stable across all 5 CV folds. Best for deployment.</a:t>
            </a:r>
            <a:endParaRPr lang="en-US" sz="1000" dirty="0"/>
          </a:p>
        </p:txBody>
      </p:sp>
      <p:sp>
        <p:nvSpPr>
          <p:cNvPr id="9" name="Shape 6"/>
          <p:cNvSpPr/>
          <p:nvPr/>
        </p:nvSpPr>
        <p:spPr>
          <a:xfrm>
            <a:off x="4709160" y="822960"/>
            <a:ext cx="4206240" cy="1234440"/>
          </a:xfrm>
          <a:prstGeom prst="rect">
            <a:avLst/>
          </a:prstGeom>
          <a:solidFill>
            <a:srgbClr val="111827"/>
          </a:solidFill>
          <a:ln w="10160">
            <a:solidFill>
              <a:srgbClr val="00D4FF"/>
            </a:solidFill>
            <a:prstDash val="solid"/>
          </a:ln>
        </p:spPr>
        <p:txBody>
          <a:bodyPr/>
          <a:lstStyle/>
          <a:p>
            <a:endParaRPr lang="en-GB"/>
          </a:p>
        </p:txBody>
      </p:sp>
      <p:sp>
        <p:nvSpPr>
          <p:cNvPr id="10" name="Shape 7"/>
          <p:cNvSpPr/>
          <p:nvPr/>
        </p:nvSpPr>
        <p:spPr>
          <a:xfrm>
            <a:off x="4709160" y="822960"/>
            <a:ext cx="54864" cy="1234440"/>
          </a:xfrm>
          <a:prstGeom prst="rect">
            <a:avLst/>
          </a:prstGeom>
          <a:solidFill>
            <a:srgbClr val="00D4FF"/>
          </a:solidFill>
          <a:ln w="12700">
            <a:solidFill>
              <a:srgbClr val="00D4FF"/>
            </a:solidFill>
            <a:prstDash val="solid"/>
          </a:ln>
        </p:spPr>
        <p:txBody>
          <a:bodyPr/>
          <a:lstStyle/>
          <a:p>
            <a:endParaRPr lang="en-GB"/>
          </a:p>
        </p:txBody>
      </p:sp>
      <p:pic>
        <p:nvPicPr>
          <p:cNvPr id="11" name="Image 1" descr="preencoded.png"/>
          <p:cNvPicPr>
            <a:picLocks noChangeAspect="1"/>
          </p:cNvPicPr>
          <p:nvPr/>
        </p:nvPicPr>
        <p:blipFill>
          <a:blip r:embed="rId4"/>
          <a:stretch>
            <a:fillRect/>
          </a:stretch>
        </p:blipFill>
        <p:spPr>
          <a:xfrm>
            <a:off x="4846320" y="914400"/>
            <a:ext cx="347472" cy="347472"/>
          </a:xfrm>
          <a:prstGeom prst="rect">
            <a:avLst/>
          </a:prstGeom>
        </p:spPr>
      </p:pic>
      <p:sp>
        <p:nvSpPr>
          <p:cNvPr id="12" name="Text 8"/>
          <p:cNvSpPr/>
          <p:nvPr/>
        </p:nvSpPr>
        <p:spPr>
          <a:xfrm>
            <a:off x="5257800" y="914400"/>
            <a:ext cx="3566160" cy="347472"/>
          </a:xfrm>
          <a:prstGeom prst="rect">
            <a:avLst/>
          </a:prstGeom>
          <a:noFill/>
          <a:ln/>
        </p:spPr>
        <p:txBody>
          <a:bodyPr wrap="square" lIns="0" tIns="0" rIns="0" bIns="0" rtlCol="0" anchor="ctr"/>
          <a:lstStyle/>
          <a:p>
            <a:pPr marL="0" indent="0">
              <a:buNone/>
            </a:pPr>
            <a:r>
              <a:rPr lang="en-US" sz="1200" b="1" dirty="0">
                <a:solidFill>
                  <a:srgbClr val="00D4FF"/>
                </a:solidFill>
                <a:latin typeface="Calibri" pitchFamily="34" charset="0"/>
                <a:ea typeface="Calibri" pitchFamily="34" charset="-122"/>
                <a:cs typeface="Calibri" pitchFamily="34" charset="-120"/>
              </a:rPr>
              <a:t>SSLfinal_State is #1 Feature</a:t>
            </a:r>
            <a:endParaRPr lang="en-US" sz="1200" dirty="0"/>
          </a:p>
        </p:txBody>
      </p:sp>
      <p:sp>
        <p:nvSpPr>
          <p:cNvPr id="13" name="Text 9"/>
          <p:cNvSpPr/>
          <p:nvPr/>
        </p:nvSpPr>
        <p:spPr>
          <a:xfrm>
            <a:off x="4846320" y="1325880"/>
            <a:ext cx="3977640" cy="68580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SSL certificate status accounts for 32.5% of model importance. Followed by URL_of_Anchor (24.9%) and web_traffic (7.4%).</a:t>
            </a:r>
            <a:endParaRPr lang="en-US" sz="1000" dirty="0"/>
          </a:p>
        </p:txBody>
      </p:sp>
      <p:sp>
        <p:nvSpPr>
          <p:cNvPr id="14" name="Shape 10"/>
          <p:cNvSpPr/>
          <p:nvPr/>
        </p:nvSpPr>
        <p:spPr>
          <a:xfrm>
            <a:off x="274320" y="2194560"/>
            <a:ext cx="4206240" cy="1234440"/>
          </a:xfrm>
          <a:prstGeom prst="rect">
            <a:avLst/>
          </a:prstGeom>
          <a:solidFill>
            <a:srgbClr val="111827"/>
          </a:solidFill>
          <a:ln w="10160">
            <a:solidFill>
              <a:srgbClr val="F59E0B"/>
            </a:solidFill>
            <a:prstDash val="solid"/>
          </a:ln>
        </p:spPr>
        <p:txBody>
          <a:bodyPr/>
          <a:lstStyle/>
          <a:p>
            <a:endParaRPr lang="en-GB"/>
          </a:p>
        </p:txBody>
      </p:sp>
      <p:sp>
        <p:nvSpPr>
          <p:cNvPr id="15" name="Shape 11"/>
          <p:cNvSpPr/>
          <p:nvPr/>
        </p:nvSpPr>
        <p:spPr>
          <a:xfrm>
            <a:off x="274320" y="2194560"/>
            <a:ext cx="54864" cy="1234440"/>
          </a:xfrm>
          <a:prstGeom prst="rect">
            <a:avLst/>
          </a:prstGeom>
          <a:solidFill>
            <a:srgbClr val="F59E0B"/>
          </a:solidFill>
          <a:ln w="12700">
            <a:solidFill>
              <a:srgbClr val="F59E0B"/>
            </a:solidFill>
            <a:prstDash val="solid"/>
          </a:ln>
        </p:spPr>
        <p:txBody>
          <a:bodyPr/>
          <a:lstStyle/>
          <a:p>
            <a:endParaRPr lang="en-GB"/>
          </a:p>
        </p:txBody>
      </p:sp>
      <p:pic>
        <p:nvPicPr>
          <p:cNvPr id="16" name="Image 2" descr="preencoded.png"/>
          <p:cNvPicPr>
            <a:picLocks noChangeAspect="1"/>
          </p:cNvPicPr>
          <p:nvPr/>
        </p:nvPicPr>
        <p:blipFill>
          <a:blip r:embed="rId5"/>
          <a:stretch>
            <a:fillRect/>
          </a:stretch>
        </p:blipFill>
        <p:spPr>
          <a:xfrm>
            <a:off x="411480" y="2286000"/>
            <a:ext cx="347472" cy="347472"/>
          </a:xfrm>
          <a:prstGeom prst="rect">
            <a:avLst/>
          </a:prstGeom>
        </p:spPr>
      </p:pic>
      <p:sp>
        <p:nvSpPr>
          <p:cNvPr id="17" name="Text 12"/>
          <p:cNvSpPr/>
          <p:nvPr/>
        </p:nvSpPr>
        <p:spPr>
          <a:xfrm>
            <a:off x="822960" y="2286000"/>
            <a:ext cx="3566160" cy="347472"/>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Naïve Bayes — Don't Use for This</a:t>
            </a:r>
            <a:endParaRPr lang="en-US" sz="1200" dirty="0"/>
          </a:p>
        </p:txBody>
      </p:sp>
      <p:sp>
        <p:nvSpPr>
          <p:cNvPr id="18" name="Text 13"/>
          <p:cNvSpPr/>
          <p:nvPr/>
        </p:nvSpPr>
        <p:spPr>
          <a:xfrm>
            <a:off x="411480" y="2697480"/>
            <a:ext cx="3977640" cy="68580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99.9% recall but only 53.6% precision → extreme false positives. Phishing features are correlated; independence assumption is violated.</a:t>
            </a:r>
            <a:endParaRPr lang="en-US" sz="1000" dirty="0"/>
          </a:p>
        </p:txBody>
      </p:sp>
      <p:sp>
        <p:nvSpPr>
          <p:cNvPr id="19" name="Shape 14"/>
          <p:cNvSpPr/>
          <p:nvPr/>
        </p:nvSpPr>
        <p:spPr>
          <a:xfrm>
            <a:off x="4709160" y="2194560"/>
            <a:ext cx="4206240" cy="1234440"/>
          </a:xfrm>
          <a:prstGeom prst="rect">
            <a:avLst/>
          </a:prstGeom>
          <a:solidFill>
            <a:srgbClr val="111827"/>
          </a:solidFill>
          <a:ln w="10160">
            <a:solidFill>
              <a:srgbClr val="00D4FF"/>
            </a:solidFill>
            <a:prstDash val="solid"/>
          </a:ln>
        </p:spPr>
        <p:txBody>
          <a:bodyPr/>
          <a:lstStyle/>
          <a:p>
            <a:endParaRPr lang="en-GB"/>
          </a:p>
        </p:txBody>
      </p:sp>
      <p:sp>
        <p:nvSpPr>
          <p:cNvPr id="20" name="Shape 15"/>
          <p:cNvSpPr/>
          <p:nvPr/>
        </p:nvSpPr>
        <p:spPr>
          <a:xfrm>
            <a:off x="4709160" y="2194560"/>
            <a:ext cx="54864" cy="1234440"/>
          </a:xfrm>
          <a:prstGeom prst="rect">
            <a:avLst/>
          </a:prstGeom>
          <a:solidFill>
            <a:srgbClr val="00D4FF"/>
          </a:solidFill>
          <a:ln w="12700">
            <a:solidFill>
              <a:srgbClr val="00D4FF"/>
            </a:solidFill>
            <a:prstDash val="solid"/>
          </a:ln>
        </p:spPr>
        <p:txBody>
          <a:bodyPr/>
          <a:lstStyle/>
          <a:p>
            <a:endParaRPr lang="en-GB"/>
          </a:p>
        </p:txBody>
      </p:sp>
      <p:pic>
        <p:nvPicPr>
          <p:cNvPr id="21" name="Image 3" descr="preencoded.png"/>
          <p:cNvPicPr>
            <a:picLocks noChangeAspect="1"/>
          </p:cNvPicPr>
          <p:nvPr/>
        </p:nvPicPr>
        <p:blipFill>
          <a:blip r:embed="rId6"/>
          <a:stretch>
            <a:fillRect/>
          </a:stretch>
        </p:blipFill>
        <p:spPr>
          <a:xfrm>
            <a:off x="4846320" y="2286000"/>
            <a:ext cx="347472" cy="347472"/>
          </a:xfrm>
          <a:prstGeom prst="rect">
            <a:avLst/>
          </a:prstGeom>
        </p:spPr>
      </p:pic>
      <p:sp>
        <p:nvSpPr>
          <p:cNvPr id="22" name="Text 16"/>
          <p:cNvSpPr/>
          <p:nvPr/>
        </p:nvSpPr>
        <p:spPr>
          <a:xfrm>
            <a:off x="5257800" y="2286000"/>
            <a:ext cx="3566160" cy="347472"/>
          </a:xfrm>
          <a:prstGeom prst="rect">
            <a:avLst/>
          </a:prstGeom>
          <a:noFill/>
          <a:ln/>
        </p:spPr>
        <p:txBody>
          <a:bodyPr wrap="square" lIns="0" tIns="0" rIns="0" bIns="0" rtlCol="0" anchor="ctr"/>
          <a:lstStyle/>
          <a:p>
            <a:pPr marL="0" indent="0">
              <a:buNone/>
            </a:pPr>
            <a:r>
              <a:rPr lang="en-US" sz="1200" b="1" dirty="0">
                <a:solidFill>
                  <a:srgbClr val="00D4FF"/>
                </a:solidFill>
                <a:latin typeface="Calibri" pitchFamily="34" charset="0"/>
                <a:ea typeface="Calibri" pitchFamily="34" charset="-122"/>
                <a:cs typeface="Calibri" pitchFamily="34" charset="-120"/>
              </a:rPr>
              <a:t>Multi-Modal Features Win (Paper 2)</a:t>
            </a:r>
            <a:endParaRPr lang="en-US" sz="1200" dirty="0"/>
          </a:p>
        </p:txBody>
      </p:sp>
      <p:sp>
        <p:nvSpPr>
          <p:cNvPr id="23" name="Text 17"/>
          <p:cNvSpPr/>
          <p:nvPr/>
        </p:nvSpPr>
        <p:spPr>
          <a:xfrm>
            <a:off x="4846320" y="2697480"/>
            <a:ext cx="3977640" cy="68580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Combining NLP, WHOIS, DNS, and AutoML gives highest paper accuracy (95.8%). Richer features always outperform URL-only approaches.</a:t>
            </a:r>
            <a:endParaRPr lang="en-US" sz="1000" dirty="0"/>
          </a:p>
        </p:txBody>
      </p:sp>
      <p:sp>
        <p:nvSpPr>
          <p:cNvPr id="24" name="Shape 18"/>
          <p:cNvSpPr/>
          <p:nvPr/>
        </p:nvSpPr>
        <p:spPr>
          <a:xfrm>
            <a:off x="274320" y="3566160"/>
            <a:ext cx="4206240" cy="1234440"/>
          </a:xfrm>
          <a:prstGeom prst="rect">
            <a:avLst/>
          </a:prstGeom>
          <a:solidFill>
            <a:srgbClr val="111827"/>
          </a:solidFill>
          <a:ln w="10160">
            <a:solidFill>
              <a:srgbClr val="22C55E"/>
            </a:solidFill>
            <a:prstDash val="solid"/>
          </a:ln>
        </p:spPr>
        <p:txBody>
          <a:bodyPr/>
          <a:lstStyle/>
          <a:p>
            <a:endParaRPr lang="en-GB"/>
          </a:p>
        </p:txBody>
      </p:sp>
      <p:sp>
        <p:nvSpPr>
          <p:cNvPr id="25" name="Shape 19"/>
          <p:cNvSpPr/>
          <p:nvPr/>
        </p:nvSpPr>
        <p:spPr>
          <a:xfrm>
            <a:off x="274320" y="3566160"/>
            <a:ext cx="54864" cy="1234440"/>
          </a:xfrm>
          <a:prstGeom prst="rect">
            <a:avLst/>
          </a:prstGeom>
          <a:solidFill>
            <a:srgbClr val="22C55E"/>
          </a:solidFill>
          <a:ln w="12700">
            <a:solidFill>
              <a:srgbClr val="22C55E"/>
            </a:solidFill>
            <a:prstDash val="solid"/>
          </a:ln>
        </p:spPr>
        <p:txBody>
          <a:bodyPr/>
          <a:lstStyle/>
          <a:p>
            <a:endParaRPr lang="en-GB"/>
          </a:p>
        </p:txBody>
      </p:sp>
      <p:pic>
        <p:nvPicPr>
          <p:cNvPr id="26" name="Image 4" descr="preencoded.png"/>
          <p:cNvPicPr>
            <a:picLocks noChangeAspect="1"/>
          </p:cNvPicPr>
          <p:nvPr/>
        </p:nvPicPr>
        <p:blipFill>
          <a:blip r:embed="rId7"/>
          <a:stretch>
            <a:fillRect/>
          </a:stretch>
        </p:blipFill>
        <p:spPr>
          <a:xfrm>
            <a:off x="411480" y="3657600"/>
            <a:ext cx="347472" cy="347472"/>
          </a:xfrm>
          <a:prstGeom prst="rect">
            <a:avLst/>
          </a:prstGeom>
        </p:spPr>
      </p:pic>
      <p:sp>
        <p:nvSpPr>
          <p:cNvPr id="27" name="Text 20"/>
          <p:cNvSpPr/>
          <p:nvPr/>
        </p:nvSpPr>
        <p:spPr>
          <a:xfrm>
            <a:off x="822960" y="3657600"/>
            <a:ext cx="3566160" cy="347472"/>
          </a:xfrm>
          <a:prstGeom prst="rect">
            <a:avLst/>
          </a:prstGeom>
          <a:noFill/>
          <a:ln/>
        </p:spPr>
        <p:txBody>
          <a:bodyPr wrap="square" lIns="0" tIns="0" rIns="0" bIns="0" rtlCol="0" anchor="ctr"/>
          <a:lstStyle/>
          <a:p>
            <a:pPr marL="0" indent="0">
              <a:buNone/>
            </a:pPr>
            <a:r>
              <a:rPr lang="en-US" sz="1200" b="1" dirty="0">
                <a:solidFill>
                  <a:srgbClr val="22C55E"/>
                </a:solidFill>
                <a:latin typeface="Calibri" pitchFamily="34" charset="0"/>
                <a:ea typeface="Calibri" pitchFamily="34" charset="-122"/>
                <a:cs typeface="Calibri" pitchFamily="34" charset="-120"/>
              </a:rPr>
              <a:t>Cross-Validation Confirms Reliability</a:t>
            </a:r>
            <a:endParaRPr lang="en-US" sz="1200" dirty="0"/>
          </a:p>
        </p:txBody>
      </p:sp>
      <p:sp>
        <p:nvSpPr>
          <p:cNvPr id="28" name="Text 21"/>
          <p:cNvSpPr/>
          <p:nvPr/>
        </p:nvSpPr>
        <p:spPr>
          <a:xfrm>
            <a:off x="411480" y="4069080"/>
            <a:ext cx="3977640" cy="68580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Low standard deviation (0.003) in RF confirms results aren't due to lucky splits. Model generalizes well to unseen phishing sites.</a:t>
            </a:r>
            <a:endParaRPr lang="en-US" sz="1000" dirty="0"/>
          </a:p>
        </p:txBody>
      </p:sp>
      <p:sp>
        <p:nvSpPr>
          <p:cNvPr id="29" name="Shape 22"/>
          <p:cNvSpPr/>
          <p:nvPr/>
        </p:nvSpPr>
        <p:spPr>
          <a:xfrm>
            <a:off x="4709160" y="3566160"/>
            <a:ext cx="4206240" cy="1234440"/>
          </a:xfrm>
          <a:prstGeom prst="rect">
            <a:avLst/>
          </a:prstGeom>
          <a:solidFill>
            <a:srgbClr val="111827"/>
          </a:solidFill>
          <a:ln w="10160">
            <a:solidFill>
              <a:srgbClr val="F59E0B"/>
            </a:solidFill>
            <a:prstDash val="solid"/>
          </a:ln>
        </p:spPr>
        <p:txBody>
          <a:bodyPr/>
          <a:lstStyle/>
          <a:p>
            <a:endParaRPr lang="en-GB"/>
          </a:p>
        </p:txBody>
      </p:sp>
      <p:sp>
        <p:nvSpPr>
          <p:cNvPr id="30" name="Shape 23"/>
          <p:cNvSpPr/>
          <p:nvPr/>
        </p:nvSpPr>
        <p:spPr>
          <a:xfrm>
            <a:off x="4709160" y="3566160"/>
            <a:ext cx="54864" cy="1234440"/>
          </a:xfrm>
          <a:prstGeom prst="rect">
            <a:avLst/>
          </a:prstGeom>
          <a:solidFill>
            <a:srgbClr val="F59E0B"/>
          </a:solidFill>
          <a:ln w="12700">
            <a:solidFill>
              <a:srgbClr val="F59E0B"/>
            </a:solidFill>
            <a:prstDash val="solid"/>
          </a:ln>
        </p:spPr>
        <p:txBody>
          <a:bodyPr/>
          <a:lstStyle/>
          <a:p>
            <a:endParaRPr lang="en-GB"/>
          </a:p>
        </p:txBody>
      </p:sp>
      <p:pic>
        <p:nvPicPr>
          <p:cNvPr id="31" name="Image 5" descr="preencoded.png"/>
          <p:cNvPicPr>
            <a:picLocks noChangeAspect="1"/>
          </p:cNvPicPr>
          <p:nvPr/>
        </p:nvPicPr>
        <p:blipFill>
          <a:blip r:embed="rId8"/>
          <a:stretch>
            <a:fillRect/>
          </a:stretch>
        </p:blipFill>
        <p:spPr>
          <a:xfrm>
            <a:off x="4846320" y="3657600"/>
            <a:ext cx="347472" cy="347472"/>
          </a:xfrm>
          <a:prstGeom prst="rect">
            <a:avLst/>
          </a:prstGeom>
        </p:spPr>
      </p:pic>
      <p:sp>
        <p:nvSpPr>
          <p:cNvPr id="32" name="Text 24"/>
          <p:cNvSpPr/>
          <p:nvPr/>
        </p:nvSpPr>
        <p:spPr>
          <a:xfrm>
            <a:off x="5257800" y="3657600"/>
            <a:ext cx="3566160" cy="347472"/>
          </a:xfrm>
          <a:prstGeom prst="rect">
            <a:avLst/>
          </a:prstGeom>
          <a:noFill/>
          <a:ln/>
        </p:spPr>
        <p:txBody>
          <a:bodyPr wrap="square" lIns="0" tIns="0" rIns="0" bIns="0" rtlCol="0" anchor="ctr"/>
          <a:lstStyle/>
          <a:p>
            <a:pPr marL="0" indent="0">
              <a:buNone/>
            </a:pPr>
            <a:r>
              <a:rPr lang="en-US" sz="1200" b="1" dirty="0">
                <a:solidFill>
                  <a:srgbClr val="F59E0B"/>
                </a:solidFill>
                <a:latin typeface="Calibri" pitchFamily="34" charset="0"/>
                <a:ea typeface="Calibri" pitchFamily="34" charset="-122"/>
                <a:cs typeface="Calibri" pitchFamily="34" charset="-120"/>
              </a:rPr>
              <a:t>Practical Takeaway</a:t>
            </a:r>
            <a:endParaRPr lang="en-US" sz="1200" dirty="0"/>
          </a:p>
        </p:txBody>
      </p:sp>
      <p:sp>
        <p:nvSpPr>
          <p:cNvPr id="33" name="Text 25"/>
          <p:cNvSpPr/>
          <p:nvPr/>
        </p:nvSpPr>
        <p:spPr>
          <a:xfrm>
            <a:off x="4846320" y="4069080"/>
            <a:ext cx="3977640" cy="68580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A 30-feature Random Forest with class_weight='balanced' is sufficient for production phishing detection with near-perfect recall. </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0" cy="5143500"/>
          </a:xfrm>
          <a:prstGeom prst="line">
            <a:avLst/>
          </a:prstGeom>
          <a:noFill/>
          <a:ln w="6350">
            <a:solidFill>
              <a:srgbClr val="1E293B"/>
            </a:solidFill>
            <a:prstDash val="solid"/>
          </a:ln>
        </p:spPr>
        <p:txBody>
          <a:bodyPr/>
          <a:lstStyle/>
          <a:p>
            <a:endParaRPr lang="en-GB"/>
          </a:p>
        </p:txBody>
      </p:sp>
      <p:sp>
        <p:nvSpPr>
          <p:cNvPr id="3" name="Shape 1"/>
          <p:cNvSpPr/>
          <p:nvPr/>
        </p:nvSpPr>
        <p:spPr>
          <a:xfrm>
            <a:off x="914400" y="0"/>
            <a:ext cx="0" cy="5143500"/>
          </a:xfrm>
          <a:prstGeom prst="line">
            <a:avLst/>
          </a:prstGeom>
          <a:noFill/>
          <a:ln w="6350">
            <a:solidFill>
              <a:srgbClr val="1E293B"/>
            </a:solidFill>
            <a:prstDash val="solid"/>
          </a:ln>
        </p:spPr>
        <p:txBody>
          <a:bodyPr/>
          <a:lstStyle/>
          <a:p>
            <a:endParaRPr lang="en-GB"/>
          </a:p>
        </p:txBody>
      </p:sp>
      <p:sp>
        <p:nvSpPr>
          <p:cNvPr id="4" name="Shape 2"/>
          <p:cNvSpPr/>
          <p:nvPr/>
        </p:nvSpPr>
        <p:spPr>
          <a:xfrm>
            <a:off x="1828800" y="0"/>
            <a:ext cx="0" cy="5143500"/>
          </a:xfrm>
          <a:prstGeom prst="line">
            <a:avLst/>
          </a:prstGeom>
          <a:noFill/>
          <a:ln w="6350">
            <a:solidFill>
              <a:srgbClr val="1E293B"/>
            </a:solidFill>
            <a:prstDash val="solid"/>
          </a:ln>
        </p:spPr>
        <p:txBody>
          <a:bodyPr/>
          <a:lstStyle/>
          <a:p>
            <a:endParaRPr lang="en-GB"/>
          </a:p>
        </p:txBody>
      </p:sp>
      <p:sp>
        <p:nvSpPr>
          <p:cNvPr id="5" name="Shape 3"/>
          <p:cNvSpPr/>
          <p:nvPr/>
        </p:nvSpPr>
        <p:spPr>
          <a:xfrm>
            <a:off x="2743200" y="0"/>
            <a:ext cx="0" cy="5143500"/>
          </a:xfrm>
          <a:prstGeom prst="line">
            <a:avLst/>
          </a:prstGeom>
          <a:noFill/>
          <a:ln w="6350">
            <a:solidFill>
              <a:srgbClr val="1E293B"/>
            </a:solidFill>
            <a:prstDash val="solid"/>
          </a:ln>
        </p:spPr>
        <p:txBody>
          <a:bodyPr/>
          <a:lstStyle/>
          <a:p>
            <a:endParaRPr lang="en-GB"/>
          </a:p>
        </p:txBody>
      </p:sp>
      <p:sp>
        <p:nvSpPr>
          <p:cNvPr id="6" name="Shape 4"/>
          <p:cNvSpPr/>
          <p:nvPr/>
        </p:nvSpPr>
        <p:spPr>
          <a:xfrm>
            <a:off x="3657600" y="0"/>
            <a:ext cx="0" cy="5143500"/>
          </a:xfrm>
          <a:prstGeom prst="line">
            <a:avLst/>
          </a:prstGeom>
          <a:noFill/>
          <a:ln w="6350">
            <a:solidFill>
              <a:srgbClr val="1E293B"/>
            </a:solidFill>
            <a:prstDash val="solid"/>
          </a:ln>
        </p:spPr>
        <p:txBody>
          <a:bodyPr/>
          <a:lstStyle/>
          <a:p>
            <a:endParaRPr lang="en-GB"/>
          </a:p>
        </p:txBody>
      </p:sp>
      <p:sp>
        <p:nvSpPr>
          <p:cNvPr id="7" name="Shape 5"/>
          <p:cNvSpPr/>
          <p:nvPr/>
        </p:nvSpPr>
        <p:spPr>
          <a:xfrm>
            <a:off x="4572000" y="0"/>
            <a:ext cx="0" cy="5143500"/>
          </a:xfrm>
          <a:prstGeom prst="line">
            <a:avLst/>
          </a:prstGeom>
          <a:noFill/>
          <a:ln w="6350">
            <a:solidFill>
              <a:srgbClr val="1E293B"/>
            </a:solidFill>
            <a:prstDash val="solid"/>
          </a:ln>
        </p:spPr>
        <p:txBody>
          <a:bodyPr/>
          <a:lstStyle/>
          <a:p>
            <a:endParaRPr lang="en-GB"/>
          </a:p>
        </p:txBody>
      </p:sp>
      <p:sp>
        <p:nvSpPr>
          <p:cNvPr id="8" name="Shape 6"/>
          <p:cNvSpPr/>
          <p:nvPr/>
        </p:nvSpPr>
        <p:spPr>
          <a:xfrm>
            <a:off x="5486400" y="0"/>
            <a:ext cx="0" cy="5143500"/>
          </a:xfrm>
          <a:prstGeom prst="line">
            <a:avLst/>
          </a:prstGeom>
          <a:noFill/>
          <a:ln w="6350">
            <a:solidFill>
              <a:srgbClr val="1E293B"/>
            </a:solidFill>
            <a:prstDash val="solid"/>
          </a:ln>
        </p:spPr>
        <p:txBody>
          <a:bodyPr/>
          <a:lstStyle/>
          <a:p>
            <a:endParaRPr lang="en-GB"/>
          </a:p>
        </p:txBody>
      </p:sp>
      <p:sp>
        <p:nvSpPr>
          <p:cNvPr id="9" name="Shape 7"/>
          <p:cNvSpPr/>
          <p:nvPr/>
        </p:nvSpPr>
        <p:spPr>
          <a:xfrm>
            <a:off x="6400800" y="0"/>
            <a:ext cx="0" cy="5143500"/>
          </a:xfrm>
          <a:prstGeom prst="line">
            <a:avLst/>
          </a:prstGeom>
          <a:noFill/>
          <a:ln w="6350">
            <a:solidFill>
              <a:srgbClr val="1E293B"/>
            </a:solidFill>
            <a:prstDash val="solid"/>
          </a:ln>
        </p:spPr>
        <p:txBody>
          <a:bodyPr/>
          <a:lstStyle/>
          <a:p>
            <a:endParaRPr lang="en-GB"/>
          </a:p>
        </p:txBody>
      </p:sp>
      <p:sp>
        <p:nvSpPr>
          <p:cNvPr id="10" name="Shape 8"/>
          <p:cNvSpPr/>
          <p:nvPr/>
        </p:nvSpPr>
        <p:spPr>
          <a:xfrm>
            <a:off x="7315200" y="0"/>
            <a:ext cx="0" cy="5143500"/>
          </a:xfrm>
          <a:prstGeom prst="line">
            <a:avLst/>
          </a:prstGeom>
          <a:noFill/>
          <a:ln w="6350">
            <a:solidFill>
              <a:srgbClr val="1E293B"/>
            </a:solidFill>
            <a:prstDash val="solid"/>
          </a:ln>
        </p:spPr>
        <p:txBody>
          <a:bodyPr/>
          <a:lstStyle/>
          <a:p>
            <a:endParaRPr lang="en-GB"/>
          </a:p>
        </p:txBody>
      </p:sp>
      <p:sp>
        <p:nvSpPr>
          <p:cNvPr id="11" name="Shape 9"/>
          <p:cNvSpPr/>
          <p:nvPr/>
        </p:nvSpPr>
        <p:spPr>
          <a:xfrm>
            <a:off x="8229600" y="0"/>
            <a:ext cx="0" cy="5143500"/>
          </a:xfrm>
          <a:prstGeom prst="line">
            <a:avLst/>
          </a:prstGeom>
          <a:noFill/>
          <a:ln w="6350">
            <a:solidFill>
              <a:srgbClr val="1E293B"/>
            </a:solidFill>
            <a:prstDash val="solid"/>
          </a:ln>
        </p:spPr>
        <p:txBody>
          <a:bodyPr/>
          <a:lstStyle/>
          <a:p>
            <a:endParaRPr lang="en-GB"/>
          </a:p>
        </p:txBody>
      </p:sp>
      <p:sp>
        <p:nvSpPr>
          <p:cNvPr id="12" name="Shape 10"/>
          <p:cNvSpPr/>
          <p:nvPr/>
        </p:nvSpPr>
        <p:spPr>
          <a:xfrm>
            <a:off x="9144000" y="0"/>
            <a:ext cx="0" cy="5143500"/>
          </a:xfrm>
          <a:prstGeom prst="line">
            <a:avLst/>
          </a:prstGeom>
          <a:noFill/>
          <a:ln w="6350">
            <a:solidFill>
              <a:srgbClr val="1E293B"/>
            </a:solidFill>
            <a:prstDash val="solid"/>
          </a:ln>
        </p:spPr>
        <p:txBody>
          <a:bodyPr/>
          <a:lstStyle/>
          <a:p>
            <a:endParaRPr lang="en-GB"/>
          </a:p>
        </p:txBody>
      </p:sp>
      <p:sp>
        <p:nvSpPr>
          <p:cNvPr id="13" name="Shape 11"/>
          <p:cNvSpPr/>
          <p:nvPr/>
        </p:nvSpPr>
        <p:spPr>
          <a:xfrm>
            <a:off x="0" y="0"/>
            <a:ext cx="9144000" cy="0"/>
          </a:xfrm>
          <a:prstGeom prst="line">
            <a:avLst/>
          </a:prstGeom>
          <a:noFill/>
          <a:ln w="6350">
            <a:solidFill>
              <a:srgbClr val="1E293B"/>
            </a:solidFill>
            <a:prstDash val="solid"/>
          </a:ln>
        </p:spPr>
        <p:txBody>
          <a:bodyPr/>
          <a:lstStyle/>
          <a:p>
            <a:endParaRPr lang="en-GB"/>
          </a:p>
        </p:txBody>
      </p:sp>
      <p:sp>
        <p:nvSpPr>
          <p:cNvPr id="14" name="Shape 12"/>
          <p:cNvSpPr/>
          <p:nvPr/>
        </p:nvSpPr>
        <p:spPr>
          <a:xfrm>
            <a:off x="0" y="914400"/>
            <a:ext cx="9144000" cy="0"/>
          </a:xfrm>
          <a:prstGeom prst="line">
            <a:avLst/>
          </a:prstGeom>
          <a:noFill/>
          <a:ln w="6350">
            <a:solidFill>
              <a:srgbClr val="1E293B"/>
            </a:solidFill>
            <a:prstDash val="solid"/>
          </a:ln>
        </p:spPr>
        <p:txBody>
          <a:bodyPr/>
          <a:lstStyle/>
          <a:p>
            <a:endParaRPr lang="en-GB"/>
          </a:p>
        </p:txBody>
      </p:sp>
      <p:sp>
        <p:nvSpPr>
          <p:cNvPr id="15" name="Shape 13"/>
          <p:cNvSpPr/>
          <p:nvPr/>
        </p:nvSpPr>
        <p:spPr>
          <a:xfrm>
            <a:off x="0" y="1828800"/>
            <a:ext cx="9144000" cy="0"/>
          </a:xfrm>
          <a:prstGeom prst="line">
            <a:avLst/>
          </a:prstGeom>
          <a:noFill/>
          <a:ln w="6350">
            <a:solidFill>
              <a:srgbClr val="1E293B"/>
            </a:solidFill>
            <a:prstDash val="solid"/>
          </a:ln>
        </p:spPr>
        <p:txBody>
          <a:bodyPr/>
          <a:lstStyle/>
          <a:p>
            <a:endParaRPr lang="en-GB"/>
          </a:p>
        </p:txBody>
      </p:sp>
      <p:sp>
        <p:nvSpPr>
          <p:cNvPr id="16" name="Shape 14"/>
          <p:cNvSpPr/>
          <p:nvPr/>
        </p:nvSpPr>
        <p:spPr>
          <a:xfrm>
            <a:off x="0" y="2743200"/>
            <a:ext cx="9144000" cy="0"/>
          </a:xfrm>
          <a:prstGeom prst="line">
            <a:avLst/>
          </a:prstGeom>
          <a:noFill/>
          <a:ln w="6350">
            <a:solidFill>
              <a:srgbClr val="1E293B"/>
            </a:solidFill>
            <a:prstDash val="solid"/>
          </a:ln>
        </p:spPr>
        <p:txBody>
          <a:bodyPr/>
          <a:lstStyle/>
          <a:p>
            <a:endParaRPr lang="en-GB"/>
          </a:p>
        </p:txBody>
      </p:sp>
      <p:sp>
        <p:nvSpPr>
          <p:cNvPr id="17" name="Shape 15"/>
          <p:cNvSpPr/>
          <p:nvPr/>
        </p:nvSpPr>
        <p:spPr>
          <a:xfrm>
            <a:off x="0" y="3657600"/>
            <a:ext cx="9144000" cy="0"/>
          </a:xfrm>
          <a:prstGeom prst="line">
            <a:avLst/>
          </a:prstGeom>
          <a:noFill/>
          <a:ln w="6350">
            <a:solidFill>
              <a:srgbClr val="1E293B"/>
            </a:solidFill>
            <a:prstDash val="solid"/>
          </a:ln>
        </p:spPr>
        <p:txBody>
          <a:bodyPr/>
          <a:lstStyle/>
          <a:p>
            <a:endParaRPr lang="en-GB"/>
          </a:p>
        </p:txBody>
      </p:sp>
      <p:sp>
        <p:nvSpPr>
          <p:cNvPr id="18" name="Shape 16"/>
          <p:cNvSpPr/>
          <p:nvPr/>
        </p:nvSpPr>
        <p:spPr>
          <a:xfrm>
            <a:off x="0" y="4572000"/>
            <a:ext cx="9144000" cy="0"/>
          </a:xfrm>
          <a:prstGeom prst="line">
            <a:avLst/>
          </a:prstGeom>
          <a:noFill/>
          <a:ln w="6350">
            <a:solidFill>
              <a:srgbClr val="1E293B"/>
            </a:solidFill>
            <a:prstDash val="solid"/>
          </a:ln>
        </p:spPr>
        <p:txBody>
          <a:bodyPr/>
          <a:lstStyle/>
          <a:p>
            <a:endParaRPr lang="en-GB"/>
          </a:p>
        </p:txBody>
      </p:sp>
      <p:sp>
        <p:nvSpPr>
          <p:cNvPr id="19" name="Shape 17"/>
          <p:cNvSpPr/>
          <p:nvPr/>
        </p:nvSpPr>
        <p:spPr>
          <a:xfrm>
            <a:off x="0" y="0"/>
            <a:ext cx="54864" cy="5143500"/>
          </a:xfrm>
          <a:prstGeom prst="rect">
            <a:avLst/>
          </a:prstGeom>
          <a:solidFill>
            <a:srgbClr val="00D4FF"/>
          </a:solidFill>
          <a:ln w="12700">
            <a:solidFill>
              <a:srgbClr val="00D4FF"/>
            </a:solidFill>
            <a:prstDash val="solid"/>
          </a:ln>
        </p:spPr>
        <p:txBody>
          <a:bodyPr/>
          <a:lstStyle/>
          <a:p>
            <a:endParaRPr lang="en-GB"/>
          </a:p>
        </p:txBody>
      </p:sp>
      <p:pic>
        <p:nvPicPr>
          <p:cNvPr id="20" name="Image 0" descr="preencoded.png"/>
          <p:cNvPicPr>
            <a:picLocks noChangeAspect="1"/>
          </p:cNvPicPr>
          <p:nvPr/>
        </p:nvPicPr>
        <p:blipFill>
          <a:blip r:embed="rId3"/>
          <a:stretch>
            <a:fillRect/>
          </a:stretch>
        </p:blipFill>
        <p:spPr>
          <a:xfrm>
            <a:off x="4023360" y="502920"/>
            <a:ext cx="1097280" cy="1097280"/>
          </a:xfrm>
          <a:prstGeom prst="rect">
            <a:avLst/>
          </a:prstGeom>
        </p:spPr>
      </p:pic>
      <p:sp>
        <p:nvSpPr>
          <p:cNvPr id="21" name="Text 18"/>
          <p:cNvSpPr/>
          <p:nvPr/>
        </p:nvSpPr>
        <p:spPr>
          <a:xfrm>
            <a:off x="457200" y="1737360"/>
            <a:ext cx="8229600" cy="594360"/>
          </a:xfrm>
          <a:prstGeom prst="rect">
            <a:avLst/>
          </a:prstGeom>
          <a:noFill/>
          <a:ln/>
        </p:spPr>
        <p:txBody>
          <a:bodyPr wrap="square" lIns="0" tIns="0" rIns="0" bIns="0" rtlCol="0" anchor="ctr"/>
          <a:lstStyle/>
          <a:p>
            <a:pPr marL="0" indent="0" algn="ctr">
              <a:buNone/>
            </a:pPr>
            <a:r>
              <a:rPr lang="en-US" sz="4200" b="1" dirty="0">
                <a:solidFill>
                  <a:srgbClr val="FFFFFF"/>
                </a:solidFill>
                <a:latin typeface="Calibri" pitchFamily="34" charset="0"/>
                <a:ea typeface="Calibri" pitchFamily="34" charset="-122"/>
                <a:cs typeface="Calibri" pitchFamily="34" charset="-120"/>
              </a:rPr>
              <a:t>Thank You</a:t>
            </a:r>
            <a:endParaRPr lang="en-US" sz="4200" dirty="0"/>
          </a:p>
        </p:txBody>
      </p:sp>
      <p:sp>
        <p:nvSpPr>
          <p:cNvPr id="22" name="Text 19"/>
          <p:cNvSpPr/>
          <p:nvPr/>
        </p:nvSpPr>
        <p:spPr>
          <a:xfrm>
            <a:off x="457200" y="2377440"/>
            <a:ext cx="8229600" cy="411480"/>
          </a:xfrm>
          <a:prstGeom prst="rect">
            <a:avLst/>
          </a:prstGeom>
          <a:noFill/>
          <a:ln/>
        </p:spPr>
        <p:txBody>
          <a:bodyPr wrap="square" lIns="0" tIns="0" rIns="0" bIns="0" rtlCol="0" anchor="ctr"/>
          <a:lstStyle/>
          <a:p>
            <a:pPr marL="0" indent="0" algn="ctr">
              <a:buNone/>
            </a:pPr>
            <a:r>
              <a:rPr lang="en-US" sz="2000" dirty="0">
                <a:solidFill>
                  <a:srgbClr val="00D4FF"/>
                </a:solidFill>
                <a:latin typeface="Calibri" pitchFamily="34" charset="0"/>
                <a:ea typeface="Calibri" pitchFamily="34" charset="-122"/>
                <a:cs typeface="Calibri" pitchFamily="34" charset="-120"/>
              </a:rPr>
              <a:t>Questions &amp; Discussion</a:t>
            </a:r>
            <a:endParaRPr lang="en-US" sz="2000" dirty="0"/>
          </a:p>
        </p:txBody>
      </p:sp>
      <p:sp>
        <p:nvSpPr>
          <p:cNvPr id="23" name="Shape 20"/>
          <p:cNvSpPr/>
          <p:nvPr/>
        </p:nvSpPr>
        <p:spPr>
          <a:xfrm>
            <a:off x="2286000" y="2926080"/>
            <a:ext cx="4572000" cy="0"/>
          </a:xfrm>
          <a:prstGeom prst="line">
            <a:avLst/>
          </a:prstGeom>
          <a:noFill/>
          <a:ln w="12700">
            <a:solidFill>
              <a:srgbClr val="0891B2"/>
            </a:solidFill>
            <a:prstDash val="solid"/>
          </a:ln>
        </p:spPr>
        <p:txBody>
          <a:bodyPr/>
          <a:lstStyle/>
          <a:p>
            <a:endParaRPr lang="en-GB"/>
          </a:p>
        </p:txBody>
      </p:sp>
      <p:sp>
        <p:nvSpPr>
          <p:cNvPr id="24" name="Text 21"/>
          <p:cNvSpPr/>
          <p:nvPr/>
        </p:nvSpPr>
        <p:spPr>
          <a:xfrm>
            <a:off x="457200" y="3063240"/>
            <a:ext cx="822960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Hamas Ali  •  Matricola 726267</a:t>
            </a:r>
            <a:endParaRPr lang="en-US" sz="1300" dirty="0"/>
          </a:p>
        </p:txBody>
      </p:sp>
      <p:sp>
        <p:nvSpPr>
          <p:cNvPr id="25" name="Text 22"/>
          <p:cNvSpPr/>
          <p:nvPr/>
        </p:nvSpPr>
        <p:spPr>
          <a:xfrm>
            <a:off x="457200" y="3429000"/>
            <a:ext cx="8229600" cy="274320"/>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ICT Risk Assessment  |  University of Pisa  |  MSc Computer Science – AI</a:t>
            </a:r>
            <a:endParaRPr lang="en-US" sz="1100" dirty="0"/>
          </a:p>
        </p:txBody>
      </p:sp>
      <p:sp>
        <p:nvSpPr>
          <p:cNvPr id="26" name="Shape 23"/>
          <p:cNvSpPr/>
          <p:nvPr/>
        </p:nvSpPr>
        <p:spPr>
          <a:xfrm>
            <a:off x="731520" y="3977640"/>
            <a:ext cx="1737360" cy="868680"/>
          </a:xfrm>
          <a:prstGeom prst="rect">
            <a:avLst/>
          </a:prstGeom>
          <a:solidFill>
            <a:srgbClr val="1A2333"/>
          </a:solidFill>
          <a:ln w="10160">
            <a:solidFill>
              <a:srgbClr val="0891B2"/>
            </a:solidFill>
            <a:prstDash val="solid"/>
          </a:ln>
        </p:spPr>
        <p:txBody>
          <a:bodyPr/>
          <a:lstStyle/>
          <a:p>
            <a:endParaRPr lang="en-GB"/>
          </a:p>
        </p:txBody>
      </p:sp>
      <p:sp>
        <p:nvSpPr>
          <p:cNvPr id="27" name="Text 24"/>
          <p:cNvSpPr/>
          <p:nvPr/>
        </p:nvSpPr>
        <p:spPr>
          <a:xfrm>
            <a:off x="731520" y="3995928"/>
            <a:ext cx="1737360" cy="457200"/>
          </a:xfrm>
          <a:prstGeom prst="rect">
            <a:avLst/>
          </a:prstGeom>
          <a:noFill/>
          <a:ln/>
        </p:spPr>
        <p:txBody>
          <a:bodyPr wrap="square" lIns="0" tIns="0" rIns="0" bIns="0" rtlCol="0" anchor="ctr"/>
          <a:lstStyle/>
          <a:p>
            <a:pPr marL="0" indent="0" algn="ctr">
              <a:buNone/>
            </a:pPr>
            <a:r>
              <a:rPr lang="en-US" sz="2200" b="1" dirty="0">
                <a:solidFill>
                  <a:srgbClr val="00D4FF"/>
                </a:solidFill>
                <a:latin typeface="Calibri" pitchFamily="34" charset="0"/>
                <a:ea typeface="Calibri" pitchFamily="34" charset="-122"/>
                <a:cs typeface="Calibri" pitchFamily="34" charset="-120"/>
              </a:rPr>
              <a:t>97.69%</a:t>
            </a:r>
            <a:endParaRPr lang="en-US" sz="2200" dirty="0"/>
          </a:p>
        </p:txBody>
      </p:sp>
      <p:sp>
        <p:nvSpPr>
          <p:cNvPr id="28" name="Text 25"/>
          <p:cNvSpPr/>
          <p:nvPr/>
        </p:nvSpPr>
        <p:spPr>
          <a:xfrm>
            <a:off x="731520" y="4434840"/>
            <a:ext cx="1737360" cy="384048"/>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Best Accuracy</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(Random Forest)</a:t>
            </a:r>
            <a:endParaRPr lang="en-US" sz="800" dirty="0"/>
          </a:p>
        </p:txBody>
      </p:sp>
      <p:sp>
        <p:nvSpPr>
          <p:cNvPr id="29" name="Shape 26"/>
          <p:cNvSpPr/>
          <p:nvPr/>
        </p:nvSpPr>
        <p:spPr>
          <a:xfrm>
            <a:off x="2743200" y="3977640"/>
            <a:ext cx="1737360" cy="868680"/>
          </a:xfrm>
          <a:prstGeom prst="rect">
            <a:avLst/>
          </a:prstGeom>
          <a:solidFill>
            <a:srgbClr val="1A2333"/>
          </a:solidFill>
          <a:ln w="10160">
            <a:solidFill>
              <a:srgbClr val="0891B2"/>
            </a:solidFill>
            <a:prstDash val="solid"/>
          </a:ln>
        </p:spPr>
        <p:txBody>
          <a:bodyPr/>
          <a:lstStyle/>
          <a:p>
            <a:endParaRPr lang="en-GB"/>
          </a:p>
        </p:txBody>
      </p:sp>
      <p:sp>
        <p:nvSpPr>
          <p:cNvPr id="30" name="Text 27"/>
          <p:cNvSpPr/>
          <p:nvPr/>
        </p:nvSpPr>
        <p:spPr>
          <a:xfrm>
            <a:off x="2743200" y="3995928"/>
            <a:ext cx="1737360" cy="457200"/>
          </a:xfrm>
          <a:prstGeom prst="rect">
            <a:avLst/>
          </a:prstGeom>
          <a:noFill/>
          <a:ln/>
        </p:spPr>
        <p:txBody>
          <a:bodyPr wrap="square" lIns="0" tIns="0" rIns="0" bIns="0" rtlCol="0" anchor="ctr"/>
          <a:lstStyle/>
          <a:p>
            <a:pPr marL="0" indent="0" algn="ctr">
              <a:buNone/>
            </a:pPr>
            <a:r>
              <a:rPr lang="en-US" sz="2200" b="1" dirty="0">
                <a:solidFill>
                  <a:srgbClr val="00D4FF"/>
                </a:solidFill>
                <a:latin typeface="Calibri" pitchFamily="34" charset="0"/>
                <a:ea typeface="Calibri" pitchFamily="34" charset="-122"/>
                <a:cs typeface="Calibri" pitchFamily="34" charset="-120"/>
              </a:rPr>
              <a:t>3</a:t>
            </a:r>
            <a:endParaRPr lang="en-US" sz="2200" dirty="0"/>
          </a:p>
        </p:txBody>
      </p:sp>
      <p:sp>
        <p:nvSpPr>
          <p:cNvPr id="31" name="Text 28"/>
          <p:cNvSpPr/>
          <p:nvPr/>
        </p:nvSpPr>
        <p:spPr>
          <a:xfrm>
            <a:off x="2743200" y="4434840"/>
            <a:ext cx="1737360" cy="384048"/>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Papers</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Analyzed</a:t>
            </a:r>
            <a:endParaRPr lang="en-US" sz="800" dirty="0"/>
          </a:p>
        </p:txBody>
      </p:sp>
      <p:sp>
        <p:nvSpPr>
          <p:cNvPr id="32" name="Shape 29"/>
          <p:cNvSpPr/>
          <p:nvPr/>
        </p:nvSpPr>
        <p:spPr>
          <a:xfrm>
            <a:off x="4754880" y="3977640"/>
            <a:ext cx="1737360" cy="868680"/>
          </a:xfrm>
          <a:prstGeom prst="rect">
            <a:avLst/>
          </a:prstGeom>
          <a:solidFill>
            <a:srgbClr val="1A2333"/>
          </a:solidFill>
          <a:ln w="10160">
            <a:solidFill>
              <a:srgbClr val="0891B2"/>
            </a:solidFill>
            <a:prstDash val="solid"/>
          </a:ln>
        </p:spPr>
        <p:txBody>
          <a:bodyPr/>
          <a:lstStyle/>
          <a:p>
            <a:endParaRPr lang="en-GB"/>
          </a:p>
        </p:txBody>
      </p:sp>
      <p:sp>
        <p:nvSpPr>
          <p:cNvPr id="33" name="Text 30"/>
          <p:cNvSpPr/>
          <p:nvPr/>
        </p:nvSpPr>
        <p:spPr>
          <a:xfrm>
            <a:off x="4754880" y="3995928"/>
            <a:ext cx="1737360" cy="457200"/>
          </a:xfrm>
          <a:prstGeom prst="rect">
            <a:avLst/>
          </a:prstGeom>
          <a:noFill/>
          <a:ln/>
        </p:spPr>
        <p:txBody>
          <a:bodyPr wrap="square" lIns="0" tIns="0" rIns="0" bIns="0" rtlCol="0" anchor="ctr"/>
          <a:lstStyle/>
          <a:p>
            <a:pPr marL="0" indent="0" algn="ctr">
              <a:buNone/>
            </a:pPr>
            <a:r>
              <a:rPr lang="en-US" sz="2200" b="1" dirty="0">
                <a:solidFill>
                  <a:srgbClr val="00D4FF"/>
                </a:solidFill>
                <a:latin typeface="Calibri" pitchFamily="34" charset="0"/>
                <a:ea typeface="Calibri" pitchFamily="34" charset="-122"/>
                <a:cs typeface="Calibri" pitchFamily="34" charset="-120"/>
              </a:rPr>
              <a:t>6</a:t>
            </a:r>
            <a:endParaRPr lang="en-US" sz="2200" dirty="0"/>
          </a:p>
        </p:txBody>
      </p:sp>
      <p:sp>
        <p:nvSpPr>
          <p:cNvPr id="34" name="Text 31"/>
          <p:cNvSpPr/>
          <p:nvPr/>
        </p:nvSpPr>
        <p:spPr>
          <a:xfrm>
            <a:off x="4754880" y="4434840"/>
            <a:ext cx="1737360" cy="384048"/>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Models</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Implemented</a:t>
            </a:r>
            <a:endParaRPr lang="en-US" sz="800" dirty="0"/>
          </a:p>
        </p:txBody>
      </p:sp>
      <p:sp>
        <p:nvSpPr>
          <p:cNvPr id="35" name="Shape 32"/>
          <p:cNvSpPr/>
          <p:nvPr/>
        </p:nvSpPr>
        <p:spPr>
          <a:xfrm>
            <a:off x="6766560" y="3977640"/>
            <a:ext cx="1737360" cy="868680"/>
          </a:xfrm>
          <a:prstGeom prst="rect">
            <a:avLst/>
          </a:prstGeom>
          <a:solidFill>
            <a:srgbClr val="1A2333"/>
          </a:solidFill>
          <a:ln w="10160">
            <a:solidFill>
              <a:srgbClr val="0891B2"/>
            </a:solidFill>
            <a:prstDash val="solid"/>
          </a:ln>
        </p:spPr>
        <p:txBody>
          <a:bodyPr/>
          <a:lstStyle/>
          <a:p>
            <a:endParaRPr lang="en-GB"/>
          </a:p>
        </p:txBody>
      </p:sp>
      <p:sp>
        <p:nvSpPr>
          <p:cNvPr id="36" name="Text 33"/>
          <p:cNvSpPr/>
          <p:nvPr/>
        </p:nvSpPr>
        <p:spPr>
          <a:xfrm>
            <a:off x="6766560" y="3995928"/>
            <a:ext cx="1737360" cy="457200"/>
          </a:xfrm>
          <a:prstGeom prst="rect">
            <a:avLst/>
          </a:prstGeom>
          <a:noFill/>
          <a:ln/>
        </p:spPr>
        <p:txBody>
          <a:bodyPr wrap="square" lIns="0" tIns="0" rIns="0" bIns="0" rtlCol="0" anchor="ctr"/>
          <a:lstStyle/>
          <a:p>
            <a:pPr marL="0" indent="0" algn="ctr">
              <a:buNone/>
            </a:pPr>
            <a:r>
              <a:rPr lang="en-US" sz="2200" b="1" dirty="0">
                <a:solidFill>
                  <a:srgbClr val="00D4FF"/>
                </a:solidFill>
                <a:latin typeface="Calibri" pitchFamily="34" charset="0"/>
                <a:ea typeface="Calibri" pitchFamily="34" charset="-122"/>
                <a:cs typeface="Calibri" pitchFamily="34" charset="-120"/>
              </a:rPr>
              <a:t>11K+</a:t>
            </a:r>
            <a:endParaRPr lang="en-US" sz="2200" dirty="0"/>
          </a:p>
        </p:txBody>
      </p:sp>
      <p:sp>
        <p:nvSpPr>
          <p:cNvPr id="37" name="Text 34"/>
          <p:cNvSpPr/>
          <p:nvPr/>
        </p:nvSpPr>
        <p:spPr>
          <a:xfrm>
            <a:off x="6766560" y="4434840"/>
            <a:ext cx="1737360" cy="384048"/>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Samples</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Tested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1386</Words>
  <Application>Microsoft Office PowerPoint</Application>
  <PresentationFormat>On-screen Show (16:9)</PresentationFormat>
  <Paragraphs>317</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Phishing Website Detection using ML</dc:title>
  <dc:subject>PptxGenJS Presentation</dc:subject>
  <dc:creator>Hamas Ali</dc:creator>
  <cp:lastModifiedBy>Hamas Ali</cp:lastModifiedBy>
  <cp:revision>4</cp:revision>
  <dcterms:created xsi:type="dcterms:W3CDTF">2026-04-20T08:28:13Z</dcterms:created>
  <dcterms:modified xsi:type="dcterms:W3CDTF">2026-05-01T15:58:05Z</dcterms:modified>
</cp:coreProperties>
</file>